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onsolas"/>
              </a:rPr>
              <a:t>02  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E2A4A"/>
                </a:solidFill>
                <a:latin typeface="Calibri"/>
              </a:rPr>
              <a:t>EDA 시각화 마스터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666666"/>
                </a:solidFill>
                <a:latin typeface="Calibri"/>
              </a:rPr>
              <a:t>EDA · Visualization Mastery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520440"/>
            <a:ext cx="3200400" cy="0"/>
          </a:xfrm>
          <a:prstGeom prst="line">
            <a:avLst/>
          </a:prstGeom>
          <a:ln w="25400">
            <a:solidFill>
              <a:srgbClr val="1E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749039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E2A4A"/>
                </a:solidFill>
                <a:latin typeface="Calibri"/>
              </a:rPr>
              <a:t>어떤 상황에서 어떤 그래프가 가장 적합한가?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분포 · 관계 · 비교 · 인터랙티브 · 고차원</a:t>
            </a:r>
          </a:p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Distribution · Relationship · Comparison · Interactive · High-Dimensional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943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onsolas"/>
              </a:rPr>
              <a:t>3시간 · 4 Parts · 10+ 그래프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2636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FB7AB"/>
                </a:solidFill>
                <a:latin typeface="Consolas"/>
              </a:rPr>
              <a:t>AI Programming Course · Week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00 /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학습 목표(Learning Objectives)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본 차시를 마치면 학습자가 수행할 수 있어야 할 7가지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8640" y="1920239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시각화의 제1원칙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40279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앤스콤의 사중주를 통해
통계량과 패턴의 차이를 설명한다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1920239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87451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분포 시각화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240279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histplot · KDE · boxplot · violinplot을
적절히 선택한다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926079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2607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88035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관계 시각화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46119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scatterplot · regplot · pairplot · heatmap으로
변수 관계를 탐색한다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2926079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92607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88035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색맹 안전 팔레트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246119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colorblind · viridis · cividis를
모든 그래프에 적용한다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931919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319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88619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EDA 5단계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51959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결측값 → 분포 → 이상치 → 불균형 → 상관
순서로 점검한다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931919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9319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88619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고차원 시각화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251959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PCA · t-SNE로 고차원 데이터를
2D로 압축·시각화한다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4937759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377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89203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의사결정 트리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257799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상황별로 어떤 그래프를 선택할지
판단할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00 /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데이터셋(Datasets)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Ping(강사 시연) → Pong(학생 실습)의 반복 구조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92024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86400" cy="50292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Ping (Instructor Demo)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데이터셋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  <a:latin typeface="Calibri"/>
              </a:rPr>
              <a:t>Airbnb NYC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AB_NYC_2019.csv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886200"/>
            <a:ext cx="4937760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023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용도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15968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뉴욕 에어비앤비 숙소 데이터.
가격 분포·자치구 비교·관계 탐색의 시연 데이터로 사용한다. 오른쪽으로 긴 분포·이상치·범주 비교 사례를 모두 포함한다.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920240"/>
            <a:ext cx="5486400" cy="5029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8424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Pong (Student Practice)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데이터셋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80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  <a:latin typeface="Calibri"/>
              </a:rPr>
              <a:t>COVID-19 Compact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compact.csv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92240" y="3886200"/>
            <a:ext cx="4937760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92240" y="4023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용도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15968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국가별 일별 누적 확진자·사망자·완치자 시계열.
시계열 분포·국가 비교·시계열 시각화 실습 데이터로 사용한다.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5720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1E2A4A"/>
                </a:solidFill>
                <a:latin typeface="Calibri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5120640"/>
            <a:ext cx="2423160" cy="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onsolas"/>
              </a:rPr>
              <a:t>PART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88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E2A4A"/>
                </a:solidFill>
                <a:latin typeface="Calibri"/>
              </a:rPr>
              <a:t>분포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520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핵심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79476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3333"/>
                </a:solidFill>
                <a:latin typeface="Calibri"/>
              </a:rPr>
              <a:t>한 변수의 값들이 어떻게 퍼져 있는가?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histplot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구간별 빈도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kdeplot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부드러운 밀도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boxplot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5수치 + 이상치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violin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분포 모양 직접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01.01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앤스콤의 사중주(Anscombe's Quartet)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시각화의 제1원칙 — "통계량은 같지만 패턴은 완전히 다르다"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네 데이터셋의 통계량 — 모두 같다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645920" cy="329184"/>
          </a:xfrm>
          <a:prstGeom prst="rect">
            <a:avLst/>
          </a:prstGeom>
          <a:solidFill>
            <a:srgbClr val="1E2A4A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통계량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240280"/>
            <a:ext cx="777240" cy="329184"/>
          </a:xfrm>
          <a:prstGeom prst="rect">
            <a:avLst/>
          </a:prstGeom>
          <a:solidFill>
            <a:srgbClr val="1E2A4A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24028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240280"/>
            <a:ext cx="777240" cy="329184"/>
          </a:xfrm>
          <a:prstGeom prst="rect">
            <a:avLst/>
          </a:prstGeom>
          <a:solidFill>
            <a:srgbClr val="1E2A4A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24028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2240280"/>
            <a:ext cx="777240" cy="329184"/>
          </a:xfrm>
          <a:prstGeom prst="rect">
            <a:avLst/>
          </a:prstGeom>
          <a:solidFill>
            <a:srgbClr val="1E2A4A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24028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III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2240280"/>
            <a:ext cx="777240" cy="329184"/>
          </a:xfrm>
          <a:prstGeom prst="rect">
            <a:avLst/>
          </a:prstGeom>
          <a:solidFill>
            <a:srgbClr val="1E2A4A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IV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69464"/>
            <a:ext cx="164592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69464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mean(x)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569464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569464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9.0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2569464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69464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9.0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2569464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2569464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9.0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2569464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569464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9.0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898648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898648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mean(y)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898648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2898648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7.50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2898648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2898648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7.50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2898648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2898648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7.50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2898648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2898648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7.50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227832"/>
            <a:ext cx="164592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22783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std(x)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227832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3227832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3.32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71800" y="3227832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3227832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3.32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40" y="3227832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0" y="3227832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3.32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3227832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3227832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3.32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557016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557016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std(y)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3557016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35570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2.03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71800" y="3557016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71800" y="35570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2.03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40" y="3557016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40" y="35570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2.03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26280" y="3557016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26280" y="35570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2.03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3886200"/>
            <a:ext cx="164592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3886200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corr(x,y)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94560" y="3886200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94560" y="38862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0.816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71800" y="3886200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71800" y="38862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0.816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49040" y="3886200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49040" y="38862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0.816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26280" y="3886200"/>
            <a:ext cx="777240" cy="329184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26280" y="38862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E2A4A"/>
                </a:solidFill>
                <a:latin typeface="Consolas"/>
              </a:rPr>
              <a:t>0.816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그러나 그래프를 그리면 — 완전히 다르다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22860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600" y="233172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alibri"/>
              </a:rPr>
              <a:t>교과서적 선형 관계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86600" y="263347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→ 직선 회귀가 적절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0" y="30632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3063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II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600" y="310896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alibri"/>
              </a:rPr>
              <a:t>실제로는 곡선(포물선)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600" y="341071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→ 직선 모델은 완전히 잘못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38404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3840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III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86600" y="388620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alibri"/>
              </a:rPr>
              <a:t>거의 완벽한 직선 + 이상치 1개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86600" y="418795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→ 이상치가 회귀선을 끌어당김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00800" y="46177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0" y="4617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IV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86600" y="46634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alibri"/>
              </a:rPr>
              <a:t>x값이 거의 동일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86600" y="496519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→ 상관관계 자체가 무의미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5897880"/>
            <a:ext cx="11091672" cy="77724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8600"/>
                </a:solidFill>
                <a:latin typeface="Consolas"/>
              </a:rPr>
              <a:t>앤스콤의 교훈 (1973, Frank Anscombe)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" y="62910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Calibri"/>
              </a:rPr>
              <a:t>"항상 그래프를 먼저 그려라" — 통계량(평균·표준편차·상관계수)만으로는 데이터를 이해할 수 없다.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01.02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분포 시각화 도구 선택 트리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한 변수의 분포를 본다 — 어떤 도구를 골라야 하는가?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1920240"/>
            <a:ext cx="3931920" cy="7315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9202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한 변수의 분포는?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851660.0" y="2651760"/>
            <a:ext cx="4229100.0" cy="731520"/>
          </a:xfrm>
          <a:prstGeom prst="line">
            <a:avLst/>
          </a:prstGeom>
          <a:ln w="190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3383280"/>
            <a:ext cx="2606040" cy="23774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2606040" cy="54864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histplot + KDE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구간별 빈도
+ 부드러운 곡선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4892040"/>
            <a:ext cx="2057400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9834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용도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799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  <a:latin typeface="Calibri"/>
              </a:rPr>
              <a:t>전반적 모양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86300.0" y="2651760"/>
            <a:ext cx="1394460.0" cy="731520"/>
          </a:xfrm>
          <a:prstGeom prst="line">
            <a:avLst/>
          </a:prstGeom>
          <a:ln w="190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3280" y="3383280"/>
            <a:ext cx="2606040" cy="23774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80" y="3383280"/>
            <a:ext cx="2606040" cy="54864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3832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boxplot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069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5수치 요약
+ 이상치 표시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0" y="4892040"/>
            <a:ext cx="2057400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83280" y="49834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용도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257799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그룹 비교 표준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.0" y="2651760"/>
            <a:ext cx="1440180.0" cy="731520"/>
          </a:xfrm>
          <a:prstGeom prst="line">
            <a:avLst/>
          </a:prstGeom>
          <a:ln w="190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3383280"/>
            <a:ext cx="2606040" cy="23774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383280"/>
            <a:ext cx="2606040" cy="54864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3832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violinplot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69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분포 모양
직접 표시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92240" y="4892040"/>
            <a:ext cx="2057400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17920" y="49834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용도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257799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이봉분포 탐지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80760.0" y="2651760"/>
            <a:ext cx="4274820.0" cy="731520"/>
          </a:xfrm>
          <a:prstGeom prst="line">
            <a:avLst/>
          </a:prstGeom>
          <a:ln w="190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52560" y="3383280"/>
            <a:ext cx="2606040" cy="23774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52560" y="3383280"/>
            <a:ext cx="2606040" cy="54864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3832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kdeplot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069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부드러운
밀도 곡선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26880" y="4892040"/>
            <a:ext cx="2057400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052560" y="49834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용도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5257799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연속적 비교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선택 기준 → 데이터 크기, 카테고리 수, 봉우리 개수, 비교 대상의 유무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01.03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박스플롯의 5수치 요약(Five-Number Summary)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min · Q1 · Q2(중앙값) · Q3 · max — 한 그림에 모든 정보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86000" y="3611880"/>
            <a:ext cx="1828800" cy="0"/>
          </a:xfrm>
          <a:prstGeom prst="line">
            <a:avLst/>
          </a:prstGeom>
          <a:ln w="25400">
            <a:solidFill>
              <a:srgbClr val="1E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86000" y="2926080"/>
            <a:ext cx="0" cy="1371600"/>
          </a:xfrm>
          <a:prstGeom prst="line">
            <a:avLst/>
          </a:prstGeom>
          <a:ln w="25400">
            <a:solidFill>
              <a:srgbClr val="1E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0" y="3611880"/>
            <a:ext cx="1828800" cy="0"/>
          </a:xfrm>
          <a:prstGeom prst="line">
            <a:avLst/>
          </a:prstGeom>
          <a:ln w="25400">
            <a:solidFill>
              <a:srgbClr val="1E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601200" y="2926080"/>
            <a:ext cx="0" cy="1371600"/>
          </a:xfrm>
          <a:prstGeom prst="line">
            <a:avLst/>
          </a:prstGeom>
          <a:ln w="25400">
            <a:solidFill>
              <a:srgbClr val="1E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114800" y="2926080"/>
            <a:ext cx="3657600" cy="1371600"/>
          </a:xfrm>
          <a:prstGeom prst="rect">
            <a:avLst/>
          </a:prstGeom>
          <a:solidFill>
            <a:srgbClr val="FAF6F1"/>
          </a:solidFill>
          <a:ln w="3175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926080"/>
            <a:ext cx="0" cy="137160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298448" y="353872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18488" y="353872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1008" y="353872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71048" y="353872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659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Consolas"/>
              </a:rPr>
              <a:t>이상치
Outlier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19659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E2A4A"/>
                </a:solidFill>
                <a:latin typeface="Consolas"/>
              </a:rPr>
              <a:t>Q1−1.5×IQR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9659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E2A4A"/>
                </a:solidFill>
                <a:latin typeface="Consolas"/>
              </a:rPr>
              <a:t>Q1
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9659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  <a:latin typeface="Consolas"/>
              </a:rPr>
              <a:t>Q2 (중앙값)
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659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E2A4A"/>
                </a:solidFill>
                <a:latin typeface="Consolas"/>
              </a:rPr>
              <a:t>Q3
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434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A4A"/>
                </a:solidFill>
                <a:latin typeface="Calibri"/>
              </a:rPr>
              <a:t>IQR (사분위 범위)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= Q3 − Q1 = 데이터의 중간 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박스플롯 읽는 순서 — 3단계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32120"/>
            <a:ext cx="3657600" cy="9144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1270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57607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6967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alibri"/>
              </a:rPr>
              <a:t>상자 위치(Q2) 비교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60350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  <a:latin typeface="Calibri"/>
              </a:rPr>
              <a:t>어느 그룹의 중앙값이 가장 높은가?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5532120"/>
            <a:ext cx="3657600" cy="9144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1270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0" y="57607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5760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56967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alibri"/>
              </a:rPr>
              <a:t>상자 길이(IQR) 비교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60350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  <a:latin typeface="Calibri"/>
              </a:rPr>
              <a:t>어느 그룹의 가격 편차가 큰가?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5532120"/>
            <a:ext cx="3657600" cy="9144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1270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12480" y="57607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5760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56967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alibri"/>
              </a:rPr>
              <a:t>이상치(○) 분포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60350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  <a:latin typeface="Calibri"/>
              </a:rPr>
              <a:t>극단값들의 위치는 어디인가?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79" y="18745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A4A"/>
                </a:solidFill>
                <a:latin typeface="Consolas"/>
              </a:rPr>
              <a:t>Q3+1.5×IQR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19659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  <a:latin typeface="Consolas"/>
              </a:rPr>
              <a:t>이상치
Outlier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01.04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바이올린 vs 박스플롯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같은 데이터, 다른 정보 — 박스플롯이 놓치는 것을 바이올린이 잡는다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8288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66666"/>
                </a:solidFill>
                <a:latin typeface="Calibri"/>
              </a:rPr>
              <a:t>박스플롯 — 이봉분포를 놓침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200400"/>
            <a:ext cx="3200400" cy="1280160"/>
          </a:xfrm>
          <a:prstGeom prst="rect">
            <a:avLst/>
          </a:prstGeom>
          <a:solidFill>
            <a:srgbClr val="FAF6F1"/>
          </a:solidFill>
          <a:ln w="254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429000" y="3200400"/>
            <a:ext cx="0" cy="128016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3840480"/>
            <a:ext cx="640080" cy="0"/>
          </a:xfrm>
          <a:prstGeom prst="line">
            <a:avLst/>
          </a:prstGeom>
          <a:ln w="25400">
            <a:solidFill>
              <a:srgbClr val="1E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29200" y="3840480"/>
            <a:ext cx="640080" cy="0"/>
          </a:xfrm>
          <a:prstGeom prst="line">
            <a:avLst/>
          </a:prstGeom>
          <a:ln w="25400">
            <a:solidFill>
              <a:srgbClr val="1E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663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박스 길이만 보임 — 가운데가 비었는지 알 수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⚠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봉우리가 1개인지 2개인지 구분 불가.
이봉분포(bimodal)를 잡지 못한다.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바이올린 — 분포 모양 직접 표시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2514600"/>
            <a:ext cx="1371600" cy="914400"/>
          </a:xfrm>
          <a:prstGeom prst="ellipse">
            <a:avLst/>
          </a:prstGeom>
          <a:solidFill>
            <a:srgbClr val="1E2A4A"/>
          </a:solidFill>
          <a:ln w="1905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3886200"/>
            <a:ext cx="1371600" cy="914400"/>
          </a:xfrm>
          <a:prstGeom prst="ellipse">
            <a:avLst/>
          </a:prstGeom>
          <a:solidFill>
            <a:srgbClr val="1E2A4A"/>
          </a:solidFill>
          <a:ln w="1905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189720" y="2971800"/>
            <a:ext cx="0" cy="182880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75120" y="4663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1E2A4A"/>
                </a:solidFill>
                <a:latin typeface="Calibri"/>
              </a:rPr>
              <a:t>분포 모양이 직접 보임 — 봉우리 2개 명확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20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 강점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4406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AI 연결 — 이봉분포 발견 시 클러스터링
(K-means, 가우시안 혼합 모델) 적용 신호.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01.05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분포 → ML 변환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왜도(skew) → 로그 변환 → 표준화 → 모델 입력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874519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337560" cy="50292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① 원본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59"/>
            <a:ext cx="278892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59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nsolas"/>
              </a:rPr>
              <a:t>skew = 2.5+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19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오른쪽 꼬리
매우 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74519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874519"/>
            <a:ext cx="3337560" cy="50292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② 로그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651759"/>
            <a:ext cx="278892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651759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nsolas"/>
              </a:rPr>
              <a:t>np.log1p(x)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246119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대칭에 가까워짐
skew ≈ 0.3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74519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1874519"/>
            <a:ext cx="333756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874519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③ 표준화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2651759"/>
            <a:ext cx="278892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2651759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nsolas"/>
              </a:rPr>
              <a:t>StandardScaler()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246119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μ=0, σ=1
ML 입력 준비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931920" y="2788920"/>
            <a:ext cx="457200" cy="45720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818120" y="2788920"/>
            <a:ext cx="457200" cy="45720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526280"/>
            <a:ext cx="11091672" cy="169164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17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8600"/>
                </a:solidFill>
                <a:latin typeface="Consolas"/>
              </a:rPr>
              <a:t>AI 연결 — 분포 정규화는 LLM에서도 동일하다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GPT · BERT의 Layer Normalization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AF6F1"/>
                </a:solidFill>
                <a:latin typeface="Calibri"/>
              </a:rPr>
              <a:t>— 각 트랜스포머 층의 출력을 평균=0, 분산=1로 정규화한다 — 본질적으로 StandardScaler와 동일하다.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33288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AF6F1"/>
                </a:solidFill>
                <a:latin typeface="Calibri"/>
              </a:rPr>
              <a:t>— "분포를 정규화하면 학습이 안정된다"는 원칙은 전통 ML(KNN, SVM)부터 최신 LLM까지 관통한다.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80176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AF6F1"/>
                </a:solidFill>
                <a:latin typeface="Calibri"/>
              </a:rPr>
              <a:t>— 실무 규칙: |skew| &gt; 1 → 변환 고려. 변환 후에도 |skew| &gt; 1이면 Box-Cox · Yeo-Johnson 시도.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5720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1E2A4A"/>
                </a:solidFill>
                <a:latin typeface="Calibri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5120640"/>
            <a:ext cx="2423160" cy="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onsolas"/>
              </a:rPr>
              <a:t>PART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Relationship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8600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E2A4A"/>
                </a:solidFill>
                <a:latin typeface="Calibri"/>
              </a:rPr>
              <a:t>관계 시각화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520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핵심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79476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3333"/>
                </a:solidFill>
                <a:latin typeface="Calibri"/>
              </a:rPr>
              <a:t>두 변수는 어떤 관계인가?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scatter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두 변수 분포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regplot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+ 회귀선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pairplot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모든 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heatmap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상관 행렬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02.01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산점도와 색맹 배려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`hue` + `style`을 함께 — 색상이 사라져도 그룹이 구분되게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왜 색맹을 고려해야 하는가?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C0392B"/>
                </a:solidFill>
                <a:latin typeface="Calibri"/>
              </a:rPr>
              <a:t>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전 세계 남성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1E2A4A"/>
                </a:solidFill>
                <a:latin typeface="Calibri"/>
              </a:rPr>
              <a:t>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전 세계 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30명 반에 남학생 15명 → 통계적으로 약 1.2명 영향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8600"/>
                </a:solidFill>
                <a:latin typeface="Consolas"/>
              </a:rPr>
              <a:t>가장 흔한 유형 — 적록 색맹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AF6F1"/>
                </a:solidFill>
                <a:latin typeface="Calibri"/>
              </a:rPr>
              <a:t>Red-Green Color Vision Deficiency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빨강과 초록을 구분하기 어렵다.
→ 두 색을 그룹 구분에 함께 쓰지 않는다.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해결책 — hue + style 동시 사용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331720"/>
            <a:ext cx="5303520" cy="169164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88600"/>
                </a:solidFill>
                <a:latin typeface="Consolas"/>
              </a:rPr>
              <a:t># 색상 + 모양 둘 다로 분리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7889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sns.scatterplot(
    data=df, x='reviews', y='price',
    hue='borough',
    style='borough',  # ← 색맹 배려
    palette='colorblind')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519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alibri"/>
              </a:rPr>
              <a:t>권장 팔레트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617720"/>
            <a:ext cx="1828800" cy="384048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6177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colorblind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61772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범주형 8색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074920"/>
            <a:ext cx="1828800" cy="384048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viridis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7492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연속값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532120"/>
            <a:ext cx="1828800" cy="384048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5321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cividis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53212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색맹 전용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989320"/>
            <a:ext cx="1828800" cy="38404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9893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coolwarm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98932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상관 히트맵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02.02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상관(Correlation) ≠ 인과(Causation)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분석가의 직업윤리 — 가장 자주 어기는 원칙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언어 표현이 분석의 정확성을 결정한다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486400" cy="13258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688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잘못된 표현 (인과 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8036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"광고비를 늘렸기 때문에 매출이 증가했다."
"여름이 되면 그래서 익사가 많아진다."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5486400" cy="13258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319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올바른 표현 (상관만 주장)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4340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"광고비와 매출은 양의 상관 관계가 있다."
"기온과 익사 사고는 동시에 증가한다."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alibri"/>
              </a:rPr>
              <a:t>인과를 주장하려면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통제된 실험(A/B 테스트, RCT)
또는 인과 추론 분석(causal inference)이 필요하다.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고전 사례 — 아이스크림과 익사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468880"/>
            <a:ext cx="2194560" cy="9144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E2A4A"/>
                </a:solidFill>
                <a:latin typeface="Calibri"/>
              </a:rPr>
              <a:t>아이스크림 판매량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  <a:latin typeface="Consolas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468880"/>
            <a:ext cx="2194560" cy="9144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5603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E2A4A"/>
                </a:solidFill>
                <a:latin typeface="Calibri"/>
              </a:rPr>
              <a:t>익사 사고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926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  <a:latin typeface="Consolas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7614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onsolas"/>
              </a:rPr>
              <a:t>r ≈ 0.8</a:t>
            </a:r>
          </a:p>
        </p:txBody>
      </p:sp>
      <p:sp>
        <p:nvSpPr>
          <p:cNvPr id="26" name="Left-Right Arrow 25"/>
          <p:cNvSpPr/>
          <p:nvPr/>
        </p:nvSpPr>
        <p:spPr>
          <a:xfrm>
            <a:off x="8778240" y="3017520"/>
            <a:ext cx="548640" cy="164592"/>
          </a:xfrm>
          <a:prstGeom prst="left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0" y="4114800"/>
            <a:ext cx="2377440" cy="960120"/>
          </a:xfrm>
          <a:prstGeom prst="roundRect">
            <a:avLst>
              <a:gd name="adj" fmla="val 4000"/>
            </a:avLst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206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여름 (기온)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5720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onsolas"/>
              </a:rPr>
              <a:t>Lurking Variable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7680960" y="3383280"/>
            <a:ext cx="91440" cy="822960"/>
          </a:xfrm>
          <a:prstGeom prst="line">
            <a:avLst/>
          </a:prstGeom>
          <a:ln w="25400">
            <a:solidFill>
              <a:srgbClr val="B88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332720" y="3383280"/>
            <a:ext cx="91440" cy="822960"/>
          </a:xfrm>
          <a:prstGeom prst="line">
            <a:avLst/>
          </a:prstGeom>
          <a:ln w="25400">
            <a:solidFill>
              <a:srgbClr val="B88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0" y="5486400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8600"/>
                </a:solidFill>
                <a:latin typeface="Consolas"/>
              </a:rPr>
              <a:t>진짜 원인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897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여름(기온)이 둘 다에 영향을 준다.
아이스크림이 익사를 일으킨 것이 아니다.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02.03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regplot · pairplot · 상관계수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두 변수 → 다변수, 약한 상관 → 강한 상관까지의 진단 도구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regplot — 산점도 + 회귀선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88600"/>
                </a:solidFill>
                <a:latin typeface="Consolas"/>
              </a:rPr>
              <a:t># 회귀선 + 95% 신뢰구간 자동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sns.regplot(
    data=df, x='x', y='y',
    scatter_kws={'alpha': 0.3},
    line_kws={'color': 'red'})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pairplot — 모든 변수 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5486400" cy="146304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66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88600"/>
                </a:solidFill>
                <a:latin typeface="Consolas"/>
              </a:rPr>
              <a:t># 대각선=분포, 비대각선=관계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sns.pairplot(df, hue='category',
    palette='colorblind')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상관계수 해석 가이드(|r|)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23160"/>
            <a:ext cx="5303520" cy="82296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423160"/>
            <a:ext cx="164592" cy="82296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5328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onsolas"/>
              </a:rPr>
              <a:t>|r| &lt; 0.3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880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약한 상관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532888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거의 무관계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383280"/>
            <a:ext cx="5303520" cy="82296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383280"/>
            <a:ext cx="164592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4930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onsolas"/>
              </a:rPr>
              <a:t>0.3 ≤ |r| &lt; 0.7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8404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보통 상관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93008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관련성 있음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343400"/>
            <a:ext cx="5303520" cy="82296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343400"/>
            <a:ext cx="16459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4531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onsolas"/>
              </a:rPr>
              <a:t>|r| ≥ 0.7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800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강한 상관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453128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뚜렷한 관련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3212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주의 — r은 선형 관계만 측정한다.
비선형 관계(곡선·U자형)는 r ≈ 0이 나올 수 있다.
→ pairplot으로 직접 모양을 확인하라.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02.04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상관 히트맵 — 3가지 위험 신호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30초 투자로 30시간을 절약 — 모델 학습 전 필수 점검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874519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57600" cy="91440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8600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7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데이터 누수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3171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Consolas"/>
              </a:rPr>
              <a:t>Data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조건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0399"/>
            <a:ext cx="310896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039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타겟과 |r| ≈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의미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7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학습 시점에 알 수 없는
미래 정보가 입력에 포함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059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1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그 특성을
학습에서 제외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874519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1874519"/>
            <a:ext cx="3657600" cy="91440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9659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8600"/>
                </a:solidFill>
                <a:latin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24027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다중공선성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33171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Consolas"/>
              </a:rPr>
              <a:t>Multicollinearity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9260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조건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200399"/>
            <a:ext cx="310896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20039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특성 간 |r| &gt; 0.9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7947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의미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06907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두 특성이 거의
같은 정보를 담음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80059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07491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하나만 남기거나
PCA · Ridge 적용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874519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0" y="1874519"/>
            <a:ext cx="3657600" cy="91440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9659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8600"/>
                </a:solidFill>
                <a:latin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24027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약한 상관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33171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Consolas"/>
              </a:rPr>
              <a:t>Weak Correlation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260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조건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3200399"/>
            <a:ext cx="310896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320039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모든 |r| &lt; 0.1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7947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의미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06907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선형 관계로는
타겟을 설명 못함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80059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조치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07491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비선형 모델(트리,
신경망) 고려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080760"/>
            <a:ext cx="11091672" cy="5943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1996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mask = np.triu(np.ones_like(corr, dtype=bool))   # 상삼각 가림 → sns.heatmap(corr, mask=mask, cmap='coolwarm', center=0)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5720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1E2A4A"/>
                </a:solidFill>
                <a:latin typeface="Calibri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5120640"/>
            <a:ext cx="2423160" cy="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onsolas"/>
              </a:rPr>
              <a:t>PART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8600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E2A4A"/>
                </a:solidFill>
                <a:latin typeface="Calibri"/>
              </a:rPr>
              <a:t>비교 시각화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520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핵심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79476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3333"/>
                </a:solidFill>
                <a:latin typeface="Calibri"/>
              </a:rPr>
              <a:t>그룹 간에 어떻게 다른가?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countplot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범주 빈도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barplot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평균/중앙값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subplot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대시보드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EDA 5단계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필수 체크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03.01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카운트플롯 → 클래스 불균형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머신러닝 분류 문제에서 가장 먼저 점검해야 할 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함정 — "정확도 95%"의 함정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5029200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미구매(0)  ·  95%  ·  475명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50292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onsolas"/>
              </a:rPr>
              <a:t>구매(1)  ·  5%  ·  25명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5486400" cy="21031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onsolas"/>
              </a:rPr>
              <a:t>함정의 정체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"전부 0이라고 예측" → 정확도 95% 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그러나 소수 클래스(1)에 대한
재현율(recall) = 0
→ 모델이 "구매할 사람"을 한 명도 못 찾는다.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클래스 불균형 3대 대책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23160"/>
            <a:ext cx="5303520" cy="12344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53288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onsolas"/>
              </a:rPr>
              <a:t>SMOTE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소수 클래스를 합성으로 복제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91840"/>
            <a:ext cx="4937760" cy="292608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29184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from imblearn.over_sampling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94760"/>
            <a:ext cx="5303520" cy="12344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0448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onsolas"/>
              </a:rPr>
              <a:t>class_weight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손실 함수에서 소수에 가중치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663440"/>
            <a:ext cx="4937760" cy="292608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66344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class_weight='balanced'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166360"/>
            <a:ext cx="5303520" cy="12344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27608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onsolas"/>
              </a:rPr>
              <a:t>F1 · ROC-AUC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669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불균형에 강건한 평가지표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6035040"/>
            <a:ext cx="4937760" cy="292608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603504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from sklearn.metrics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03.02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EDA 5단계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모델 학습 전 필수 점검 — AutoML도 같은 순서로 수행한다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1431" y="2011680"/>
            <a:ext cx="2194560" cy="33832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1431" y="2011680"/>
            <a:ext cx="2194560" cy="77724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431" y="2057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431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결측값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431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도구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591" y="3246120"/>
            <a:ext cx="192024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591" y="32461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isnull().sum()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431" y="3840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" y="411480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삭제 vs 대체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9999" y="2011680"/>
            <a:ext cx="2194560" cy="33832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39999" y="2011680"/>
            <a:ext cx="2194560" cy="77724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9999" y="2057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9999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분포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9999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도구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77159" y="3246120"/>
            <a:ext cx="192024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77159" y="32461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histplot + KDE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9999" y="3840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대응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7159" y="411480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왜도 · 변환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8567" y="2011680"/>
            <a:ext cx="2194560" cy="33832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B88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98567" y="2011680"/>
            <a:ext cx="2194560" cy="777240"/>
          </a:xfrm>
          <a:prstGeom prst="roundRect">
            <a:avLst>
              <a:gd name="adj" fmla="val 4000"/>
            </a:avLst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98567" y="2057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8567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이상치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8567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도구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35727" y="3246120"/>
            <a:ext cx="192024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35727" y="32461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boxplot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8567" y="3840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대응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5727" y="411480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B88600"/>
                </a:solidFill>
                <a:latin typeface="Calibri"/>
              </a:rPr>
              <a:t>제거 vs 보존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57135" y="2011680"/>
            <a:ext cx="2194560" cy="33832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57135" y="2011680"/>
            <a:ext cx="2194560" cy="77724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57135" y="2057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7135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불균형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7135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도구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94295" y="3246120"/>
            <a:ext cx="192024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94295" y="32461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countplot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7135" y="3840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대응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94295" y="411480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SMOTE · class_weight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15703" y="2011680"/>
            <a:ext cx="2194560" cy="33832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15703" y="2011680"/>
            <a:ext cx="2194560" cy="77724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15703" y="2057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15703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상관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15703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도구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52863" y="3246120"/>
            <a:ext cx="1920240" cy="4572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52863" y="32461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heatmap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15703" y="3840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nsolas"/>
              </a:rPr>
              <a:t>대응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2863" y="411480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특성 선택 · 누수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2639415" y="3520440"/>
            <a:ext cx="164592" cy="164592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ght Arrow 52"/>
          <p:cNvSpPr/>
          <p:nvPr/>
        </p:nvSpPr>
        <p:spPr>
          <a:xfrm>
            <a:off x="4897983" y="3520440"/>
            <a:ext cx="164592" cy="164592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7156551" y="3520440"/>
            <a:ext cx="164592" cy="164592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9415119" y="3520440"/>
            <a:ext cx="164592" cy="164592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" y="571500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8600"/>
                </a:solidFill>
                <a:latin typeface="Consolas"/>
              </a:rPr>
              <a:t>핵심 메시지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EDA는 옵션이 아니라 ML 파이프라인의 필수 관문이다. Google AutoML · H2O.ai도 내부에서 이 5단계를 자동 수행한다.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5720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1E2A4A"/>
                </a:solidFill>
                <a:latin typeface="Calibri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5120640"/>
            <a:ext cx="2423160" cy="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onsolas"/>
              </a:rPr>
              <a:t>PART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Interactive &amp; High-Dim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8600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A4A"/>
                </a:solidFill>
                <a:latin typeface="Calibri"/>
              </a:rPr>
              <a:t>인터랙티브 · 고차원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520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핵심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79476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3333"/>
                </a:solidFill>
                <a:latin typeface="Calibri"/>
              </a:rPr>
              <a:t>정적 그래프로 부족할 때 무엇을 쓸 것인가?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Plotly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인터랙티브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PCA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고차원→2D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t-SNE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군집 탐지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4754880"/>
            <a:ext cx="1325880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XAI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5212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AF6F1"/>
                </a:solidFill>
                <a:latin typeface="Calibri"/>
              </a:rPr>
              <a:t>모델 설명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04.01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Plotly Express의 4가지 강점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발표 · 대시보드의 표준 — 정적 그래프와 상호 보완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874519"/>
            <a:ext cx="5486400" cy="21031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280160" cy="21031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19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B88600"/>
                </a:solidFill>
                <a:latin typeface="Calibri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Hover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10311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동작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377439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마우스를 올리면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78891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해당 점의 모든 정보 표시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3291839"/>
            <a:ext cx="3794760" cy="0"/>
          </a:xfrm>
          <a:prstGeom prst="line">
            <a:avLst/>
          </a:prstGeom>
          <a:ln w="63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57400" y="338327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30167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Calibri"/>
              </a:rPr>
              <a:t>→ 발표 중 즉답 가능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74519"/>
            <a:ext cx="5486400" cy="21031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874519"/>
            <a:ext cx="1280160" cy="21031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19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B88600"/>
                </a:solidFill>
                <a:latin typeface="Calibri"/>
              </a:rPr>
              <a:t>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918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Drag/Zoom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10311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동작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377439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영역을 드래그하면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78891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확대 · 축소 가능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18120" y="3291839"/>
            <a:ext cx="3794760" cy="0"/>
          </a:xfrm>
          <a:prstGeom prst="line">
            <a:avLst/>
          </a:prstGeom>
          <a:ln w="63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18120" y="338327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활용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630167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Calibri"/>
              </a:rPr>
              <a:t>→ 세부 영역 탐색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60519"/>
            <a:ext cx="5486400" cy="21031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160519"/>
            <a:ext cx="1280160" cy="21031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17719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B88600"/>
                </a:solidFill>
                <a:latin typeface="Calibri"/>
              </a:rPr>
              <a:t>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778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38911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동작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663439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카메라 아이콘으로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07491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PNG로 즉시 저장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057400" y="5577839"/>
            <a:ext cx="3794760" cy="0"/>
          </a:xfrm>
          <a:prstGeom prst="line">
            <a:avLst/>
          </a:prstGeom>
          <a:ln w="63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57400" y="566927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활용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16167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Calibri"/>
              </a:rPr>
              <a:t>→ 보고서에 첨부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160519"/>
            <a:ext cx="5486400" cy="21031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9360" y="4160519"/>
            <a:ext cx="1280160" cy="21031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617719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B88600"/>
                </a:solidFill>
                <a:latin typeface="Calibri"/>
              </a:rPr>
              <a:t>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5778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Legend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38911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동작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663439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범례 클릭으로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07491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그룹 켜기/끄기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18120" y="5577839"/>
            <a:ext cx="3794760" cy="0"/>
          </a:xfrm>
          <a:prstGeom prst="line">
            <a:avLst/>
          </a:prstGeom>
          <a:ln w="63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818120" y="566927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활용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5916167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  <a:latin typeface="Calibri"/>
              </a:rPr>
              <a:t>→ 비교 강조 조절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정적 그래프(Matplotlib · Seaborn)는 논문 · 인쇄에, 인터랙티브(Plotly)는 발표 · 대시보드에 — 상호 보완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04.02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PCA — 고차원을 2D로 압축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주성분 분석(Principal Component Analysis) — 분산이 최대인 축으로 투영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동작 원리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88600"/>
                </a:solidFill>
                <a:latin typeface="Consolas"/>
              </a:rP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64차원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AF6F1"/>
                </a:solidFill>
                <a:latin typeface="Calibri"/>
              </a:rPr>
              <a:t>손글씨 8×8 픽셀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14600" y="2880360"/>
            <a:ext cx="548640" cy="36576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237744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606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PCA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0175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fit_transform()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09160" y="2880360"/>
            <a:ext cx="548640" cy="36576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60" y="23774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88600"/>
                </a:solidFill>
                <a:latin typeface="Consolas"/>
              </a:rPr>
              <a:t>출력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7889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2차원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246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onsolas"/>
              </a:rPr>
              <a:t>PC1, PC2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6675120" cy="155448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88600"/>
                </a:solidFill>
                <a:latin typeface="Consolas"/>
              </a:rPr>
              <a:t># 핵심 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from sklearn.decomposition import PCA
from sklearn.preprocessing import StandardScaler
X_scaled = StandardScaler().fit_transform(X)   # 표준화 필수
X_pca = PCA(n_components=2).fit_transform(X_scaled)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828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PCA의 특성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2377440"/>
            <a:ext cx="4114800" cy="19202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468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nsolas"/>
              </a:rPr>
              <a:t>강점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78892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· 매우 빠르다
· 변환 행렬을 가짐
· 새 데이터에도 동일 적용
· 분산 보존 — 해석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4434840"/>
            <a:ext cx="4114800" cy="19202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5262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약점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84632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· 비선형 구조 못 잡음
· 군집 분리 약함
· 곡면 형태 데이터에 부적합
· 글로벌 구조만 보존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04.03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t-SNE vs PCA — 무엇을 언제 쓸 것인가?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같은 64차원 손글씨 데이터, 두 방법은 완전히 다른 결과를 보인다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874519"/>
            <a:ext cx="2286000" cy="502920"/>
          </a:xfrm>
          <a:prstGeom prst="rect">
            <a:avLst/>
          </a:prstGeom>
          <a:solidFill>
            <a:srgbClr val="1E2A4A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비교 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74519"/>
            <a:ext cx="4297680" cy="502920"/>
          </a:xfrm>
          <a:prstGeom prst="rect">
            <a:avLst/>
          </a:prstGeom>
          <a:solidFill>
            <a:srgbClr val="1E2A4A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874519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874519"/>
            <a:ext cx="4526280" cy="502920"/>
          </a:xfrm>
          <a:prstGeom prst="rect">
            <a:avLst/>
          </a:prstGeom>
          <a:solidFill>
            <a:srgbClr val="1E2A4A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874519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t-SNE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39"/>
            <a:ext cx="228600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7743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onsolas"/>
              </a:rPr>
              <a:t>원리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377439"/>
            <a:ext cx="429768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377439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분산이 최대인 축 투영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377439"/>
            <a:ext cx="452628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377439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이웃 관계 보존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80359"/>
            <a:ext cx="228600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8035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onsolas"/>
              </a:rPr>
              <a:t>속도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880359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2880359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매우 빠름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880359"/>
            <a:ext cx="4526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880359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느림 (반복 계산)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83279"/>
            <a:ext cx="228600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8327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onsolas"/>
              </a:rPr>
              <a:t>군집 분리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383279"/>
            <a:ext cx="429768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3383279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약함 (흐릿함)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3383279"/>
            <a:ext cx="452628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3383279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매우 강함 (명확)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86199"/>
            <a:ext cx="228600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88619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onsolas"/>
              </a:rPr>
              <a:t>새 데이터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886199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3886199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가능 (변환 행렬)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886199"/>
            <a:ext cx="4526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3886199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불가능 (시각화 전용)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89119"/>
            <a:ext cx="228600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38911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onsolas"/>
              </a:rPr>
              <a:t>거리 의미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4389119"/>
            <a:ext cx="429768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389119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의미 있음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4389119"/>
            <a:ext cx="452628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4389119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의미 없음 (이웃만)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92039"/>
            <a:ext cx="2286000" cy="502920"/>
          </a:xfrm>
          <a:prstGeom prst="rect">
            <a:avLst/>
          </a:prstGeom>
          <a:solidFill>
            <a:srgbClr val="FAF6F1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89203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onsolas"/>
              </a:rPr>
              <a:t>주된 용도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4892039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71800" y="4892039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특성 압축 후 모델 입력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4892039"/>
            <a:ext cx="4526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69480" y="4892039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군집 시각화 · 임베딩 점검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선택 가이드 — 상황별 결정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94360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01675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1000차원 → 50차원
압축 후 모델 입력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94360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onsolas"/>
              </a:rPr>
              <a:t>PCA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89120" y="594360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0" y="601675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100만 고객 군집 시각화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94360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  <a:latin typeface="Consolas"/>
              </a:rPr>
              <a:t>t-SNE / UMAP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594360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601675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단어 임베딩 의미 군집 확인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594360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  <a:latin typeface="Consolas"/>
              </a:rPr>
              <a:t>t-SNE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04.04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AI 연결 — 단어 임베딩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GPT · BERT의 768차원 임베딩을 t-SNE로 펼치면 의미가 보인다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E2A4A"/>
                </a:solidFill>
                <a:latin typeface="Calibri"/>
              </a:rPr>
              <a:t>임베딩의 마법 — 의미가 벡터 산술로 표현된다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606040"/>
            <a:ext cx="7955279" cy="9144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606040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B88600"/>
                </a:solidFill>
                <a:latin typeface="Consolas"/>
              </a:rPr>
              <a:t>king − man + woman ≈ queen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같은 의미 영역의 단어들이 t-SNE 평면에서 가까이 모인다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52628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617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왕족 군집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440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prince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440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princess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52628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4617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동물 군집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cat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dog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440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tiger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40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wolf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52628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617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색상 군집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blue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440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green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440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· yellow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E2A4A"/>
                </a:solidFill>
                <a:latin typeface="Calibri"/>
              </a:rPr>
              <a:t>실무 활용 — Word2Vec · BERT · Sentence-BERT 임베딩의 품질을 t-SNE 시각화로 점검한다.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의미가 비슷한 단어들이 가까이 모이지 않는다면 → 임베딩이 의미를 못 학습한 것이다.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04.05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시각화의 미래 — 설명 가능한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EU AI Act(2024)는 고위험 AI에 설명 가능성을 법적으로 요구한다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874519"/>
            <a:ext cx="3657600" cy="40690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57600" cy="100584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학습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AF6F1"/>
                </a:solidFill>
                <a:latin typeface="Consolas"/>
              </a:rPr>
              <a:t>Pre-training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79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4A"/>
                </a:solidFill>
                <a:latin typeface="Consolas"/>
              </a:rPr>
              <a:t>· 히스토그램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75887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4A"/>
                </a:solidFill>
                <a:latin typeface="Consolas"/>
              </a:rPr>
              <a:t>· 박스플롯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68495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4A"/>
                </a:solidFill>
                <a:latin typeface="Consolas"/>
              </a:rPr>
              <a:t>· 상관 히트맵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목적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데이터 품질 점검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57799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5779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88600"/>
                </a:solidFill>
                <a:latin typeface="Consolas"/>
              </a:rPr>
              <a:t>본 차시 (5주)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874519"/>
            <a:ext cx="3657600" cy="40690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1874519"/>
            <a:ext cx="3657600" cy="100584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9659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학습 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3774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AF6F1"/>
                </a:solidFill>
                <a:latin typeface="Consolas"/>
              </a:rPr>
              <a:t>During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63347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0632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도구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383279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4A"/>
                </a:solidFill>
                <a:latin typeface="Consolas"/>
              </a:rPr>
              <a:t>· 학습 곡선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675887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4A"/>
                </a:solidFill>
                <a:latin typeface="Consolas"/>
              </a:rPr>
              <a:t>· 손실 그래프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968495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4A"/>
                </a:solidFill>
                <a:latin typeface="Consolas"/>
              </a:rPr>
              <a:t>· 검증 정확도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4805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목적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7548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과적합 진단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5257799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525779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88600"/>
                </a:solidFill>
                <a:latin typeface="Consolas"/>
              </a:rPr>
              <a:t>9~10주차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1874519"/>
            <a:ext cx="3657600" cy="406908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1874519"/>
            <a:ext cx="3657600" cy="100584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9659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학습 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3774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AF6F1"/>
                </a:solidFill>
                <a:latin typeface="Consolas"/>
              </a:rPr>
              <a:t>Post-training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63347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XAI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0632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도구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383279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4A"/>
                </a:solidFill>
                <a:latin typeface="Consolas"/>
              </a:rPr>
              <a:t>· 특성 중요도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675887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4A"/>
                </a:solidFill>
                <a:latin typeface="Consolas"/>
              </a:rPr>
              <a:t>· SHAP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968495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A4A"/>
                </a:solidFill>
                <a:latin typeface="Consolas"/>
              </a:rPr>
              <a:t>· Grad-CAM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4805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목적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7548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예측 근거 설명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5257799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525779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88600"/>
                </a:solidFill>
                <a:latin typeface="Consolas"/>
              </a:rPr>
              <a:t>13~14주차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206240" y="3703320"/>
            <a:ext cx="182880" cy="18288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8046720" y="3703320"/>
            <a:ext cx="182880" cy="18288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6080760"/>
            <a:ext cx="11091672" cy="5943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61996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1">
                <a:solidFill>
                  <a:srgbClr val="B88600"/>
                </a:solidFill>
                <a:latin typeface="Consolas"/>
              </a:rPr>
              <a:t>EU AI Act (2024) — 의료 · 금융 · 법률 AI는 "왜 그런 판단을 했는가?"를 설명할 수 있어야 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그래프 선택 결정 트리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본 차시 전체를 한 장에 압축한 결론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1874519"/>
            <a:ext cx="3931920" cy="64008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874519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무엇을 보고 싶은가?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851660.0" y="2514599"/>
            <a:ext cx="4229100.0" cy="594361"/>
          </a:xfrm>
          <a:prstGeom prst="line">
            <a:avLst/>
          </a:prstGeom>
          <a:ln w="190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31089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2606040" cy="59436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한 변수 분포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histplot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348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boxplot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violin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686300.0" y="2514599"/>
            <a:ext cx="1394460.0" cy="594361"/>
          </a:xfrm>
          <a:prstGeom prst="line">
            <a:avLst/>
          </a:prstGeom>
          <a:ln w="190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83280" y="31089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83280" y="3108960"/>
            <a:ext cx="2606040" cy="5943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10896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두 변수 관계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9776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39776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scatter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4348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4348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regplot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8920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8920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heatmap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.0" y="2514599"/>
            <a:ext cx="1440180.0" cy="594361"/>
          </a:xfrm>
          <a:prstGeom prst="line">
            <a:avLst/>
          </a:prstGeom>
          <a:ln w="190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17920" y="31089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3108960"/>
            <a:ext cx="2606040" cy="5943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10896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그룹 비교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9776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9776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countplot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4348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348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barplot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8920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8920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subplot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80760.0" y="2514599"/>
            <a:ext cx="4274820.0" cy="594361"/>
          </a:xfrm>
          <a:prstGeom prst="line">
            <a:avLst/>
          </a:prstGeom>
          <a:ln w="190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52560" y="31089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52560" y="3108960"/>
            <a:ext cx="2606040" cy="59436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310896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고차원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39776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39776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Plotly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44348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44348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PCA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0" y="4892040"/>
            <a:ext cx="2057400" cy="365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48920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t-SNE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66928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8600"/>
                </a:solidFill>
                <a:latin typeface="Consolas"/>
              </a:rPr>
              <a:t>추가 결정 규칙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608076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— 변수가 10개 이상 → 상관 히트맵으로 좁힌 뒤 pairplot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2819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— 발표 · 대시보드 → Plotly 인터랙티브;   논문 · 인쇄 → Matplotlib · Seaborn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6483096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— 지도 데이터 → Folium 또는 Plotly mapbox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onsola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  <a:latin typeface="Calibri"/>
              </a:rPr>
              <a:t>3가지 황금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본 차시에서 평생 가져갈 세 가지 — 그리고 다음 여정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270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874519"/>
            <a:ext cx="3657600" cy="30175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39111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88600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11679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00" b="0" i="0">
                <a:solidFill>
                  <a:srgbClr val="B88600"/>
                </a:solidFill>
                <a:latin typeface="Calibri"/>
              </a:rPr>
              <a:t>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1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Calibri"/>
              </a:rPr>
              <a:t>항상 그래프를 먼저 그려라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3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onsolas"/>
              </a:rPr>
              <a:t>Always plot first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749038"/>
            <a:ext cx="3108960" cy="0"/>
          </a:xfrm>
          <a:prstGeom prst="line">
            <a:avLst/>
          </a:prstGeom>
          <a:ln w="63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886199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앤스콤의 사중주가 1973년에 증명한 EDA의 제1원칙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74519"/>
            <a:ext cx="3657600" cy="30175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874519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039111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88600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011679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00" b="0" i="0">
                <a:solidFill>
                  <a:srgbClr val="B88600"/>
                </a:solidFill>
                <a:latin typeface="Calibri"/>
              </a:rPr>
              <a:t>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8891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Calibri"/>
              </a:rPr>
              <a:t>colorblind 팔레트를 첫 셀에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9183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onsolas"/>
              </a:rPr>
              <a:t>sns.set_palette("colorblind")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63440" y="3749038"/>
            <a:ext cx="3108960" cy="0"/>
          </a:xfrm>
          <a:prstGeom prst="line">
            <a:avLst/>
          </a:prstGeom>
          <a:ln w="63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3440" y="3886199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모든 노트북 첫 셀의 표준 — 모든 사람이 읽을 수 있는 그래프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874519"/>
            <a:ext cx="3657600" cy="3017520"/>
          </a:xfrm>
          <a:prstGeom prst="roundRect">
            <a:avLst>
              <a:gd name="adj" fmla="val 4000"/>
            </a:avLst>
          </a:prstGeom>
          <a:solidFill>
            <a:srgbClr val="FAF6F1"/>
          </a:solidFill>
          <a:ln w="317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1874519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039111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88600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011679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00" b="0" i="0">
                <a:solidFill>
                  <a:srgbClr val="B88600"/>
                </a:solidFill>
                <a:latin typeface="Calibri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788919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Calibri"/>
              </a:rPr>
              <a:t>상관 ≠ 인과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29183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onsolas"/>
              </a:rPr>
              <a:t>Correlation ≠ Causation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03920" y="3749038"/>
            <a:ext cx="3108960" cy="0"/>
          </a:xfrm>
          <a:prstGeom prst="line">
            <a:avLst/>
          </a:prstGeom>
          <a:ln w="6350">
            <a:solidFill>
              <a:srgbClr val="BFB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03920" y="3886199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"~와 관련이 있다" ⭕ vs "~때문이다" ❌ — 분석가의 직업윤리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66360"/>
            <a:ext cx="11091672" cy="150876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8600"/>
                </a:solidFill>
                <a:latin typeface="Consolas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다음 차시 — 머신러닝 워크플로우 시작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0807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AF6F1"/>
                </a:solidFill>
                <a:latin typeface="Calibri"/>
              </a:rPr>
              <a:t>시각으로 발견한 패턴을 모델로 일반화한다 — 데이터 분할 → 전처리 → 학습 → 평가의 전 과정.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