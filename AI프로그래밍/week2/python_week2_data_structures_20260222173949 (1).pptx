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26298" r="26298" t="0" b="0"/>
          <a:stretch/>
        </p:blipFill>
        <p:spPr>
          <a:xfrm>
            <a:off x="7315200" y="0"/>
            <a:ext cx="4876495" cy="6858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905" y="914400"/>
            <a:ext cx="6210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E24A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AI·ML·DL 통합 강의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1295705"/>
            <a:ext cx="62682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2주차:</a:t>
            </a:r>
            <a:pPr algn="l" indent="0" marL="0">
              <a:buNone/>
            </a:pPr>
            <a:endParaRPr lang="en-US" sz="5400" dirty="0"/>
          </a:p>
          <a:p>
            <a:pPr algn="l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파이썬 기초 ② </a:t>
            </a:r>
            <a:endParaRPr lang="en-US" sz="5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609905" y="2895905"/>
            <a:ext cx="914400" cy="384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09905" y="3238805"/>
            <a:ext cx="620329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자료구조</a:t>
            </a:r>
            <a:pPr algn="l" indent="0" marL="0">
              <a:buNone/>
            </a:pPr>
            <a:endParaRPr lang="en-US" sz="22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(리스트 · 튜플 · 딕셔너리 · 집합)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09905" y="5429707"/>
            <a:ext cx="16102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Instructor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09905" y="5695798"/>
            <a:ext cx="182514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Genspark AI Class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061" b="-2061"/>
          <a:stretch/>
        </p:blipFill>
        <p:spPr>
          <a:xfrm>
            <a:off x="2445106" y="5315407"/>
            <a:ext cx="9144" cy="7616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758745" y="5296205"/>
            <a:ext cx="204094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Session Goal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758745" y="5562295"/>
            <a:ext cx="20391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분석의 기초 체력,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4대 자료구조 완벽 이해 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26750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-4" r="-4" t="0" b="0"/>
          <a:stretch/>
        </p:blipFill>
        <p:spPr>
          <a:xfrm>
            <a:off x="0" y="4800600"/>
            <a:ext cx="4267505" cy="20574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5029200" y="123444"/>
            <a:ext cx="6400800" cy="33531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10505" y="504749"/>
            <a:ext cx="457200" cy="4572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24805" y="619049"/>
            <a:ext cx="22860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019495" y="562356"/>
            <a:ext cx="1401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2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-24850" r="-24850" t="0" b="0"/>
          <a:stretch/>
        </p:blipFill>
        <p:spPr>
          <a:xfrm>
            <a:off x="5410505" y="1228954"/>
            <a:ext cx="228600" cy="15270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020410" y="1190549"/>
            <a:ext cx="510509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파이썬 4대 자료구조(리스트·튜플·딕셔너리·집합)의 특성과 차이를 명확히 이해합니다.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-24850" r="-24850" t="0" b="0"/>
          <a:stretch/>
        </p:blipFill>
        <p:spPr>
          <a:xfrm>
            <a:off x="5410505" y="1914754"/>
            <a:ext cx="228600" cy="15270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020410" y="1876349"/>
            <a:ext cx="510509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자료구조의 생성, 접근, 변경 방법을 코드로 자유롭게 구현합니다.</a:t>
            </a:r>
            <a:endParaRPr lang="en-US" sz="15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rcRect l="-24850" r="-24850" t="0" b="0"/>
          <a:stretch/>
        </p:blipFill>
        <p:spPr>
          <a:xfrm>
            <a:off x="5410505" y="2600554"/>
            <a:ext cx="228600" cy="152705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6020410" y="2562149"/>
            <a:ext cx="510509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코로나19 데이터를 자료구조에 담아 조작하며 데이터 분석의 기초를 다집니다.</a:t>
            </a:r>
            <a:endParaRPr lang="en-US" sz="15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3" b="-3"/>
          <a:stretch/>
        </p:blipFill>
        <p:spPr>
          <a:xfrm>
            <a:off x="5029200" y="3781044"/>
            <a:ext cx="6400800" cy="2648102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5410505" y="4162349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rcRect l="-57" r="-57" t="0" b="0"/>
          <a:stretch/>
        </p:blipFill>
        <p:spPr>
          <a:xfrm>
            <a:off x="5538521" y="4276649"/>
            <a:ext cx="200254" cy="22860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6019495" y="4219956"/>
            <a:ext cx="17071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데이터</a:t>
            </a:r>
            <a:endParaRPr lang="en-US" sz="2200" dirty="0"/>
          </a:p>
        </p:txBody>
      </p:sp>
      <p:sp>
        <p:nvSpPr>
          <p:cNvPr id="20" name="Text 10"/>
          <p:cNvSpPr txBox="1"/>
          <p:nvPr/>
        </p:nvSpPr>
        <p:spPr>
          <a:xfrm>
            <a:off x="5410505" y="4848149"/>
            <a:ext cx="35725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COVID-19 Dataset</a:t>
            </a:r>
            <a:endParaRPr lang="en-US" sz="1500" dirty="0"/>
          </a:p>
        </p:txBody>
      </p:sp>
      <p:sp>
        <p:nvSpPr>
          <p:cNvPr id="21" name="Text 11"/>
          <p:cNvSpPr txBox="1"/>
          <p:nvPr/>
        </p:nvSpPr>
        <p:spPr>
          <a:xfrm>
            <a:off x="5410505" y="5191049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</a:t>
            </a:r>
            <a:pPr algn="l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Our World in Data</a:t>
            </a:r>
            <a:endParaRPr lang="en-US" sz="1200" dirty="0"/>
          </a:p>
        </p:txBody>
      </p:sp>
      <p:sp>
        <p:nvSpPr>
          <p:cNvPr id="22" name="Text 12"/>
          <p:cNvSpPr txBox="1"/>
          <p:nvPr/>
        </p:nvSpPr>
        <p:spPr>
          <a:xfrm>
            <a:off x="5410505" y="5495544"/>
            <a:ext cx="35341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세계 국가별 일별 확진자 수 데이터를 기반으로 하며, 학습을 위해 주요 국가 위주로 단순화된 데이터셋을 사용합니다.</a:t>
            </a:r>
            <a:endParaRPr lang="en-US" sz="1000" dirty="0"/>
          </a:p>
        </p:txBody>
      </p:sp>
      <p:sp>
        <p:nvSpPr>
          <p:cNvPr id="23" name="Shape 13"/>
          <p:cNvSpPr/>
          <p:nvPr/>
        </p:nvSpPr>
        <p:spPr>
          <a:xfrm>
            <a:off x="9169603" y="4848149"/>
            <a:ext cx="1886407" cy="1200607"/>
          </a:xfrm>
          <a:prstGeom prst="roundRect">
            <a:avLst>
              <a:gd name="adj" fmla="val 241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9331452" y="5009998"/>
            <a:ext cx="1638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Data Preview</a:t>
            </a:r>
            <a:endParaRPr lang="en-US" sz="900" dirty="0"/>
          </a:p>
        </p:txBody>
      </p:sp>
      <p:sp>
        <p:nvSpPr>
          <p:cNvPr id="25" name="Text 15"/>
          <p:cNvSpPr txBox="1"/>
          <p:nvPr/>
        </p:nvSpPr>
        <p:spPr>
          <a:xfrm>
            <a:off x="9331452" y="5238598"/>
            <a:ext cx="1638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"Korea"</a:t>
            </a:r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34,571</a:t>
            </a:r>
            <a:endParaRPr lang="en-US" sz="1000" dirty="0"/>
          </a:p>
        </p:txBody>
      </p:sp>
      <p:sp>
        <p:nvSpPr>
          <p:cNvPr id="26" name="Text 16"/>
          <p:cNvSpPr txBox="1"/>
          <p:nvPr/>
        </p:nvSpPr>
        <p:spPr>
          <a:xfrm>
            <a:off x="9331452" y="5467198"/>
            <a:ext cx="1638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"USA"</a:t>
            </a:r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1,850,000</a:t>
            </a:r>
            <a:endParaRPr lang="en-US" sz="1000" dirty="0"/>
          </a:p>
        </p:txBody>
      </p:sp>
      <p:sp>
        <p:nvSpPr>
          <p:cNvPr id="27" name="Text 17"/>
          <p:cNvSpPr txBox="1"/>
          <p:nvPr/>
        </p:nvSpPr>
        <p:spPr>
          <a:xfrm>
            <a:off x="9331452" y="5695798"/>
            <a:ext cx="1638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"Japan"</a:t>
            </a:r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18,723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11799418" y="6324905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609905" y="1658722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Session Overview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609905" y="2001622"/>
            <a:ext cx="31702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학습 목표</a:t>
            </a:r>
            <a:pPr algn="l" indent="0" marL="0">
              <a:buNone/>
            </a:pPr>
            <a:endParaRPr lang="en-US" sz="4500" dirty="0"/>
          </a:p>
          <a:p>
            <a:pPr algn="l" indent="0" marL="0">
              <a:buNone/>
            </a:pPr>
            <a:r>
              <a:rPr lang="en-US" sz="4500" dirty="0">
                <a:solidFill>
                  <a:srgbClr val="E24A3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&amp; 활용 데이터</a:t>
            </a:r>
            <a:endParaRPr lang="en-US" sz="45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20" b="-420"/>
          <a:stretch/>
        </p:blipFill>
        <p:spPr>
          <a:xfrm>
            <a:off x="609905" y="4020617"/>
            <a:ext cx="761695" cy="3840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09905" y="4363517"/>
            <a:ext cx="312450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세션에서는 파이썬의 핵심 자료구조를 완벽히 이해하고, 실제 코로나19 데이터를 통해 이를 다루는 방법을 학습합니다.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26750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-4" r="-4" t="0" b="0"/>
          <a:stretch/>
        </p:blipFill>
        <p:spPr>
          <a:xfrm>
            <a:off x="0" y="4800600"/>
            <a:ext cx="4267505" cy="20574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5029200" y="-210312"/>
            <a:ext cx="6400800" cy="25831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10505" y="170993"/>
            <a:ext cx="457200" cy="4572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24805" y="285293"/>
            <a:ext cx="22860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019495" y="227686"/>
            <a:ext cx="26901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1주차 핵심 키워드</a:t>
            </a:r>
            <a:endParaRPr lang="en-US" sz="2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-505" r="-505" t="0" b="0"/>
          <a:stretch/>
        </p:blipFill>
        <p:spPr>
          <a:xfrm>
            <a:off x="5410505" y="898855"/>
            <a:ext cx="228600" cy="181051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126480" y="856793"/>
            <a:ext cx="37417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</a:t>
            </a:r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값을 하나만 저장하는 '서랍 한 칸'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-6117" r="-6117" t="0" b="0"/>
          <a:stretch/>
        </p:blipFill>
        <p:spPr>
          <a:xfrm>
            <a:off x="5410505" y="1367942"/>
            <a:ext cx="228600" cy="181051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126480" y="1305763"/>
            <a:ext cx="2527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타입: </a:t>
            </a:r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endParaRPr lang="en-US" sz="15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6910" y="1332281"/>
            <a:ext cx="437998" cy="28620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826910" y="1332281"/>
            <a:ext cx="4389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3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4578" y="1332281"/>
            <a:ext cx="638251" cy="286207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364578" y="1332281"/>
            <a:ext cx="638251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3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7070" y="1332281"/>
            <a:ext cx="437998" cy="286207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8107070" y="1332281"/>
            <a:ext cx="4389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3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rcRect l="-22150" r="-22150" t="0" b="0"/>
          <a:stretch/>
        </p:blipFill>
        <p:spPr>
          <a:xfrm>
            <a:off x="5410505" y="1748333"/>
            <a:ext cx="228600" cy="181051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6735470" y="1687068"/>
            <a:ext cx="28657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활용한 직관적인 문자열 포맷팅</a:t>
            </a:r>
            <a:endParaRPr lang="en-US" sz="15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0895" y="1713586"/>
            <a:ext cx="952805" cy="286207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790895" y="1713586"/>
            <a:ext cx="95280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f-string</a:t>
            </a:r>
            <a:endParaRPr lang="en-US" sz="13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3" b="-3"/>
          <a:stretch/>
        </p:blipFill>
        <p:spPr>
          <a:xfrm>
            <a:off x="5029200" y="2677363"/>
            <a:ext cx="6400800" cy="4086454"/>
          </a:xfrm>
          <a:prstGeom prst="rect">
            <a:avLst/>
          </a:prstGeom>
        </p:spPr>
      </p:pic>
      <p:sp>
        <p:nvSpPr>
          <p:cNvPr id="25" name="Shape 12"/>
          <p:cNvSpPr/>
          <p:nvPr/>
        </p:nvSpPr>
        <p:spPr>
          <a:xfrm>
            <a:off x="5410505" y="3058668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80" b="-80"/>
          <a:stretch/>
        </p:blipFill>
        <p:spPr>
          <a:xfrm>
            <a:off x="5567782" y="3172968"/>
            <a:ext cx="142646" cy="228600"/>
          </a:xfrm>
          <a:prstGeom prst="rect">
            <a:avLst/>
          </a:prstGeom>
        </p:spPr>
      </p:pic>
      <p:sp>
        <p:nvSpPr>
          <p:cNvPr id="27" name="Text 13"/>
          <p:cNvSpPr txBox="1"/>
          <p:nvPr/>
        </p:nvSpPr>
        <p:spPr>
          <a:xfrm>
            <a:off x="6019495" y="3115361"/>
            <a:ext cx="15224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생각해보기</a:t>
            </a:r>
            <a:endParaRPr lang="en-US" sz="2200" dirty="0"/>
          </a:p>
        </p:txBody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10505" y="3781958"/>
            <a:ext cx="342900" cy="286207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5410505" y="3781958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1000" dirty="0"/>
          </a:p>
        </p:txBody>
      </p:sp>
      <p:sp>
        <p:nvSpPr>
          <p:cNvPr id="30" name="Text 15"/>
          <p:cNvSpPr txBox="1"/>
          <p:nvPr/>
        </p:nvSpPr>
        <p:spPr>
          <a:xfrm>
            <a:off x="5858561" y="3744468"/>
            <a:ext cx="31720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확진자 수를 100일 동안 기록하려면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변수 100개를 일일이 만들어야 할까요? </a:t>
            </a:r>
            <a:endParaRPr lang="en-US" sz="1500" dirty="0"/>
          </a:p>
        </p:txBody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67705" y="4382719"/>
            <a:ext cx="5181905" cy="1009498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5867705" y="4382719"/>
            <a:ext cx="5181905" cy="10104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day1 = 523 day2 = 681 ... day100 = 756 // 너무 비효율적입니다!</a:t>
            </a:r>
            <a:endParaRPr lang="en-US" sz="1000" dirty="0"/>
          </a:p>
        </p:txBody>
      </p:sp>
      <p:sp>
        <p:nvSpPr>
          <p:cNvPr id="33" name="Text 17"/>
          <p:cNvSpPr txBox="1"/>
          <p:nvPr/>
        </p:nvSpPr>
        <p:spPr>
          <a:xfrm>
            <a:off x="7107631" y="5096866"/>
            <a:ext cx="17391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너무 비효율적입니다!</a:t>
            </a:r>
            <a:endParaRPr lang="en-US" sz="1000" dirty="0"/>
          </a:p>
        </p:txBody>
      </p:sp>
      <p:sp>
        <p:nvSpPr>
          <p:cNvPr id="34" name="Shape 18"/>
          <p:cNvSpPr/>
          <p:nvPr/>
        </p:nvSpPr>
        <p:spPr>
          <a:xfrm>
            <a:off x="5410505" y="5544007"/>
            <a:ext cx="5639105" cy="838505"/>
          </a:xfrm>
          <a:prstGeom prst="roundRect">
            <a:avLst>
              <a:gd name="adj" fmla="val 9914"/>
            </a:avLst>
          </a:prstGeom>
          <a:solidFill>
            <a:srgbClr val="EFF6FF"/>
          </a:solidFill>
          <a:ln/>
        </p:spPr>
      </p:sp>
      <p:sp>
        <p:nvSpPr>
          <p:cNvPr id="35" name="Shape 19"/>
          <p:cNvSpPr/>
          <p:nvPr/>
        </p:nvSpPr>
        <p:spPr>
          <a:xfrm>
            <a:off x="5410505" y="5544007"/>
            <a:ext cx="38405" cy="838505"/>
          </a:xfrm>
          <a:prstGeom prst="roundRect">
            <a:avLst>
              <a:gd name="adj" fmla="val 21644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15"/>
          <a:srcRect l="-133" r="-133" t="0" b="0"/>
          <a:stretch/>
        </p:blipFill>
        <p:spPr>
          <a:xfrm>
            <a:off x="5600700" y="5849417"/>
            <a:ext cx="171907" cy="228600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5924398" y="5544007"/>
            <a:ext cx="3781958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해결책: </a:t>
            </a:r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자료구조</a:t>
            </a:r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(리스트 등)를 사용하면 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하나에 여러 값을 체계적으로 담을 수 있습니다. </a:t>
            </a:r>
            <a:endParaRPr lang="en-US" sz="1300" dirty="0"/>
          </a:p>
        </p:txBody>
      </p:sp>
      <p:sp>
        <p:nvSpPr>
          <p:cNvPr id="38" name="Text 21"/>
          <p:cNvSpPr txBox="1"/>
          <p:nvPr/>
        </p:nvSpPr>
        <p:spPr>
          <a:xfrm>
            <a:off x="11796674" y="6324905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22"/>
          <p:cNvSpPr txBox="1"/>
          <p:nvPr/>
        </p:nvSpPr>
        <p:spPr>
          <a:xfrm>
            <a:off x="609905" y="1805026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 1 Recap</a:t>
            </a:r>
            <a:endParaRPr lang="en-US" sz="1000" dirty="0"/>
          </a:p>
        </p:txBody>
      </p:sp>
      <p:sp>
        <p:nvSpPr>
          <p:cNvPr id="40" name="Text 23"/>
          <p:cNvSpPr txBox="1"/>
          <p:nvPr/>
        </p:nvSpPr>
        <p:spPr>
          <a:xfrm>
            <a:off x="609905" y="2147926"/>
            <a:ext cx="31702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지난 시간</a:t>
            </a:r>
            <a:pPr algn="l" indent="0" marL="0">
              <a:buNone/>
            </a:pPr>
            <a:endParaRPr lang="en-US" sz="4500" dirty="0"/>
          </a:p>
          <a:p>
            <a:pPr algn="l" indent="0" marL="0">
              <a:buNone/>
            </a:pPr>
            <a:r>
              <a:rPr lang="en-US" sz="4500" dirty="0">
                <a:solidFill>
                  <a:srgbClr val="E24A3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핵심 복습</a:t>
            </a:r>
            <a:endParaRPr lang="en-US" sz="4500" dirty="0"/>
          </a:p>
        </p:txBody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420" b="-420"/>
          <a:stretch/>
        </p:blipFill>
        <p:spPr>
          <a:xfrm>
            <a:off x="609905" y="3595421"/>
            <a:ext cx="761695" cy="38405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609905" y="3938321"/>
            <a:ext cx="3124505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1주차에 배운 변수의 개념을 되짚어보고, 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데이터가 많아질 때 발생하는 한계점과 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이를 해결할 자료구조의 필요성을 확인합니다. 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38605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381305"/>
            <a:ext cx="6676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파이썬 4대 자료구조 비교</a:t>
            </a:r>
            <a:endParaRPr lang="en-US" sz="3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5175504" y="724205"/>
            <a:ext cx="914400" cy="384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9905" y="990295"/>
            <a:ext cx="11163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분석의 기초가 되는 4가지 핵심 컨테이너의 특성과 차이점을 한눈에 파악합니다.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1943100"/>
            <a:ext cx="1647749" cy="6473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9905" y="1943100"/>
            <a:ext cx="1648663" cy="6483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4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825" y="1943100"/>
            <a:ext cx="2333549" cy="6473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55825" y="1943100"/>
            <a:ext cx="2334463" cy="6483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4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리스트 (List)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973" y="1943100"/>
            <a:ext cx="2352751" cy="6473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82973" y="1943100"/>
            <a:ext cx="2352751" cy="6483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4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튜플 (Tuple)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8409" y="1943100"/>
            <a:ext cx="2676449" cy="64739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28409" y="1943100"/>
            <a:ext cx="2677363" cy="6483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4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딕셔너리 (Dict)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1943100"/>
            <a:ext cx="1990649" cy="64739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01200" y="1943100"/>
            <a:ext cx="1991563" cy="6483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4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집합 (Set)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905" y="2590495"/>
            <a:ext cx="1647749" cy="65745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09905" y="2590495"/>
            <a:ext cx="1648663" cy="65745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기호</a:t>
            </a:r>
            <a:endParaRPr lang="en-US" sz="1200" dirty="0"/>
          </a:p>
        </p:txBody>
      </p:sp>
      <p:sp>
        <p:nvSpPr>
          <p:cNvPr id="20" name="Shape 11"/>
          <p:cNvSpPr/>
          <p:nvPr/>
        </p:nvSpPr>
        <p:spPr>
          <a:xfrm>
            <a:off x="2255825" y="3238805"/>
            <a:ext cx="23335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8513" y="2781605"/>
            <a:ext cx="466344" cy="267005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3188513" y="2781605"/>
            <a:ext cx="467258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 ]</a:t>
            </a:r>
            <a:endParaRPr lang="en-US" sz="1300" dirty="0"/>
          </a:p>
        </p:txBody>
      </p:sp>
      <p:sp>
        <p:nvSpPr>
          <p:cNvPr id="23" name="Shape 13"/>
          <p:cNvSpPr/>
          <p:nvPr/>
        </p:nvSpPr>
        <p:spPr>
          <a:xfrm>
            <a:off x="4582973" y="3238805"/>
            <a:ext cx="23527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5719" y="2781605"/>
            <a:ext cx="466344" cy="26700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525719" y="2781605"/>
            <a:ext cx="467258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 )</a:t>
            </a:r>
            <a:endParaRPr lang="en-US" sz="1300" dirty="0"/>
          </a:p>
        </p:txBody>
      </p:sp>
      <p:sp>
        <p:nvSpPr>
          <p:cNvPr id="26" name="Shape 15"/>
          <p:cNvSpPr/>
          <p:nvPr/>
        </p:nvSpPr>
        <p:spPr>
          <a:xfrm>
            <a:off x="6928409" y="3238805"/>
            <a:ext cx="26764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0299" y="2781605"/>
            <a:ext cx="771754" cy="267005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880299" y="2781605"/>
            <a:ext cx="771754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{k: v}</a:t>
            </a:r>
            <a:endParaRPr lang="en-US" sz="1300" dirty="0"/>
          </a:p>
        </p:txBody>
      </p:sp>
      <p:sp>
        <p:nvSpPr>
          <p:cNvPr id="29" name="Shape 17"/>
          <p:cNvSpPr/>
          <p:nvPr/>
        </p:nvSpPr>
        <p:spPr>
          <a:xfrm>
            <a:off x="9601200" y="3238805"/>
            <a:ext cx="19906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61066" y="2781605"/>
            <a:ext cx="466344" cy="267005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10361066" y="2781605"/>
            <a:ext cx="467258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 }</a:t>
            </a:r>
            <a:endParaRPr lang="en-US" sz="13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905" y="3247949"/>
            <a:ext cx="1647749" cy="847649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09905" y="3247949"/>
            <a:ext cx="1648663" cy="8485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</a:t>
            </a:r>
            <a:endParaRPr lang="en-US" sz="1200" dirty="0"/>
          </a:p>
        </p:txBody>
      </p:sp>
      <p:sp>
        <p:nvSpPr>
          <p:cNvPr id="34" name="Shape 20"/>
          <p:cNvSpPr/>
          <p:nvPr/>
        </p:nvSpPr>
        <p:spPr>
          <a:xfrm>
            <a:off x="2255825" y="4086454"/>
            <a:ext cx="23335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5" name="Text 21"/>
          <p:cNvSpPr txBox="1"/>
          <p:nvPr/>
        </p:nvSpPr>
        <p:spPr>
          <a:xfrm>
            <a:off x="3314700" y="3247949"/>
            <a:ext cx="1351483" cy="6492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있음</a:t>
            </a:r>
            <a:endParaRPr lang="en-US" sz="1200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3323844" y="3452774"/>
            <a:ext cx="190195" cy="190195"/>
          </a:xfrm>
          <a:prstGeom prst="rect">
            <a:avLst/>
          </a:prstGeom>
        </p:spPr>
      </p:pic>
      <p:sp>
        <p:nvSpPr>
          <p:cNvPr id="37" name="Shape 22"/>
          <p:cNvSpPr/>
          <p:nvPr/>
        </p:nvSpPr>
        <p:spPr>
          <a:xfrm>
            <a:off x="4582973" y="4086454"/>
            <a:ext cx="23527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8" name="Text 23"/>
          <p:cNvSpPr txBox="1"/>
          <p:nvPr/>
        </p:nvSpPr>
        <p:spPr>
          <a:xfrm>
            <a:off x="5650078" y="3247949"/>
            <a:ext cx="1362456" cy="6492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있음</a:t>
            </a:r>
            <a:endParaRPr lang="en-US" sz="120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5661050" y="3452774"/>
            <a:ext cx="190195" cy="190195"/>
          </a:xfrm>
          <a:prstGeom prst="rect">
            <a:avLst/>
          </a:prstGeom>
        </p:spPr>
      </p:pic>
      <p:sp>
        <p:nvSpPr>
          <p:cNvPr id="40" name="Shape 24"/>
          <p:cNvSpPr/>
          <p:nvPr/>
        </p:nvSpPr>
        <p:spPr>
          <a:xfrm>
            <a:off x="6928409" y="4086454"/>
            <a:ext cx="26764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1" name="Text 25"/>
          <p:cNvSpPr txBox="1"/>
          <p:nvPr/>
        </p:nvSpPr>
        <p:spPr>
          <a:xfrm>
            <a:off x="7993685" y="3247949"/>
            <a:ext cx="1687982" cy="6492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있음 (3.7+)</a:t>
            </a:r>
            <a:endParaRPr lang="en-US" sz="120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169250" y="3452774"/>
            <a:ext cx="190195" cy="190195"/>
          </a:xfrm>
          <a:prstGeom prst="rect">
            <a:avLst/>
          </a:prstGeom>
        </p:spPr>
      </p:pic>
      <p:sp>
        <p:nvSpPr>
          <p:cNvPr id="43" name="Shape 26"/>
          <p:cNvSpPr/>
          <p:nvPr/>
        </p:nvSpPr>
        <p:spPr>
          <a:xfrm>
            <a:off x="9601200" y="4086454"/>
            <a:ext cx="19906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4" name="Text 27"/>
          <p:cNvSpPr txBox="1"/>
          <p:nvPr/>
        </p:nvSpPr>
        <p:spPr>
          <a:xfrm>
            <a:off x="10486339" y="3247949"/>
            <a:ext cx="1182319" cy="6492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없음</a:t>
            </a:r>
            <a:endParaRPr lang="en-US" sz="120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0496398" y="3452774"/>
            <a:ext cx="190195" cy="190195"/>
          </a:xfrm>
          <a:prstGeom prst="rect">
            <a:avLst/>
          </a:prstGeom>
        </p:spPr>
      </p:pic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905" y="4095598"/>
            <a:ext cx="1647749" cy="847649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609905" y="4095598"/>
            <a:ext cx="1648663" cy="8485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</a:t>
            </a:r>
            <a:endParaRPr lang="en-US" sz="1200" dirty="0"/>
          </a:p>
        </p:txBody>
      </p:sp>
      <p:sp>
        <p:nvSpPr>
          <p:cNvPr id="48" name="Shape 29"/>
          <p:cNvSpPr/>
          <p:nvPr/>
        </p:nvSpPr>
        <p:spPr>
          <a:xfrm>
            <a:off x="2255825" y="4934102"/>
            <a:ext cx="23335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9" name="Text 30"/>
          <p:cNvSpPr txBox="1"/>
          <p:nvPr/>
        </p:nvSpPr>
        <p:spPr>
          <a:xfrm>
            <a:off x="3043123" y="4095598"/>
            <a:ext cx="1623060" cy="6492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 (Mutable)</a:t>
            </a:r>
            <a:endParaRPr lang="en-US" sz="1200" dirty="0"/>
          </a:p>
        </p:txBody>
      </p:sp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3323844" y="4300423"/>
            <a:ext cx="190195" cy="190195"/>
          </a:xfrm>
          <a:prstGeom prst="rect">
            <a:avLst/>
          </a:prstGeom>
        </p:spPr>
      </p:pic>
      <p:sp>
        <p:nvSpPr>
          <p:cNvPr id="51" name="Shape 31"/>
          <p:cNvSpPr/>
          <p:nvPr/>
        </p:nvSpPr>
        <p:spPr>
          <a:xfrm>
            <a:off x="4582973" y="4934102"/>
            <a:ext cx="23527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2" name="Text 32"/>
          <p:cNvSpPr txBox="1"/>
          <p:nvPr/>
        </p:nvSpPr>
        <p:spPr>
          <a:xfrm>
            <a:off x="5303520" y="4095598"/>
            <a:ext cx="1709014" cy="6492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불가 (Immutable)</a:t>
            </a:r>
            <a:endParaRPr lang="en-US" sz="1200" dirty="0"/>
          </a:p>
        </p:txBody>
      </p:sp>
      <p:pic>
        <p:nvPicPr>
          <p:cNvPr id="53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5661050" y="4300423"/>
            <a:ext cx="190195" cy="190195"/>
          </a:xfrm>
          <a:prstGeom prst="rect">
            <a:avLst/>
          </a:prstGeom>
        </p:spPr>
      </p:pic>
      <p:sp>
        <p:nvSpPr>
          <p:cNvPr id="54" name="Shape 33"/>
          <p:cNvSpPr/>
          <p:nvPr/>
        </p:nvSpPr>
        <p:spPr>
          <a:xfrm>
            <a:off x="6928409" y="4934102"/>
            <a:ext cx="26764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5" name="Text 34"/>
          <p:cNvSpPr txBox="1"/>
          <p:nvPr/>
        </p:nvSpPr>
        <p:spPr>
          <a:xfrm>
            <a:off x="8159191" y="4095598"/>
            <a:ext cx="1522476" cy="6492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</a:t>
            </a:r>
            <a:endParaRPr lang="en-US" sz="1200" dirty="0"/>
          </a:p>
        </p:txBody>
      </p:sp>
      <p:pic>
        <p:nvPicPr>
          <p:cNvPr id="56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8169250" y="4300423"/>
            <a:ext cx="190195" cy="190195"/>
          </a:xfrm>
          <a:prstGeom prst="rect">
            <a:avLst/>
          </a:prstGeom>
        </p:spPr>
      </p:pic>
      <p:sp>
        <p:nvSpPr>
          <p:cNvPr id="57" name="Shape 35"/>
          <p:cNvSpPr/>
          <p:nvPr/>
        </p:nvSpPr>
        <p:spPr>
          <a:xfrm>
            <a:off x="9601200" y="4934102"/>
            <a:ext cx="19906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8" name="Text 36"/>
          <p:cNvSpPr txBox="1"/>
          <p:nvPr/>
        </p:nvSpPr>
        <p:spPr>
          <a:xfrm>
            <a:off x="10486339" y="4095598"/>
            <a:ext cx="1182319" cy="6492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</a:t>
            </a:r>
            <a:endParaRPr lang="en-US" sz="1200" dirty="0"/>
          </a:p>
        </p:txBody>
      </p:sp>
      <p:pic>
        <p:nvPicPr>
          <p:cNvPr id="59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0496398" y="4300423"/>
            <a:ext cx="190195" cy="190195"/>
          </a:xfrm>
          <a:prstGeom prst="rect">
            <a:avLst/>
          </a:prstGeom>
        </p:spPr>
      </p:pic>
      <p:pic>
        <p:nvPicPr>
          <p:cNvPr id="6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905" y="4943246"/>
            <a:ext cx="1647749" cy="847649"/>
          </a:xfrm>
          <a:prstGeom prst="rect">
            <a:avLst/>
          </a:prstGeom>
        </p:spPr>
      </p:pic>
      <p:sp>
        <p:nvSpPr>
          <p:cNvPr id="61" name="Text 37"/>
          <p:cNvSpPr/>
          <p:nvPr/>
        </p:nvSpPr>
        <p:spPr>
          <a:xfrm>
            <a:off x="609905" y="4943246"/>
            <a:ext cx="1648663" cy="8485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</a:t>
            </a:r>
            <a:endParaRPr lang="en-US" sz="1200" dirty="0"/>
          </a:p>
        </p:txBody>
      </p:sp>
      <p:sp>
        <p:nvSpPr>
          <p:cNvPr id="62" name="Shape 38"/>
          <p:cNvSpPr/>
          <p:nvPr/>
        </p:nvSpPr>
        <p:spPr>
          <a:xfrm>
            <a:off x="2255825" y="5781751"/>
            <a:ext cx="23335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3" name="Text 39"/>
          <p:cNvSpPr txBox="1"/>
          <p:nvPr/>
        </p:nvSpPr>
        <p:spPr>
          <a:xfrm>
            <a:off x="3314700" y="4943246"/>
            <a:ext cx="1351483" cy="6492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</a:t>
            </a:r>
            <a:endParaRPr lang="en-US" sz="1200" dirty="0"/>
          </a:p>
        </p:txBody>
      </p:sp>
      <p:pic>
        <p:nvPicPr>
          <p:cNvPr id="64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3323844" y="5148072"/>
            <a:ext cx="190195" cy="190195"/>
          </a:xfrm>
          <a:prstGeom prst="rect">
            <a:avLst/>
          </a:prstGeom>
        </p:spPr>
      </p:pic>
      <p:sp>
        <p:nvSpPr>
          <p:cNvPr id="65" name="Shape 40"/>
          <p:cNvSpPr/>
          <p:nvPr/>
        </p:nvSpPr>
        <p:spPr>
          <a:xfrm>
            <a:off x="4582973" y="5781751"/>
            <a:ext cx="23527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6" name="Text 41"/>
          <p:cNvSpPr txBox="1"/>
          <p:nvPr/>
        </p:nvSpPr>
        <p:spPr>
          <a:xfrm>
            <a:off x="5650078" y="4943246"/>
            <a:ext cx="1362456" cy="6492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</a:t>
            </a:r>
            <a:endParaRPr lang="en-US" sz="1200" dirty="0"/>
          </a:p>
        </p:txBody>
      </p:sp>
      <p:pic>
        <p:nvPicPr>
          <p:cNvPr id="67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5661050" y="5148072"/>
            <a:ext cx="190195" cy="190195"/>
          </a:xfrm>
          <a:prstGeom prst="rect">
            <a:avLst/>
          </a:prstGeom>
        </p:spPr>
      </p:pic>
      <p:sp>
        <p:nvSpPr>
          <p:cNvPr id="68" name="Shape 42"/>
          <p:cNvSpPr/>
          <p:nvPr/>
        </p:nvSpPr>
        <p:spPr>
          <a:xfrm>
            <a:off x="6928409" y="5781751"/>
            <a:ext cx="26764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9" name="Text 43"/>
          <p:cNvSpPr txBox="1"/>
          <p:nvPr/>
        </p:nvSpPr>
        <p:spPr>
          <a:xfrm>
            <a:off x="6890918" y="4943246"/>
            <a:ext cx="2753258" cy="6492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불가</a:t>
            </a:r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값 허용</a:t>
            </a:r>
            <a:endParaRPr lang="en-US" sz="1200" dirty="0"/>
          </a:p>
        </p:txBody>
      </p:sp>
      <p:sp>
        <p:nvSpPr>
          <p:cNvPr id="70" name="Shape 44"/>
          <p:cNvSpPr/>
          <p:nvPr/>
        </p:nvSpPr>
        <p:spPr>
          <a:xfrm>
            <a:off x="9601200" y="5781751"/>
            <a:ext cx="19906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1" name="Text 45"/>
          <p:cNvSpPr txBox="1"/>
          <p:nvPr/>
        </p:nvSpPr>
        <p:spPr>
          <a:xfrm>
            <a:off x="10434218" y="4943246"/>
            <a:ext cx="1234440" cy="6492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제거됨</a:t>
            </a:r>
            <a:endParaRPr lang="en-US" sz="1200" dirty="0"/>
          </a:p>
        </p:txBody>
      </p:sp>
      <p:pic>
        <p:nvPicPr>
          <p:cNvPr id="72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10496398" y="5148072"/>
            <a:ext cx="190195" cy="190195"/>
          </a:xfrm>
          <a:prstGeom prst="rect">
            <a:avLst/>
          </a:prstGeom>
        </p:spPr>
      </p:pic>
      <p:pic>
        <p:nvPicPr>
          <p:cNvPr id="7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905" y="5790895"/>
            <a:ext cx="1647749" cy="838505"/>
          </a:xfrm>
          <a:prstGeom prst="rect">
            <a:avLst/>
          </a:prstGeom>
        </p:spPr>
      </p:pic>
      <p:sp>
        <p:nvSpPr>
          <p:cNvPr id="74" name="Text 46"/>
          <p:cNvSpPr/>
          <p:nvPr/>
        </p:nvSpPr>
        <p:spPr>
          <a:xfrm>
            <a:off x="609905" y="5790895"/>
            <a:ext cx="1648663" cy="8385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인덱싱</a:t>
            </a:r>
            <a:endParaRPr lang="en-US" sz="1200" dirty="0"/>
          </a:p>
        </p:txBody>
      </p:sp>
      <p:sp>
        <p:nvSpPr>
          <p:cNvPr id="75" name="Text 47"/>
          <p:cNvSpPr txBox="1"/>
          <p:nvPr/>
        </p:nvSpPr>
        <p:spPr>
          <a:xfrm>
            <a:off x="3122676" y="5790895"/>
            <a:ext cx="1543507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 (0부터)</a:t>
            </a:r>
            <a:endParaRPr lang="en-US" sz="1200" dirty="0"/>
          </a:p>
        </p:txBody>
      </p:sp>
      <p:pic>
        <p:nvPicPr>
          <p:cNvPr id="76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3323844" y="5995721"/>
            <a:ext cx="190195" cy="190195"/>
          </a:xfrm>
          <a:prstGeom prst="rect">
            <a:avLst/>
          </a:prstGeom>
        </p:spPr>
      </p:pic>
      <p:sp>
        <p:nvSpPr>
          <p:cNvPr id="77" name="Text 48"/>
          <p:cNvSpPr txBox="1"/>
          <p:nvPr/>
        </p:nvSpPr>
        <p:spPr>
          <a:xfrm>
            <a:off x="5650078" y="5790895"/>
            <a:ext cx="1362456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</a:t>
            </a:r>
            <a:endParaRPr lang="en-US" sz="1200" dirty="0"/>
          </a:p>
        </p:txBody>
      </p:sp>
      <p:pic>
        <p:nvPicPr>
          <p:cNvPr id="78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5661050" y="5995721"/>
            <a:ext cx="190195" cy="190195"/>
          </a:xfrm>
          <a:prstGeom prst="rect">
            <a:avLst/>
          </a:prstGeom>
        </p:spPr>
      </p:pic>
      <p:sp>
        <p:nvSpPr>
          <p:cNvPr id="79" name="Text 49"/>
          <p:cNvSpPr txBox="1"/>
          <p:nvPr/>
        </p:nvSpPr>
        <p:spPr>
          <a:xfrm>
            <a:off x="6890918" y="5790895"/>
            <a:ext cx="2753258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Key로 접근</a:t>
            </a:r>
            <a:endParaRPr lang="en-US" sz="1200" dirty="0"/>
          </a:p>
        </p:txBody>
      </p:sp>
      <p:sp>
        <p:nvSpPr>
          <p:cNvPr id="80" name="Text 50"/>
          <p:cNvSpPr txBox="1"/>
          <p:nvPr/>
        </p:nvSpPr>
        <p:spPr>
          <a:xfrm>
            <a:off x="10486339" y="5790895"/>
            <a:ext cx="1182319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불가</a:t>
            </a:r>
            <a:endParaRPr lang="en-US" sz="1200" dirty="0"/>
          </a:p>
        </p:txBody>
      </p:sp>
      <p:pic>
        <p:nvPicPr>
          <p:cNvPr id="81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10496398" y="5995721"/>
            <a:ext cx="190195" cy="190195"/>
          </a:xfrm>
          <a:prstGeom prst="rect">
            <a:avLst/>
          </a:prstGeom>
        </p:spPr>
      </p:pic>
      <p:pic>
        <p:nvPicPr>
          <p:cNvPr id="82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-24" b="-24"/>
          <a:stretch/>
        </p:blipFill>
        <p:spPr>
          <a:xfrm>
            <a:off x="609905" y="6933895"/>
            <a:ext cx="10972800" cy="972007"/>
          </a:xfrm>
          <a:prstGeom prst="rect">
            <a:avLst/>
          </a:prstGeom>
        </p:spPr>
      </p:pic>
      <p:sp>
        <p:nvSpPr>
          <p:cNvPr id="83" name="Text 51"/>
          <p:cNvSpPr txBox="1"/>
          <p:nvPr/>
        </p:nvSpPr>
        <p:spPr>
          <a:xfrm>
            <a:off x="1219810" y="7248449"/>
            <a:ext cx="92537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2410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핵심 암기 </a:t>
            </a:r>
            <a:endParaRPr lang="en-US" sz="1800" dirty="0"/>
          </a:p>
        </p:txBody>
      </p:sp>
      <p:pic>
        <p:nvPicPr>
          <p:cNvPr id="84" name="Image 30" descr="preencoded.png">    </p:cNvPr>
          <p:cNvPicPr>
            <a:picLocks noChangeAspect="1"/>
          </p:cNvPicPr>
          <p:nvPr/>
        </p:nvPicPr>
        <p:blipFill>
          <a:blip r:embed="rId31"/>
          <a:srcRect l="-133" r="-133" t="0" b="0"/>
          <a:stretch/>
        </p:blipFill>
        <p:spPr>
          <a:xfrm>
            <a:off x="972007" y="7286854"/>
            <a:ext cx="171907" cy="228600"/>
          </a:xfrm>
          <a:prstGeom prst="rect">
            <a:avLst/>
          </a:prstGeom>
        </p:spPr>
      </p:pic>
      <p:sp>
        <p:nvSpPr>
          <p:cNvPr id="85" name="Text 52"/>
          <p:cNvSpPr txBox="1"/>
          <p:nvPr/>
        </p:nvSpPr>
        <p:spPr>
          <a:xfrm>
            <a:off x="2279599" y="7162495"/>
            <a:ext cx="73252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pPr algn="l" indent="0" marL="0">
              <a:buNone/>
            </a:pPr>
            <a:r>
              <a:rPr lang="en-US" sz="1500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스트는 </a:t>
            </a:r>
            <a:pPr algn="l" indent="0" marL="0">
              <a:buNone/>
            </a:pPr>
            <a:r>
              <a:rPr lang="en-US" sz="1500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경되고, </a:t>
            </a:r>
            <a:pPr algn="l" indent="0" marL="0">
              <a:buNone/>
            </a:pPr>
            <a:r>
              <a:rPr lang="en-US" sz="1500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플은 </a:t>
            </a:r>
            <a:pPr algn="l" indent="0" marL="0">
              <a:buNone/>
            </a:pPr>
            <a:r>
              <a:rPr lang="en-US" sz="1500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변이다. </a:t>
            </a:r>
            <a:pPr algn="l" indent="0" marL="0">
              <a:buNone/>
            </a:pPr>
            <a:r>
              <a:rPr lang="en-US" sz="1500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셔너리는 </a:t>
            </a:r>
            <a:pPr algn="l" indent="0" marL="0">
              <a:buNone/>
            </a:pPr>
            <a:r>
              <a:rPr lang="en-US" sz="1500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찾고, </a:t>
            </a:r>
            <a:pPr algn="l" indent="0" marL="0">
              <a:buNone/>
            </a:pPr>
            <a:r>
              <a:rPr lang="en-US" sz="1500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</a:t>
            </a:r>
            <a:pPr algn="l" indent="0" marL="0">
              <a:buNone/>
            </a:pPr>
            <a:r>
              <a:rPr lang="en-US" sz="1500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복을 없앤다."</a:t>
            </a:r>
            <a:endParaRPr lang="en-US" sz="1500" dirty="0"/>
          </a:p>
        </p:txBody>
      </p:sp>
      <p:pic>
        <p:nvPicPr>
          <p:cNvPr id="8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379269" y="7162495"/>
            <a:ext cx="256946" cy="276149"/>
          </a:xfrm>
          <a:prstGeom prst="rect">
            <a:avLst/>
          </a:prstGeom>
        </p:spPr>
      </p:pic>
      <p:sp>
        <p:nvSpPr>
          <p:cNvPr id="87" name="Text 53"/>
          <p:cNvSpPr/>
          <p:nvPr/>
        </p:nvSpPr>
        <p:spPr>
          <a:xfrm>
            <a:off x="2379269" y="7162495"/>
            <a:ext cx="2578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</a:t>
            </a:r>
            <a:endParaRPr lang="en-US" sz="1500" dirty="0"/>
          </a:p>
        </p:txBody>
      </p:sp>
      <p:pic>
        <p:nvPicPr>
          <p:cNvPr id="88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09544" y="7162495"/>
            <a:ext cx="256946" cy="276149"/>
          </a:xfrm>
          <a:prstGeom prst="rect">
            <a:avLst/>
          </a:prstGeom>
        </p:spPr>
      </p:pic>
      <p:sp>
        <p:nvSpPr>
          <p:cNvPr id="89" name="Text 54"/>
          <p:cNvSpPr/>
          <p:nvPr/>
        </p:nvSpPr>
        <p:spPr>
          <a:xfrm>
            <a:off x="3209544" y="7162495"/>
            <a:ext cx="2578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</a:t>
            </a:r>
            <a:endParaRPr lang="en-US" sz="1500" dirty="0"/>
          </a:p>
        </p:txBody>
      </p:sp>
      <p:pic>
        <p:nvPicPr>
          <p:cNvPr id="9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7426" y="7162495"/>
            <a:ext cx="256946" cy="276149"/>
          </a:xfrm>
          <a:prstGeom prst="rect">
            <a:avLst/>
          </a:prstGeom>
        </p:spPr>
      </p:pic>
      <p:sp>
        <p:nvSpPr>
          <p:cNvPr id="91" name="Text 55"/>
          <p:cNvSpPr/>
          <p:nvPr/>
        </p:nvSpPr>
        <p:spPr>
          <a:xfrm>
            <a:off x="4097426" y="7162495"/>
            <a:ext cx="2578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</a:t>
            </a:r>
            <a:endParaRPr lang="en-US" sz="1500" dirty="0"/>
          </a:p>
        </p:txBody>
      </p:sp>
      <p:pic>
        <p:nvPicPr>
          <p:cNvPr id="92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753051" y="7162495"/>
            <a:ext cx="256946" cy="276149"/>
          </a:xfrm>
          <a:prstGeom prst="rect">
            <a:avLst/>
          </a:prstGeom>
        </p:spPr>
      </p:pic>
      <p:sp>
        <p:nvSpPr>
          <p:cNvPr id="93" name="Text 56"/>
          <p:cNvSpPr/>
          <p:nvPr/>
        </p:nvSpPr>
        <p:spPr>
          <a:xfrm>
            <a:off x="4753051" y="7162495"/>
            <a:ext cx="2578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</a:t>
            </a:r>
            <a:endParaRPr lang="en-US" sz="1500" dirty="0"/>
          </a:p>
        </p:txBody>
      </p:sp>
      <p:pic>
        <p:nvPicPr>
          <p:cNvPr id="94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640019" y="7162495"/>
            <a:ext cx="256946" cy="276149"/>
          </a:xfrm>
          <a:prstGeom prst="rect">
            <a:avLst/>
          </a:prstGeom>
        </p:spPr>
      </p:pic>
      <p:sp>
        <p:nvSpPr>
          <p:cNvPr id="95" name="Text 57"/>
          <p:cNvSpPr/>
          <p:nvPr/>
        </p:nvSpPr>
        <p:spPr>
          <a:xfrm>
            <a:off x="5640019" y="7162495"/>
            <a:ext cx="2578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딕</a:t>
            </a:r>
            <a:endParaRPr lang="en-US" sz="1500" dirty="0"/>
          </a:p>
        </p:txBody>
      </p:sp>
      <p:pic>
        <p:nvPicPr>
          <p:cNvPr id="96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645859" y="7162495"/>
            <a:ext cx="256946" cy="276149"/>
          </a:xfrm>
          <a:prstGeom prst="rect">
            <a:avLst/>
          </a:prstGeom>
        </p:spPr>
      </p:pic>
      <p:sp>
        <p:nvSpPr>
          <p:cNvPr id="97" name="Text 58"/>
          <p:cNvSpPr/>
          <p:nvPr/>
        </p:nvSpPr>
        <p:spPr>
          <a:xfrm>
            <a:off x="6645859" y="7162495"/>
            <a:ext cx="2578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</a:t>
            </a:r>
            <a:endParaRPr lang="en-US" sz="1500" dirty="0"/>
          </a:p>
        </p:txBody>
      </p:sp>
      <p:pic>
        <p:nvPicPr>
          <p:cNvPr id="98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7691" y="7162495"/>
            <a:ext cx="256946" cy="276149"/>
          </a:xfrm>
          <a:prstGeom prst="rect">
            <a:avLst/>
          </a:prstGeom>
        </p:spPr>
      </p:pic>
      <p:sp>
        <p:nvSpPr>
          <p:cNvPr id="99" name="Text 59"/>
          <p:cNvSpPr/>
          <p:nvPr/>
        </p:nvSpPr>
        <p:spPr>
          <a:xfrm>
            <a:off x="7587691" y="7162495"/>
            <a:ext cx="2578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셋</a:t>
            </a:r>
            <a:endParaRPr lang="en-US" sz="1500" dirty="0"/>
          </a:p>
        </p:txBody>
      </p:sp>
      <p:pic>
        <p:nvPicPr>
          <p:cNvPr id="10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067751" y="7162495"/>
            <a:ext cx="256946" cy="276149"/>
          </a:xfrm>
          <a:prstGeom prst="rect">
            <a:avLst/>
          </a:prstGeom>
        </p:spPr>
      </p:pic>
      <p:sp>
        <p:nvSpPr>
          <p:cNvPr id="101" name="Text 60"/>
          <p:cNvSpPr/>
          <p:nvPr/>
        </p:nvSpPr>
        <p:spPr>
          <a:xfrm>
            <a:off x="8067751" y="7162495"/>
            <a:ext cx="2578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1500" dirty="0"/>
          </a:p>
        </p:txBody>
      </p:sp>
      <p:sp>
        <p:nvSpPr>
          <p:cNvPr id="102" name="Text 61"/>
          <p:cNvSpPr txBox="1"/>
          <p:nvPr/>
        </p:nvSpPr>
        <p:spPr>
          <a:xfrm>
            <a:off x="2279599" y="7487107"/>
            <a:ext cx="7325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6" kern="0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"리변튜불 딕키셋중"으로 기억하세요!</a:t>
            </a:r>
            <a:endParaRPr lang="en-US" sz="1000" dirty="0"/>
          </a:p>
        </p:txBody>
      </p:sp>
      <p:sp>
        <p:nvSpPr>
          <p:cNvPr id="103" name="Text 62"/>
          <p:cNvSpPr txBox="1"/>
          <p:nvPr/>
        </p:nvSpPr>
        <p:spPr>
          <a:xfrm>
            <a:off x="11794846" y="6400800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218895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381305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9633" y="457200"/>
            <a:ext cx="314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 ]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18895" y="304495"/>
            <a:ext cx="337962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리스트(List) 핵심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1218895" y="724205"/>
            <a:ext cx="2981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순서가 있는 만능 서랍 (Mutable Sequence)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518" y="519379"/>
            <a:ext cx="1276502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313518" y="519379"/>
            <a:ext cx="12765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daily = [...]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0" y="1218895"/>
            <a:ext cx="6096305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47902" y="1676095"/>
            <a:ext cx="46296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이해하기 </a:t>
            </a:r>
            <a:endParaRPr lang="en-US" sz="2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266" r="-266" t="0" b="0"/>
          <a:stretch/>
        </p:blipFill>
        <p:spPr>
          <a:xfrm>
            <a:off x="609905" y="1705356"/>
            <a:ext cx="323698" cy="2862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09905" y="2171700"/>
            <a:ext cx="49533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리스트는 </a:t>
            </a:r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대괄호 [ ]</a:t>
            </a:r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생성하며, 데이터의 </a:t>
            </a:r>
            <a:pPr algn="l" indent="0" marL="0">
              <a:buNone/>
            </a:pPr>
            <a:r>
              <a:rPr lang="en-US" sz="1500" b="1" dirty="0">
                <a:solidFill>
                  <a:srgbClr val="E24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순서(Order)</a:t>
            </a:r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보장합니다. 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56793" y="2943454"/>
            <a:ext cx="4819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인덱스는 </a:t>
            </a:r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부터 시작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647395" y="2980944"/>
            <a:ext cx="133502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6793" y="3247949"/>
            <a:ext cx="4819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맨 뒤에서부터는 </a:t>
            </a:r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-1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접근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647395" y="3286354"/>
            <a:ext cx="133502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56793" y="3552444"/>
            <a:ext cx="4819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값의 </a:t>
            </a:r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허용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647395" y="3590849"/>
            <a:ext cx="133502" cy="152705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09905" y="4466844"/>
            <a:ext cx="4876495" cy="2009851"/>
          </a:xfrm>
          <a:prstGeom prst="roundRect">
            <a:avLst>
              <a:gd name="adj" fmla="val 25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790956" y="4705502"/>
            <a:ext cx="4515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daily_cases = [523, 681, 445, 892]</a:t>
            </a:r>
            <a:endParaRPr lang="en-US" sz="10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6698" y="5086807"/>
            <a:ext cx="666598" cy="66659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466698" y="5086807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0 523 -4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1759306" y="4867351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1719986" y="5772607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-4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9190" y="5086807"/>
            <a:ext cx="666598" cy="66659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209190" y="5086807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1 681 -3</a:t>
            </a:r>
            <a:endParaRPr lang="en-US" sz="1500" dirty="0"/>
          </a:p>
        </p:txBody>
      </p:sp>
      <p:sp>
        <p:nvSpPr>
          <p:cNvPr id="29" name="Text 19"/>
          <p:cNvSpPr txBox="1"/>
          <p:nvPr/>
        </p:nvSpPr>
        <p:spPr>
          <a:xfrm>
            <a:off x="2502713" y="4867351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2462479" y="5772607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-3</a:t>
            </a:r>
            <a:endParaRPr lang="en-US" sz="10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52598" y="5086807"/>
            <a:ext cx="666598" cy="66659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2952598" y="5086807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2 445 -2</a:t>
            </a:r>
            <a:endParaRPr lang="en-US" sz="1500" dirty="0"/>
          </a:p>
        </p:txBody>
      </p:sp>
      <p:sp>
        <p:nvSpPr>
          <p:cNvPr id="33" name="Text 22"/>
          <p:cNvSpPr txBox="1"/>
          <p:nvPr/>
        </p:nvSpPr>
        <p:spPr>
          <a:xfrm>
            <a:off x="3245206" y="4867351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23"/>
          <p:cNvSpPr txBox="1"/>
          <p:nvPr/>
        </p:nvSpPr>
        <p:spPr>
          <a:xfrm>
            <a:off x="3205886" y="5772607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-2</a:t>
            </a:r>
            <a:endParaRPr lang="en-US" sz="10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5090" y="5086807"/>
            <a:ext cx="666598" cy="66659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3695090" y="5086807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3 892 -1</a:t>
            </a:r>
            <a:endParaRPr lang="en-US" sz="1500" dirty="0"/>
          </a:p>
        </p:txBody>
      </p:sp>
      <p:sp>
        <p:nvSpPr>
          <p:cNvPr id="37" name="Text 25"/>
          <p:cNvSpPr txBox="1"/>
          <p:nvPr/>
        </p:nvSpPr>
        <p:spPr>
          <a:xfrm>
            <a:off x="3988613" y="4867351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26"/>
          <p:cNvSpPr txBox="1"/>
          <p:nvPr/>
        </p:nvSpPr>
        <p:spPr>
          <a:xfrm>
            <a:off x="3948379" y="5772607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-1</a:t>
            </a:r>
            <a:endParaRPr lang="en-US" sz="1000" dirty="0"/>
          </a:p>
        </p:txBody>
      </p:sp>
      <p:sp>
        <p:nvSpPr>
          <p:cNvPr id="39" name="Text 27"/>
          <p:cNvSpPr txBox="1"/>
          <p:nvPr/>
        </p:nvSpPr>
        <p:spPr>
          <a:xfrm>
            <a:off x="4475988" y="5266944"/>
            <a:ext cx="2770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...</a:t>
            </a:r>
            <a:endParaRPr lang="en-US" sz="180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98802" y="5991149"/>
            <a:ext cx="1505102" cy="247802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2536546" y="5991149"/>
            <a:ext cx="1267358" cy="2478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FDB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0번 방이 첫 번째 데이터!</a:t>
            </a:r>
            <a:endParaRPr lang="en-US" sz="9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384755" y="6062472"/>
            <a:ext cx="114300" cy="114300"/>
          </a:xfrm>
          <a:prstGeom prst="rect">
            <a:avLst/>
          </a:prstGeom>
        </p:spPr>
      </p:pic>
      <p:sp>
        <p:nvSpPr>
          <p:cNvPr id="43" name="Shape 29"/>
          <p:cNvSpPr/>
          <p:nvPr/>
        </p:nvSpPr>
        <p:spPr>
          <a:xfrm>
            <a:off x="6096305" y="1218895"/>
            <a:ext cx="6096305" cy="5715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4" name="Shape 30"/>
          <p:cNvSpPr/>
          <p:nvPr/>
        </p:nvSpPr>
        <p:spPr>
          <a:xfrm>
            <a:off x="6096305" y="1218895"/>
            <a:ext cx="9144" cy="57150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5" name="Text 31"/>
          <p:cNvSpPr txBox="1"/>
          <p:nvPr/>
        </p:nvSpPr>
        <p:spPr>
          <a:xfrm>
            <a:off x="7077456" y="2897734"/>
            <a:ext cx="101681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예제</a:t>
            </a:r>
            <a:endParaRPr lang="en-US" sz="180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rcRect l="-80" r="-80" t="0" b="0"/>
          <a:stretch/>
        </p:blipFill>
        <p:spPr>
          <a:xfrm>
            <a:off x="6715354" y="2945282"/>
            <a:ext cx="286207" cy="228600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10782605" y="2954426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 3.x</a:t>
            </a:r>
            <a:endParaRPr lang="en-US" sz="1000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7" b="-17"/>
          <a:stretch/>
        </p:blipFill>
        <p:spPr>
          <a:xfrm>
            <a:off x="6715354" y="3354934"/>
            <a:ext cx="4867351" cy="1044245"/>
          </a:xfrm>
          <a:prstGeom prst="rect">
            <a:avLst/>
          </a:prstGeom>
        </p:spPr>
      </p:pic>
      <p:sp>
        <p:nvSpPr>
          <p:cNvPr id="49" name="Shape 33"/>
          <p:cNvSpPr/>
          <p:nvPr/>
        </p:nvSpPr>
        <p:spPr>
          <a:xfrm>
            <a:off x="6715354" y="3354934"/>
            <a:ext cx="4867351" cy="342900"/>
          </a:xfrm>
          <a:prstGeom prst="roundRect">
            <a:avLst>
              <a:gd name="adj" fmla="val 88889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34"/>
          <p:cNvSpPr/>
          <p:nvPr/>
        </p:nvSpPr>
        <p:spPr>
          <a:xfrm>
            <a:off x="6867144" y="3469234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35"/>
          <p:cNvSpPr/>
          <p:nvPr/>
        </p:nvSpPr>
        <p:spPr>
          <a:xfrm>
            <a:off x="7058254" y="3469234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36"/>
          <p:cNvSpPr/>
          <p:nvPr/>
        </p:nvSpPr>
        <p:spPr>
          <a:xfrm>
            <a:off x="7248449" y="3469234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7"/>
          <p:cNvSpPr txBox="1"/>
          <p:nvPr/>
        </p:nvSpPr>
        <p:spPr>
          <a:xfrm>
            <a:off x="6943954" y="3954780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1. 리스트 생성</a:t>
            </a:r>
            <a:endParaRPr lang="en-US" sz="1200" dirty="0"/>
          </a:p>
        </p:txBody>
      </p:sp>
      <p:sp>
        <p:nvSpPr>
          <p:cNvPr id="54" name="Text 38"/>
          <p:cNvSpPr txBox="1"/>
          <p:nvPr/>
        </p:nvSpPr>
        <p:spPr>
          <a:xfrm>
            <a:off x="8254289" y="395478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daily</a:t>
            </a:r>
            <a:endParaRPr lang="en-US" sz="1200" dirty="0"/>
          </a:p>
        </p:txBody>
      </p:sp>
      <p:sp>
        <p:nvSpPr>
          <p:cNvPr id="55" name="Text 39"/>
          <p:cNvSpPr txBox="1"/>
          <p:nvPr/>
        </p:nvSpPr>
        <p:spPr>
          <a:xfrm>
            <a:off x="8711489" y="3954780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[</a:t>
            </a:r>
            <a:endParaRPr lang="en-US" sz="1200" dirty="0"/>
          </a:p>
        </p:txBody>
      </p:sp>
      <p:sp>
        <p:nvSpPr>
          <p:cNvPr id="56" name="Text 40"/>
          <p:cNvSpPr txBox="1"/>
          <p:nvPr/>
        </p:nvSpPr>
        <p:spPr>
          <a:xfrm>
            <a:off x="9077249" y="395478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523</a:t>
            </a:r>
            <a:endParaRPr lang="en-US" sz="1200" dirty="0"/>
          </a:p>
        </p:txBody>
      </p:sp>
      <p:sp>
        <p:nvSpPr>
          <p:cNvPr id="57" name="Text 41"/>
          <p:cNvSpPr txBox="1"/>
          <p:nvPr/>
        </p:nvSpPr>
        <p:spPr>
          <a:xfrm>
            <a:off x="9352483" y="395478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58" name="Text 42"/>
          <p:cNvSpPr txBox="1"/>
          <p:nvPr/>
        </p:nvSpPr>
        <p:spPr>
          <a:xfrm>
            <a:off x="9535363" y="395478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681</a:t>
            </a:r>
            <a:endParaRPr lang="en-US" sz="1200" dirty="0"/>
          </a:p>
        </p:txBody>
      </p:sp>
      <p:sp>
        <p:nvSpPr>
          <p:cNvPr id="59" name="Text 43"/>
          <p:cNvSpPr txBox="1"/>
          <p:nvPr/>
        </p:nvSpPr>
        <p:spPr>
          <a:xfrm>
            <a:off x="9809683" y="395478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60" name="Text 44"/>
          <p:cNvSpPr txBox="1"/>
          <p:nvPr/>
        </p:nvSpPr>
        <p:spPr>
          <a:xfrm>
            <a:off x="9992563" y="395478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445</a:t>
            </a:r>
            <a:endParaRPr lang="en-US" sz="1200" dirty="0"/>
          </a:p>
        </p:txBody>
      </p:sp>
      <p:sp>
        <p:nvSpPr>
          <p:cNvPr id="61" name="Text 45"/>
          <p:cNvSpPr txBox="1"/>
          <p:nvPr/>
        </p:nvSpPr>
        <p:spPr>
          <a:xfrm>
            <a:off x="10266883" y="395478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200" dirty="0"/>
          </a:p>
        </p:txBody>
      </p:sp>
      <p:sp>
        <p:nvSpPr>
          <p:cNvPr id="62" name="Text 46"/>
          <p:cNvSpPr txBox="1"/>
          <p:nvPr/>
        </p:nvSpPr>
        <p:spPr>
          <a:xfrm>
            <a:off x="10449763" y="3954780"/>
            <a:ext cx="1848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접근 (Indexing)</a:t>
            </a:r>
            <a:endParaRPr lang="en-US" sz="1200" dirty="0"/>
          </a:p>
        </p:txBody>
      </p:sp>
      <p:sp>
        <p:nvSpPr>
          <p:cNvPr id="63" name="Text 47"/>
          <p:cNvSpPr txBox="1"/>
          <p:nvPr/>
        </p:nvSpPr>
        <p:spPr>
          <a:xfrm>
            <a:off x="12217298" y="395478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64" name="Text 48"/>
          <p:cNvSpPr txBox="1"/>
          <p:nvPr/>
        </p:nvSpPr>
        <p:spPr>
          <a:xfrm>
            <a:off x="12675413" y="395478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65" name="Text 49"/>
          <p:cNvSpPr txBox="1"/>
          <p:nvPr/>
        </p:nvSpPr>
        <p:spPr>
          <a:xfrm>
            <a:off x="12766853" y="395478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daily</a:t>
            </a:r>
            <a:endParaRPr lang="en-US" sz="1200" dirty="0"/>
          </a:p>
        </p:txBody>
      </p:sp>
      <p:sp>
        <p:nvSpPr>
          <p:cNvPr id="66" name="Text 50"/>
          <p:cNvSpPr txBox="1"/>
          <p:nvPr/>
        </p:nvSpPr>
        <p:spPr>
          <a:xfrm>
            <a:off x="13224053" y="395478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200" dirty="0"/>
          </a:p>
        </p:txBody>
      </p:sp>
      <p:sp>
        <p:nvSpPr>
          <p:cNvPr id="67" name="Text 51"/>
          <p:cNvSpPr txBox="1"/>
          <p:nvPr/>
        </p:nvSpPr>
        <p:spPr>
          <a:xfrm>
            <a:off x="13315493" y="395478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200" dirty="0"/>
          </a:p>
        </p:txBody>
      </p:sp>
      <p:sp>
        <p:nvSpPr>
          <p:cNvPr id="68" name="Text 52"/>
          <p:cNvSpPr txBox="1"/>
          <p:nvPr/>
        </p:nvSpPr>
        <p:spPr>
          <a:xfrm>
            <a:off x="13406933" y="395478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])</a:t>
            </a:r>
            <a:endParaRPr lang="en-US" sz="1200" dirty="0"/>
          </a:p>
        </p:txBody>
      </p:sp>
      <p:sp>
        <p:nvSpPr>
          <p:cNvPr id="69" name="Text 53"/>
          <p:cNvSpPr txBox="1"/>
          <p:nvPr/>
        </p:nvSpPr>
        <p:spPr>
          <a:xfrm>
            <a:off x="13681253" y="3954780"/>
            <a:ext cx="1362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523 (첫 번째)</a:t>
            </a:r>
            <a:endParaRPr lang="en-US" sz="1200" dirty="0"/>
          </a:p>
        </p:txBody>
      </p:sp>
      <p:sp>
        <p:nvSpPr>
          <p:cNvPr id="70" name="Text 54"/>
          <p:cNvSpPr txBox="1"/>
          <p:nvPr/>
        </p:nvSpPr>
        <p:spPr>
          <a:xfrm>
            <a:off x="14961413" y="395478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71" name="Text 55"/>
          <p:cNvSpPr txBox="1"/>
          <p:nvPr/>
        </p:nvSpPr>
        <p:spPr>
          <a:xfrm>
            <a:off x="15419527" y="395478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72" name="Text 56"/>
          <p:cNvSpPr txBox="1"/>
          <p:nvPr/>
        </p:nvSpPr>
        <p:spPr>
          <a:xfrm>
            <a:off x="15510967" y="395478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daily</a:t>
            </a:r>
            <a:endParaRPr lang="en-US" sz="1200" dirty="0"/>
          </a:p>
        </p:txBody>
      </p:sp>
      <p:sp>
        <p:nvSpPr>
          <p:cNvPr id="73" name="Text 57"/>
          <p:cNvSpPr txBox="1"/>
          <p:nvPr/>
        </p:nvSpPr>
        <p:spPr>
          <a:xfrm>
            <a:off x="15968167" y="395478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200" dirty="0"/>
          </a:p>
        </p:txBody>
      </p:sp>
      <p:sp>
        <p:nvSpPr>
          <p:cNvPr id="74" name="Text 58"/>
          <p:cNvSpPr txBox="1"/>
          <p:nvPr/>
        </p:nvSpPr>
        <p:spPr>
          <a:xfrm>
            <a:off x="16059607" y="395478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-1</a:t>
            </a:r>
            <a:endParaRPr lang="en-US" sz="1200" dirty="0"/>
          </a:p>
        </p:txBody>
      </p:sp>
      <p:sp>
        <p:nvSpPr>
          <p:cNvPr id="75" name="Text 59"/>
          <p:cNvSpPr txBox="1"/>
          <p:nvPr/>
        </p:nvSpPr>
        <p:spPr>
          <a:xfrm>
            <a:off x="16242487" y="395478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])</a:t>
            </a:r>
            <a:endParaRPr lang="en-US" sz="1200" dirty="0"/>
          </a:p>
        </p:txBody>
      </p:sp>
      <p:sp>
        <p:nvSpPr>
          <p:cNvPr id="76" name="Text 60"/>
          <p:cNvSpPr txBox="1"/>
          <p:nvPr/>
        </p:nvSpPr>
        <p:spPr>
          <a:xfrm>
            <a:off x="16516807" y="3954780"/>
            <a:ext cx="1267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445 (마지막)</a:t>
            </a:r>
            <a:endParaRPr lang="en-US" sz="1200" dirty="0"/>
          </a:p>
        </p:txBody>
      </p:sp>
      <p:sp>
        <p:nvSpPr>
          <p:cNvPr id="77" name="Text 61"/>
          <p:cNvSpPr txBox="1"/>
          <p:nvPr/>
        </p:nvSpPr>
        <p:spPr>
          <a:xfrm>
            <a:off x="17705527" y="3954780"/>
            <a:ext cx="16669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변경 (Modify)</a:t>
            </a:r>
            <a:endParaRPr lang="en-US" sz="1200" dirty="0"/>
          </a:p>
        </p:txBody>
      </p:sp>
      <p:sp>
        <p:nvSpPr>
          <p:cNvPr id="78" name="Text 62"/>
          <p:cNvSpPr txBox="1"/>
          <p:nvPr/>
        </p:nvSpPr>
        <p:spPr>
          <a:xfrm>
            <a:off x="19291097" y="395478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daily</a:t>
            </a:r>
            <a:endParaRPr lang="en-US" sz="1200" dirty="0"/>
          </a:p>
        </p:txBody>
      </p:sp>
      <p:sp>
        <p:nvSpPr>
          <p:cNvPr id="79" name="Text 63"/>
          <p:cNvSpPr txBox="1"/>
          <p:nvPr/>
        </p:nvSpPr>
        <p:spPr>
          <a:xfrm>
            <a:off x="19748297" y="395478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200" dirty="0"/>
          </a:p>
        </p:txBody>
      </p:sp>
      <p:sp>
        <p:nvSpPr>
          <p:cNvPr id="80" name="Text 64"/>
          <p:cNvSpPr txBox="1"/>
          <p:nvPr/>
        </p:nvSpPr>
        <p:spPr>
          <a:xfrm>
            <a:off x="19839737" y="395478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200" dirty="0"/>
          </a:p>
        </p:txBody>
      </p:sp>
      <p:sp>
        <p:nvSpPr>
          <p:cNvPr id="81" name="Text 65"/>
          <p:cNvSpPr txBox="1"/>
          <p:nvPr/>
        </p:nvSpPr>
        <p:spPr>
          <a:xfrm>
            <a:off x="19931177" y="3954780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=</a:t>
            </a:r>
            <a:endParaRPr lang="en-US" sz="1200" dirty="0"/>
          </a:p>
        </p:txBody>
      </p:sp>
      <p:sp>
        <p:nvSpPr>
          <p:cNvPr id="82" name="Text 66"/>
          <p:cNvSpPr txBox="1"/>
          <p:nvPr/>
        </p:nvSpPr>
        <p:spPr>
          <a:xfrm>
            <a:off x="20296937" y="395478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999</a:t>
            </a:r>
            <a:endParaRPr lang="en-US" sz="1200" dirty="0"/>
          </a:p>
        </p:txBody>
      </p:sp>
      <p:sp>
        <p:nvSpPr>
          <p:cNvPr id="83" name="Text 67"/>
          <p:cNvSpPr txBox="1"/>
          <p:nvPr/>
        </p:nvSpPr>
        <p:spPr>
          <a:xfrm>
            <a:off x="20571257" y="3954780"/>
            <a:ext cx="1638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[999, 681, 445]</a:t>
            </a:r>
            <a:endParaRPr lang="en-US" sz="1200" dirty="0"/>
          </a:p>
        </p:txBody>
      </p:sp>
      <p:sp>
        <p:nvSpPr>
          <p:cNvPr id="84" name="Text 68"/>
          <p:cNvSpPr txBox="1"/>
          <p:nvPr/>
        </p:nvSpPr>
        <p:spPr>
          <a:xfrm>
            <a:off x="22126651" y="3954780"/>
            <a:ext cx="16669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4. 추가 (Append)</a:t>
            </a:r>
            <a:endParaRPr lang="en-US" sz="1200" dirty="0"/>
          </a:p>
        </p:txBody>
      </p:sp>
      <p:sp>
        <p:nvSpPr>
          <p:cNvPr id="85" name="Text 69"/>
          <p:cNvSpPr txBox="1"/>
          <p:nvPr/>
        </p:nvSpPr>
        <p:spPr>
          <a:xfrm>
            <a:off x="23711306" y="395478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daily</a:t>
            </a:r>
            <a:endParaRPr lang="en-US" sz="1200" dirty="0"/>
          </a:p>
        </p:txBody>
      </p:sp>
      <p:sp>
        <p:nvSpPr>
          <p:cNvPr id="86" name="Text 70"/>
          <p:cNvSpPr txBox="1"/>
          <p:nvPr/>
        </p:nvSpPr>
        <p:spPr>
          <a:xfrm>
            <a:off x="24168506" y="395478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200" dirty="0"/>
          </a:p>
        </p:txBody>
      </p:sp>
      <p:sp>
        <p:nvSpPr>
          <p:cNvPr id="87" name="Text 71"/>
          <p:cNvSpPr txBox="1"/>
          <p:nvPr/>
        </p:nvSpPr>
        <p:spPr>
          <a:xfrm>
            <a:off x="24260861" y="3954780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append</a:t>
            </a:r>
            <a:endParaRPr lang="en-US" sz="1200" dirty="0"/>
          </a:p>
        </p:txBody>
      </p:sp>
      <p:sp>
        <p:nvSpPr>
          <p:cNvPr id="88" name="Text 72"/>
          <p:cNvSpPr txBox="1"/>
          <p:nvPr/>
        </p:nvSpPr>
        <p:spPr>
          <a:xfrm>
            <a:off x="24809501" y="395478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89" name="Text 73"/>
          <p:cNvSpPr txBox="1"/>
          <p:nvPr/>
        </p:nvSpPr>
        <p:spPr>
          <a:xfrm>
            <a:off x="24900941" y="3954780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1023</a:t>
            </a:r>
            <a:endParaRPr lang="en-US" sz="1200" dirty="0"/>
          </a:p>
        </p:txBody>
      </p:sp>
      <p:sp>
        <p:nvSpPr>
          <p:cNvPr id="90" name="Text 74"/>
          <p:cNvSpPr txBox="1"/>
          <p:nvPr/>
        </p:nvSpPr>
        <p:spPr>
          <a:xfrm>
            <a:off x="25266701" y="395478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91" name="Text 75"/>
          <p:cNvSpPr txBox="1"/>
          <p:nvPr/>
        </p:nvSpPr>
        <p:spPr>
          <a:xfrm>
            <a:off x="25449581" y="3954780"/>
            <a:ext cx="12243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맨 뒤에 추가</a:t>
            </a:r>
            <a:endParaRPr lang="en-US" sz="1200" dirty="0"/>
          </a:p>
        </p:txBody>
      </p:sp>
      <p:sp>
        <p:nvSpPr>
          <p:cNvPr id="92" name="Text 76"/>
          <p:cNvSpPr txBox="1"/>
          <p:nvPr/>
        </p:nvSpPr>
        <p:spPr>
          <a:xfrm>
            <a:off x="26577036" y="3954780"/>
            <a:ext cx="1485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5. 정렬 (Sort)</a:t>
            </a:r>
            <a:endParaRPr lang="en-US" sz="1200" dirty="0"/>
          </a:p>
        </p:txBody>
      </p:sp>
      <p:sp>
        <p:nvSpPr>
          <p:cNvPr id="93" name="Text 77"/>
          <p:cNvSpPr txBox="1"/>
          <p:nvPr/>
        </p:nvSpPr>
        <p:spPr>
          <a:xfrm>
            <a:off x="27979726" y="395478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daily</a:t>
            </a:r>
            <a:endParaRPr lang="en-US" sz="1200" dirty="0"/>
          </a:p>
        </p:txBody>
      </p:sp>
      <p:sp>
        <p:nvSpPr>
          <p:cNvPr id="94" name="Text 78"/>
          <p:cNvSpPr txBox="1"/>
          <p:nvPr/>
        </p:nvSpPr>
        <p:spPr>
          <a:xfrm>
            <a:off x="28436926" y="395478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200" dirty="0"/>
          </a:p>
        </p:txBody>
      </p:sp>
      <p:sp>
        <p:nvSpPr>
          <p:cNvPr id="95" name="Text 79"/>
          <p:cNvSpPr txBox="1"/>
          <p:nvPr/>
        </p:nvSpPr>
        <p:spPr>
          <a:xfrm>
            <a:off x="28528366" y="3954780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sort</a:t>
            </a:r>
            <a:endParaRPr lang="en-US" sz="1200" dirty="0"/>
          </a:p>
        </p:txBody>
      </p:sp>
      <p:sp>
        <p:nvSpPr>
          <p:cNvPr id="96" name="Text 80"/>
          <p:cNvSpPr txBox="1"/>
          <p:nvPr/>
        </p:nvSpPr>
        <p:spPr>
          <a:xfrm>
            <a:off x="28894126" y="395478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200" dirty="0"/>
          </a:p>
        </p:txBody>
      </p:sp>
      <p:sp>
        <p:nvSpPr>
          <p:cNvPr id="97" name="Text 81"/>
          <p:cNvSpPr txBox="1"/>
          <p:nvPr/>
        </p:nvSpPr>
        <p:spPr>
          <a:xfrm>
            <a:off x="29168446" y="3954780"/>
            <a:ext cx="1286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오름차순 정렬</a:t>
            </a:r>
            <a:endParaRPr lang="en-US" sz="1200" dirty="0"/>
          </a:p>
        </p:txBody>
      </p:sp>
      <p:sp>
        <p:nvSpPr>
          <p:cNvPr id="98" name="Text 82"/>
          <p:cNvSpPr txBox="1"/>
          <p:nvPr/>
        </p:nvSpPr>
        <p:spPr>
          <a:xfrm>
            <a:off x="30357166" y="395478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99" name="Text 83"/>
          <p:cNvSpPr txBox="1"/>
          <p:nvPr/>
        </p:nvSpPr>
        <p:spPr>
          <a:xfrm>
            <a:off x="30815280" y="395478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100" name="Text 84"/>
          <p:cNvSpPr txBox="1"/>
          <p:nvPr/>
        </p:nvSpPr>
        <p:spPr>
          <a:xfrm>
            <a:off x="30906720" y="395478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daily</a:t>
            </a:r>
            <a:endParaRPr lang="en-US" sz="1200" dirty="0"/>
          </a:p>
        </p:txBody>
      </p:sp>
      <p:sp>
        <p:nvSpPr>
          <p:cNvPr id="101" name="Text 85"/>
          <p:cNvSpPr txBox="1"/>
          <p:nvPr/>
        </p:nvSpPr>
        <p:spPr>
          <a:xfrm>
            <a:off x="31363920" y="395478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102" name="Text 86"/>
          <p:cNvSpPr txBox="1"/>
          <p:nvPr/>
        </p:nvSpPr>
        <p:spPr>
          <a:xfrm>
            <a:off x="31546800" y="3954780"/>
            <a:ext cx="218998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[445, 681, 999, 1023]</a:t>
            </a:r>
            <a:endParaRPr lang="en-US" sz="1200" dirty="0"/>
          </a:p>
        </p:txBody>
      </p:sp>
      <p:pic>
        <p:nvPicPr>
          <p:cNvPr id="103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39" b="-39"/>
          <a:stretch/>
        </p:blipFill>
        <p:spPr>
          <a:xfrm>
            <a:off x="6715354" y="4626864"/>
            <a:ext cx="1520647" cy="629107"/>
          </a:xfrm>
          <a:prstGeom prst="rect">
            <a:avLst/>
          </a:prstGeom>
        </p:spPr>
      </p:pic>
      <p:sp>
        <p:nvSpPr>
          <p:cNvPr id="104" name="Text 87"/>
          <p:cNvSpPr txBox="1"/>
          <p:nvPr/>
        </p:nvSpPr>
        <p:spPr>
          <a:xfrm>
            <a:off x="6838798" y="4751222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Method</a:t>
            </a:r>
            <a:endParaRPr lang="en-US" sz="900" dirty="0"/>
          </a:p>
        </p:txBody>
      </p:sp>
      <p:sp>
        <p:nvSpPr>
          <p:cNvPr id="105" name="Text 88"/>
          <p:cNvSpPr txBox="1"/>
          <p:nvPr/>
        </p:nvSpPr>
        <p:spPr>
          <a:xfrm>
            <a:off x="6838798" y="4941418"/>
            <a:ext cx="1353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.append(x)</a:t>
            </a:r>
            <a:endParaRPr lang="en-US" sz="1000" dirty="0"/>
          </a:p>
        </p:txBody>
      </p:sp>
      <p:pic>
        <p:nvPicPr>
          <p:cNvPr id="106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44" b="-44"/>
          <a:stretch/>
        </p:blipFill>
        <p:spPr>
          <a:xfrm>
            <a:off x="8388706" y="4626864"/>
            <a:ext cx="1520647" cy="629107"/>
          </a:xfrm>
          <a:prstGeom prst="rect">
            <a:avLst/>
          </a:prstGeom>
        </p:spPr>
      </p:pic>
      <p:sp>
        <p:nvSpPr>
          <p:cNvPr id="107" name="Text 89"/>
          <p:cNvSpPr txBox="1"/>
          <p:nvPr/>
        </p:nvSpPr>
        <p:spPr>
          <a:xfrm>
            <a:off x="8512150" y="4751222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Method</a:t>
            </a:r>
            <a:endParaRPr lang="en-US" sz="900" dirty="0"/>
          </a:p>
        </p:txBody>
      </p:sp>
      <p:sp>
        <p:nvSpPr>
          <p:cNvPr id="108" name="Text 90"/>
          <p:cNvSpPr txBox="1"/>
          <p:nvPr/>
        </p:nvSpPr>
        <p:spPr>
          <a:xfrm>
            <a:off x="8512150" y="4941418"/>
            <a:ext cx="1353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.sort()</a:t>
            </a:r>
            <a:endParaRPr lang="en-US" sz="1000" dirty="0"/>
          </a:p>
        </p:txBody>
      </p:sp>
      <p:pic>
        <p:nvPicPr>
          <p:cNvPr id="109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44" b="-44"/>
          <a:stretch/>
        </p:blipFill>
        <p:spPr>
          <a:xfrm>
            <a:off x="10061143" y="4626864"/>
            <a:ext cx="1520647" cy="629107"/>
          </a:xfrm>
          <a:prstGeom prst="rect">
            <a:avLst/>
          </a:prstGeom>
        </p:spPr>
      </p:pic>
      <p:sp>
        <p:nvSpPr>
          <p:cNvPr id="110" name="Text 91"/>
          <p:cNvSpPr txBox="1"/>
          <p:nvPr/>
        </p:nvSpPr>
        <p:spPr>
          <a:xfrm>
            <a:off x="10185502" y="4751222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Method</a:t>
            </a:r>
            <a:endParaRPr lang="en-US" sz="900" dirty="0"/>
          </a:p>
        </p:txBody>
      </p:sp>
      <p:sp>
        <p:nvSpPr>
          <p:cNvPr id="111" name="Text 92"/>
          <p:cNvSpPr txBox="1"/>
          <p:nvPr/>
        </p:nvSpPr>
        <p:spPr>
          <a:xfrm>
            <a:off x="10185502" y="4941418"/>
            <a:ext cx="1353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.pop()</a:t>
            </a:r>
            <a:endParaRPr lang="en-US" sz="1000" dirty="0"/>
          </a:p>
        </p:txBody>
      </p:sp>
      <p:sp>
        <p:nvSpPr>
          <p:cNvPr id="112" name="Text 93"/>
          <p:cNvSpPr txBox="1"/>
          <p:nvPr/>
        </p:nvSpPr>
        <p:spPr>
          <a:xfrm>
            <a:off x="11793931" y="6400800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218895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381305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9633" y="457200"/>
            <a:ext cx="314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 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18895" y="304495"/>
            <a:ext cx="325252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튜플(Tuple) 핵심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1218895" y="724205"/>
            <a:ext cx="30952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불가능한 리스트 (Immutable Sequence)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3050" y="519379"/>
            <a:ext cx="1352398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33050" y="519379"/>
            <a:ext cx="135331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coord = (x, y)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0" y="1218895"/>
            <a:ext cx="6096305" cy="6324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72007" y="1676095"/>
            <a:ext cx="4705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잠긴 서랍의 특징 </a:t>
            </a:r>
            <a:endParaRPr lang="en-US" sz="2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530" b="-530"/>
          <a:stretch/>
        </p:blipFill>
        <p:spPr>
          <a:xfrm>
            <a:off x="609905" y="1705356"/>
            <a:ext cx="247802" cy="2862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09905" y="2171700"/>
            <a:ext cx="49533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튜플은 </a:t>
            </a:r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소괄호 ( )</a:t>
            </a:r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생성하며, 한 번 만들어지면 내부 값을 </a:t>
            </a:r>
            <a:pPr algn="l" indent="0" marL="0">
              <a:buNone/>
            </a:pPr>
            <a:r>
              <a:rPr lang="en-US" sz="1500" b="1" dirty="0">
                <a:solidFill>
                  <a:srgbClr val="E24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변경할 수 없습니다</a:t>
            </a:r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2943454"/>
            <a:ext cx="47621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보호: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좌표, 날짜 등 불변 값 저장 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7395" y="2980944"/>
            <a:ext cx="152705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51890" y="3286354"/>
            <a:ext cx="4724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패킹/언패킹: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여러 값을 한 번에 주고받음 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647395" y="3323844"/>
            <a:ext cx="19019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14400" y="3629254"/>
            <a:ext cx="47621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성능: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리스트보다 메모리를 적게 쓰고 빠름 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7395" y="3666744"/>
            <a:ext cx="152705" cy="152705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09905" y="4543654"/>
            <a:ext cx="4876495" cy="2542946"/>
          </a:xfrm>
          <a:prstGeom prst="roundRect">
            <a:avLst>
              <a:gd name="adj" fmla="val 16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790956" y="4781398"/>
            <a:ext cx="4515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coord = (37.5, 127.0)</a:t>
            </a:r>
            <a:endParaRPr lang="en-US" sz="10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295" y="5447995"/>
            <a:ext cx="857707" cy="66659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133295" y="5447995"/>
            <a:ext cx="857707" cy="6675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0 37.5</a:t>
            </a:r>
            <a:endParaRPr lang="en-US" sz="1300" dirty="0"/>
          </a:p>
        </p:txBody>
      </p:sp>
      <p:sp>
        <p:nvSpPr>
          <p:cNvPr id="25" name="Text 16"/>
          <p:cNvSpPr txBox="1"/>
          <p:nvPr/>
        </p:nvSpPr>
        <p:spPr>
          <a:xfrm>
            <a:off x="2521915" y="5229454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5302" y="5447995"/>
            <a:ext cx="857707" cy="66659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105302" y="5447995"/>
            <a:ext cx="857707" cy="6675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1 127.0</a:t>
            </a:r>
            <a:endParaRPr lang="en-US" sz="1300" dirty="0"/>
          </a:p>
        </p:txBody>
      </p:sp>
      <p:sp>
        <p:nvSpPr>
          <p:cNvPr id="28" name="Text 18"/>
          <p:cNvSpPr txBox="1"/>
          <p:nvPr/>
        </p:nvSpPr>
        <p:spPr>
          <a:xfrm>
            <a:off x="3493922" y="5229454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086" y="6601054"/>
            <a:ext cx="1533449" cy="24780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2561234" y="6601054"/>
            <a:ext cx="1258214" cy="2478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DD6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 수정/삭제 절대 불가!</a:t>
            </a:r>
            <a:endParaRPr lang="en-US" sz="9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408530" y="6672377"/>
            <a:ext cx="114300" cy="114300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6096305" y="1218895"/>
            <a:ext cx="6096305" cy="63249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3" name="Shape 21"/>
          <p:cNvSpPr/>
          <p:nvPr/>
        </p:nvSpPr>
        <p:spPr>
          <a:xfrm>
            <a:off x="6096305" y="1218895"/>
            <a:ext cx="9144" cy="63249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4" name="Text 22"/>
          <p:cNvSpPr txBox="1"/>
          <p:nvPr/>
        </p:nvSpPr>
        <p:spPr>
          <a:xfrm>
            <a:off x="7077456" y="3201314"/>
            <a:ext cx="101681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예제</a:t>
            </a:r>
            <a:endParaRPr lang="en-US" sz="18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rcRect l="-80" r="-80" t="0" b="0"/>
          <a:stretch/>
        </p:blipFill>
        <p:spPr>
          <a:xfrm>
            <a:off x="6715354" y="3248863"/>
            <a:ext cx="286207" cy="22860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10782605" y="3258007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 3.x</a:t>
            </a:r>
            <a:endParaRPr lang="en-US" sz="10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rcRect l="-10" r="-10" t="0" b="0"/>
          <a:stretch/>
        </p:blipFill>
        <p:spPr>
          <a:xfrm>
            <a:off x="6715354" y="3658514"/>
            <a:ext cx="4867351" cy="1046074"/>
          </a:xfrm>
          <a:prstGeom prst="rect">
            <a:avLst/>
          </a:prstGeom>
        </p:spPr>
      </p:pic>
      <p:sp>
        <p:nvSpPr>
          <p:cNvPr id="38" name="Shape 24"/>
          <p:cNvSpPr/>
          <p:nvPr/>
        </p:nvSpPr>
        <p:spPr>
          <a:xfrm>
            <a:off x="6715354" y="3658514"/>
            <a:ext cx="4867351" cy="342900"/>
          </a:xfrm>
          <a:prstGeom prst="roundRect">
            <a:avLst>
              <a:gd name="adj" fmla="val 88889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25"/>
          <p:cNvSpPr/>
          <p:nvPr/>
        </p:nvSpPr>
        <p:spPr>
          <a:xfrm>
            <a:off x="6867144" y="3772814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26"/>
          <p:cNvSpPr/>
          <p:nvPr/>
        </p:nvSpPr>
        <p:spPr>
          <a:xfrm>
            <a:off x="7058254" y="3772814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27"/>
          <p:cNvSpPr/>
          <p:nvPr/>
        </p:nvSpPr>
        <p:spPr>
          <a:xfrm>
            <a:off x="7248449" y="3772814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6943954" y="4258361"/>
            <a:ext cx="21104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1. 튜플 생성 (좌표 예시)</a:t>
            </a:r>
            <a:endParaRPr lang="en-US" sz="1100" dirty="0"/>
          </a:p>
        </p:txBody>
      </p:sp>
      <p:sp>
        <p:nvSpPr>
          <p:cNvPr id="43" name="Text 29"/>
          <p:cNvSpPr txBox="1"/>
          <p:nvPr/>
        </p:nvSpPr>
        <p:spPr>
          <a:xfrm>
            <a:off x="8969350" y="425836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coord</a:t>
            </a:r>
            <a:endParaRPr lang="en-US" sz="1100" dirty="0"/>
          </a:p>
        </p:txBody>
      </p:sp>
      <p:sp>
        <p:nvSpPr>
          <p:cNvPr id="44" name="Text 30"/>
          <p:cNvSpPr txBox="1"/>
          <p:nvPr/>
        </p:nvSpPr>
        <p:spPr>
          <a:xfrm>
            <a:off x="9403690" y="4258361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(</a:t>
            </a:r>
            <a:endParaRPr lang="en-US" sz="1100" dirty="0"/>
          </a:p>
        </p:txBody>
      </p:sp>
      <p:sp>
        <p:nvSpPr>
          <p:cNvPr id="45" name="Text 31"/>
          <p:cNvSpPr txBox="1"/>
          <p:nvPr/>
        </p:nvSpPr>
        <p:spPr>
          <a:xfrm>
            <a:off x="9750247" y="425836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37.56</a:t>
            </a:r>
            <a:endParaRPr lang="en-US" sz="1100" dirty="0"/>
          </a:p>
        </p:txBody>
      </p:sp>
      <p:sp>
        <p:nvSpPr>
          <p:cNvPr id="46" name="Text 32"/>
          <p:cNvSpPr txBox="1"/>
          <p:nvPr/>
        </p:nvSpPr>
        <p:spPr>
          <a:xfrm>
            <a:off x="10184587" y="425836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47" name="Text 33"/>
          <p:cNvSpPr txBox="1"/>
          <p:nvPr/>
        </p:nvSpPr>
        <p:spPr>
          <a:xfrm>
            <a:off x="10358323" y="4258361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126.97</a:t>
            </a:r>
            <a:endParaRPr lang="en-US" sz="1100" dirty="0"/>
          </a:p>
        </p:txBody>
      </p:sp>
      <p:sp>
        <p:nvSpPr>
          <p:cNvPr id="48" name="Text 34"/>
          <p:cNvSpPr txBox="1"/>
          <p:nvPr/>
        </p:nvSpPr>
        <p:spPr>
          <a:xfrm>
            <a:off x="10879531" y="425836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100" dirty="0"/>
          </a:p>
        </p:txBody>
      </p:sp>
      <p:sp>
        <p:nvSpPr>
          <p:cNvPr id="49" name="Text 35"/>
          <p:cNvSpPr txBox="1"/>
          <p:nvPr/>
        </p:nvSpPr>
        <p:spPr>
          <a:xfrm>
            <a:off x="11053267" y="4258361"/>
            <a:ext cx="18772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접근 (인덱싱 가능)</a:t>
            </a:r>
            <a:endParaRPr lang="en-US" sz="1100" dirty="0"/>
          </a:p>
        </p:txBody>
      </p:sp>
      <p:sp>
        <p:nvSpPr>
          <p:cNvPr id="50" name="Text 36"/>
          <p:cNvSpPr txBox="1"/>
          <p:nvPr/>
        </p:nvSpPr>
        <p:spPr>
          <a:xfrm>
            <a:off x="12847320" y="425836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100" dirty="0"/>
          </a:p>
        </p:txBody>
      </p:sp>
      <p:sp>
        <p:nvSpPr>
          <p:cNvPr id="51" name="Text 37"/>
          <p:cNvSpPr txBox="1"/>
          <p:nvPr/>
        </p:nvSpPr>
        <p:spPr>
          <a:xfrm>
            <a:off x="13280746" y="425836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52" name="Text 38"/>
          <p:cNvSpPr txBox="1"/>
          <p:nvPr/>
        </p:nvSpPr>
        <p:spPr>
          <a:xfrm>
            <a:off x="13367614" y="425836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coord</a:t>
            </a:r>
            <a:endParaRPr lang="en-US" sz="1100" dirty="0"/>
          </a:p>
        </p:txBody>
      </p:sp>
      <p:sp>
        <p:nvSpPr>
          <p:cNvPr id="53" name="Text 39"/>
          <p:cNvSpPr txBox="1"/>
          <p:nvPr/>
        </p:nvSpPr>
        <p:spPr>
          <a:xfrm>
            <a:off x="13801954" y="425836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100" dirty="0"/>
          </a:p>
        </p:txBody>
      </p:sp>
      <p:sp>
        <p:nvSpPr>
          <p:cNvPr id="54" name="Text 40"/>
          <p:cNvSpPr txBox="1"/>
          <p:nvPr/>
        </p:nvSpPr>
        <p:spPr>
          <a:xfrm>
            <a:off x="13888822" y="425836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100" dirty="0"/>
          </a:p>
        </p:txBody>
      </p:sp>
      <p:sp>
        <p:nvSpPr>
          <p:cNvPr id="55" name="Text 41"/>
          <p:cNvSpPr txBox="1"/>
          <p:nvPr/>
        </p:nvSpPr>
        <p:spPr>
          <a:xfrm>
            <a:off x="13975690" y="425836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])</a:t>
            </a:r>
            <a:endParaRPr lang="en-US" sz="1100" dirty="0"/>
          </a:p>
        </p:txBody>
      </p:sp>
      <p:sp>
        <p:nvSpPr>
          <p:cNvPr id="56" name="Text 42"/>
          <p:cNvSpPr txBox="1"/>
          <p:nvPr/>
        </p:nvSpPr>
        <p:spPr>
          <a:xfrm>
            <a:off x="14236294" y="425836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37.56</a:t>
            </a:r>
            <a:endParaRPr lang="en-US" sz="1100" dirty="0"/>
          </a:p>
        </p:txBody>
      </p:sp>
      <p:sp>
        <p:nvSpPr>
          <p:cNvPr id="57" name="Text 43"/>
          <p:cNvSpPr txBox="1"/>
          <p:nvPr/>
        </p:nvSpPr>
        <p:spPr>
          <a:xfrm>
            <a:off x="14844370" y="4258361"/>
            <a:ext cx="19915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언패킹 (Unpacking)</a:t>
            </a:r>
            <a:endParaRPr lang="en-US" sz="1100" dirty="0"/>
          </a:p>
        </p:txBody>
      </p:sp>
      <p:sp>
        <p:nvSpPr>
          <p:cNvPr id="58" name="Text 44"/>
          <p:cNvSpPr txBox="1"/>
          <p:nvPr/>
        </p:nvSpPr>
        <p:spPr>
          <a:xfrm>
            <a:off x="16754551" y="425836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lat</a:t>
            </a:r>
            <a:endParaRPr lang="en-US" sz="1100" dirty="0"/>
          </a:p>
        </p:txBody>
      </p:sp>
      <p:sp>
        <p:nvSpPr>
          <p:cNvPr id="59" name="Text 45"/>
          <p:cNvSpPr txBox="1"/>
          <p:nvPr/>
        </p:nvSpPr>
        <p:spPr>
          <a:xfrm>
            <a:off x="17014241" y="425836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60" name="Text 46"/>
          <p:cNvSpPr txBox="1"/>
          <p:nvPr/>
        </p:nvSpPr>
        <p:spPr>
          <a:xfrm>
            <a:off x="17187977" y="425836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lon</a:t>
            </a:r>
            <a:endParaRPr lang="en-US" sz="1100" dirty="0"/>
          </a:p>
        </p:txBody>
      </p:sp>
      <p:sp>
        <p:nvSpPr>
          <p:cNvPr id="61" name="Text 47"/>
          <p:cNvSpPr txBox="1"/>
          <p:nvPr/>
        </p:nvSpPr>
        <p:spPr>
          <a:xfrm>
            <a:off x="17448581" y="425836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100" dirty="0"/>
          </a:p>
        </p:txBody>
      </p:sp>
      <p:sp>
        <p:nvSpPr>
          <p:cNvPr id="62" name="Text 48"/>
          <p:cNvSpPr txBox="1"/>
          <p:nvPr/>
        </p:nvSpPr>
        <p:spPr>
          <a:xfrm>
            <a:off x="17709185" y="425836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coord</a:t>
            </a:r>
            <a:endParaRPr lang="en-US" sz="1100" dirty="0"/>
          </a:p>
        </p:txBody>
      </p:sp>
      <p:sp>
        <p:nvSpPr>
          <p:cNvPr id="63" name="Text 49"/>
          <p:cNvSpPr txBox="1"/>
          <p:nvPr/>
        </p:nvSpPr>
        <p:spPr>
          <a:xfrm>
            <a:off x="18143525" y="425836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100" dirty="0"/>
          </a:p>
        </p:txBody>
      </p:sp>
      <p:sp>
        <p:nvSpPr>
          <p:cNvPr id="64" name="Text 50"/>
          <p:cNvSpPr txBox="1"/>
          <p:nvPr/>
        </p:nvSpPr>
        <p:spPr>
          <a:xfrm>
            <a:off x="18577865" y="425836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65" name="Text 51"/>
          <p:cNvSpPr txBox="1"/>
          <p:nvPr/>
        </p:nvSpPr>
        <p:spPr>
          <a:xfrm>
            <a:off x="18664733" y="4258361"/>
            <a:ext cx="1239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f"위도: {lat}"</a:t>
            </a:r>
            <a:endParaRPr lang="en-US" sz="1100" dirty="0"/>
          </a:p>
        </p:txBody>
      </p:sp>
      <p:sp>
        <p:nvSpPr>
          <p:cNvPr id="66" name="Text 52"/>
          <p:cNvSpPr txBox="1"/>
          <p:nvPr/>
        </p:nvSpPr>
        <p:spPr>
          <a:xfrm>
            <a:off x="19821449" y="425836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100" dirty="0"/>
          </a:p>
        </p:txBody>
      </p:sp>
      <p:sp>
        <p:nvSpPr>
          <p:cNvPr id="67" name="Text 53"/>
          <p:cNvSpPr txBox="1"/>
          <p:nvPr/>
        </p:nvSpPr>
        <p:spPr>
          <a:xfrm>
            <a:off x="19995185" y="4258361"/>
            <a:ext cx="11530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위도: 37.56</a:t>
            </a:r>
            <a:endParaRPr lang="en-US" sz="1100" dirty="0"/>
          </a:p>
        </p:txBody>
      </p:sp>
      <p:sp>
        <p:nvSpPr>
          <p:cNvPr id="68" name="Text 54"/>
          <p:cNvSpPr txBox="1"/>
          <p:nvPr/>
        </p:nvSpPr>
        <p:spPr>
          <a:xfrm>
            <a:off x="21065947" y="4258361"/>
            <a:ext cx="21991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4. 변경 시도 (에러 발생!)</a:t>
            </a:r>
            <a:endParaRPr lang="en-US" sz="1100" dirty="0"/>
          </a:p>
        </p:txBody>
      </p:sp>
      <p:sp>
        <p:nvSpPr>
          <p:cNvPr id="69" name="Text 55"/>
          <p:cNvSpPr txBox="1"/>
          <p:nvPr/>
        </p:nvSpPr>
        <p:spPr>
          <a:xfrm>
            <a:off x="23178211" y="4258361"/>
            <a:ext cx="1295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coord[0] = 0</a:t>
            </a:r>
            <a:endParaRPr lang="en-US" sz="1100" dirty="0"/>
          </a:p>
        </p:txBody>
      </p:sp>
      <p:sp>
        <p:nvSpPr>
          <p:cNvPr id="70" name="Text 56"/>
          <p:cNvSpPr txBox="1"/>
          <p:nvPr/>
        </p:nvSpPr>
        <p:spPr>
          <a:xfrm>
            <a:off x="24394363" y="4258361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TypeError: 'tuple' object does not</a:t>
            </a:r>
            <a:endParaRPr lang="en-US" sz="1100" dirty="0"/>
          </a:p>
        </p:txBody>
      </p:sp>
      <p:sp>
        <p:nvSpPr>
          <p:cNvPr id="71" name="Text 57"/>
          <p:cNvSpPr txBox="1"/>
          <p:nvPr/>
        </p:nvSpPr>
        <p:spPr>
          <a:xfrm>
            <a:off x="27518868" y="4258361"/>
            <a:ext cx="225856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support item assignment</a:t>
            </a:r>
            <a:endParaRPr lang="en-US" sz="1100" dirty="0"/>
          </a:p>
        </p:txBody>
      </p:sp>
      <p:pic>
        <p:nvPicPr>
          <p:cNvPr id="7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39" b="-39"/>
          <a:stretch/>
        </p:blipFill>
        <p:spPr>
          <a:xfrm>
            <a:off x="6715354" y="4933188"/>
            <a:ext cx="1520647" cy="629107"/>
          </a:xfrm>
          <a:prstGeom prst="rect">
            <a:avLst/>
          </a:prstGeom>
        </p:spPr>
      </p:pic>
      <p:sp>
        <p:nvSpPr>
          <p:cNvPr id="73" name="Text 58"/>
          <p:cNvSpPr txBox="1"/>
          <p:nvPr/>
        </p:nvSpPr>
        <p:spPr>
          <a:xfrm>
            <a:off x="6838798" y="5056632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</a:t>
            </a:r>
            <a:endParaRPr lang="en-US" sz="900" dirty="0"/>
          </a:p>
        </p:txBody>
      </p:sp>
      <p:sp>
        <p:nvSpPr>
          <p:cNvPr id="74" name="Text 59"/>
          <p:cNvSpPr txBox="1"/>
          <p:nvPr/>
        </p:nvSpPr>
        <p:spPr>
          <a:xfrm>
            <a:off x="6838798" y="5247742"/>
            <a:ext cx="1353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Immutable (불변)</a:t>
            </a:r>
            <a:endParaRPr lang="en-US" sz="1000" dirty="0"/>
          </a:p>
        </p:txBody>
      </p:sp>
      <p:pic>
        <p:nvPicPr>
          <p:cNvPr id="7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4" b="-44"/>
          <a:stretch/>
        </p:blipFill>
        <p:spPr>
          <a:xfrm>
            <a:off x="8388706" y="4933188"/>
            <a:ext cx="1520647" cy="629107"/>
          </a:xfrm>
          <a:prstGeom prst="rect">
            <a:avLst/>
          </a:prstGeom>
        </p:spPr>
      </p:pic>
      <p:sp>
        <p:nvSpPr>
          <p:cNvPr id="76" name="Text 60"/>
          <p:cNvSpPr txBox="1"/>
          <p:nvPr/>
        </p:nvSpPr>
        <p:spPr>
          <a:xfrm>
            <a:off x="8512150" y="5056632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</a:t>
            </a:r>
            <a:endParaRPr lang="en-US" sz="900" dirty="0"/>
          </a:p>
        </p:txBody>
      </p:sp>
      <p:sp>
        <p:nvSpPr>
          <p:cNvPr id="77" name="Text 61"/>
          <p:cNvSpPr txBox="1"/>
          <p:nvPr/>
        </p:nvSpPr>
        <p:spPr>
          <a:xfrm>
            <a:off x="8512150" y="5247742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Unpacking (언패킹)</a:t>
            </a:r>
            <a:endParaRPr lang="en-US" sz="1000" dirty="0"/>
          </a:p>
        </p:txBody>
      </p:sp>
      <p:pic>
        <p:nvPicPr>
          <p:cNvPr id="7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4" b="-44"/>
          <a:stretch/>
        </p:blipFill>
        <p:spPr>
          <a:xfrm>
            <a:off x="10061143" y="4933188"/>
            <a:ext cx="1520647" cy="629107"/>
          </a:xfrm>
          <a:prstGeom prst="rect">
            <a:avLst/>
          </a:prstGeom>
        </p:spPr>
      </p:pic>
      <p:sp>
        <p:nvSpPr>
          <p:cNvPr id="79" name="Text 62"/>
          <p:cNvSpPr txBox="1"/>
          <p:nvPr/>
        </p:nvSpPr>
        <p:spPr>
          <a:xfrm>
            <a:off x="10185502" y="5056632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 Case</a:t>
            </a:r>
            <a:endParaRPr lang="en-US" sz="900" dirty="0"/>
          </a:p>
        </p:txBody>
      </p:sp>
      <p:sp>
        <p:nvSpPr>
          <p:cNvPr id="80" name="Text 63"/>
          <p:cNvSpPr txBox="1"/>
          <p:nvPr/>
        </p:nvSpPr>
        <p:spPr>
          <a:xfrm>
            <a:off x="10185502" y="5247742"/>
            <a:ext cx="1353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Dict Key (키)</a:t>
            </a:r>
            <a:endParaRPr lang="en-US" sz="1000" dirty="0"/>
          </a:p>
        </p:txBody>
      </p:sp>
      <p:sp>
        <p:nvSpPr>
          <p:cNvPr id="81" name="Text 64"/>
          <p:cNvSpPr txBox="1"/>
          <p:nvPr/>
        </p:nvSpPr>
        <p:spPr>
          <a:xfrm>
            <a:off x="11791188" y="6400800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200" dirty="0"/>
          </a:p>
        </p:txBody>
      </p:sp>
      <p:pic>
        <p:nvPicPr>
          <p:cNvPr id="82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5286146" y="4410151"/>
            <a:ext cx="286207" cy="286207"/>
          </a:xfrm>
          <a:prstGeom prst="rect">
            <a:avLst/>
          </a:prstGeom>
        </p:spPr>
      </p:pic>
      <p:pic>
        <p:nvPicPr>
          <p:cNvPr id="83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100" b="-1100"/>
          <a:stretch/>
        </p:blipFill>
        <p:spPr>
          <a:xfrm>
            <a:off x="5372100" y="4486046"/>
            <a:ext cx="114300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218895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381305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9633" y="457200"/>
            <a:ext cx="314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 }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18895" y="304495"/>
            <a:ext cx="499536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딕셔너리(Dictionary) 핵심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1218895" y="724205"/>
            <a:ext cx="4153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이름표가 붙은 서랍 (Key-Value Mapping)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990" y="519379"/>
            <a:ext cx="1837944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52990" y="519379"/>
            <a:ext cx="183885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 = {"KR": 5000}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0" y="1218895"/>
            <a:ext cx="6096305" cy="67052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10412" y="1676095"/>
            <a:ext cx="46670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이해하기 </a:t>
            </a:r>
            <a:endParaRPr lang="en-US" sz="2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905" y="1705356"/>
            <a:ext cx="286207" cy="2862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09905" y="2171700"/>
            <a:ext cx="49533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딕셔너리는 </a:t>
            </a:r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중괄호 { }</a:t>
            </a:r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사용하며, </a:t>
            </a:r>
            <a:pPr algn="l" indent="0" marL="0">
              <a:buNone/>
            </a:pPr>
            <a:r>
              <a:rPr lang="en-US" sz="1500" b="1" dirty="0">
                <a:solidFill>
                  <a:srgbClr val="E24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키(Key)</a:t>
            </a:r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통해 </a:t>
            </a:r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값(Value)</a:t>
            </a:r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빠르게 찾습니다. 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56793" y="2943454"/>
            <a:ext cx="4819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인덱스 대신 </a:t>
            </a:r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이름(Key)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접근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647395" y="2980944"/>
            <a:ext cx="133502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6793" y="3247949"/>
            <a:ext cx="4743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Key는 </a:t>
            </a:r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불가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Value는 중복 가능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647395" y="3286354"/>
            <a:ext cx="133502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56793" y="3552444"/>
            <a:ext cx="4743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Python 3.7+ 부터 </a:t>
            </a:r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 보장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647395" y="3590849"/>
            <a:ext cx="133502" cy="152705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09905" y="4466844"/>
            <a:ext cx="4876495" cy="3000146"/>
          </a:xfrm>
          <a:prstGeom prst="roundRect">
            <a:avLst>
              <a:gd name="adj" fmla="val 1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790956" y="4705502"/>
            <a:ext cx="4515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 = {"한국": 5000, "미국": 85000}</a:t>
            </a:r>
            <a:endParaRPr lang="en-US" sz="10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0123" y="5086807"/>
            <a:ext cx="952805" cy="47640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900123" y="5086807"/>
            <a:ext cx="952805" cy="47640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"한국"</a:t>
            </a:r>
            <a:endParaRPr lang="en-US" sz="13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-1082" r="-1082" t="0" b="0"/>
          <a:stretch/>
        </p:blipFill>
        <p:spPr>
          <a:xfrm>
            <a:off x="2967228" y="5238598"/>
            <a:ext cx="161849" cy="181051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3377" y="5086807"/>
            <a:ext cx="952805" cy="47640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243377" y="5086807"/>
            <a:ext cx="952805" cy="47640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5000</a:t>
            </a:r>
            <a:endParaRPr lang="en-US" sz="13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0123" y="5676595"/>
            <a:ext cx="952805" cy="47640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1900123" y="5676595"/>
            <a:ext cx="952805" cy="47640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"미국"</a:t>
            </a:r>
            <a:endParaRPr lang="en-US" sz="13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rcRect l="-1082" r="-1082" t="0" b="0"/>
          <a:stretch/>
        </p:blipFill>
        <p:spPr>
          <a:xfrm>
            <a:off x="2967228" y="5829300"/>
            <a:ext cx="161849" cy="181051"/>
          </a:xfrm>
          <a:prstGeom prst="rect">
            <a:avLst/>
          </a:prstGeom>
        </p:spPr>
      </p:pic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43377" y="5676595"/>
            <a:ext cx="952805" cy="476402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3243377" y="5676595"/>
            <a:ext cx="952805" cy="47640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85000</a:t>
            </a:r>
            <a:endParaRPr lang="en-US" sz="130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0123" y="6267298"/>
            <a:ext cx="952805" cy="476402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1900123" y="6267298"/>
            <a:ext cx="952805" cy="47640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"일본"</a:t>
            </a:r>
            <a:endParaRPr lang="en-US" sz="1300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rcRect l="-1082" r="-1082" t="0" b="0"/>
          <a:stretch/>
        </p:blipFill>
        <p:spPr>
          <a:xfrm>
            <a:off x="2967228" y="6420002"/>
            <a:ext cx="161849" cy="181051"/>
          </a:xfrm>
          <a:prstGeom prst="rect">
            <a:avLst/>
          </a:prstGeom>
        </p:spPr>
      </p:pic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43377" y="6267298"/>
            <a:ext cx="952805" cy="476402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3243377" y="6267298"/>
            <a:ext cx="952805" cy="47640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15000</a:t>
            </a:r>
            <a:endParaRPr lang="en-US" sz="1300" dirty="0"/>
          </a:p>
        </p:txBody>
      </p:sp>
      <p:pic>
        <p:nvPicPr>
          <p:cNvPr id="3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56739" y="6981444"/>
            <a:ext cx="1591056" cy="247802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2494483" y="6981444"/>
            <a:ext cx="1353312" cy="2478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DE6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마치 전화번호부와 같아요!</a:t>
            </a:r>
            <a:endParaRPr lang="en-US" sz="900" dirty="0"/>
          </a:p>
        </p:txBody>
      </p:sp>
      <p:pic>
        <p:nvPicPr>
          <p:cNvPr id="40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2342693" y="7053682"/>
            <a:ext cx="114300" cy="114300"/>
          </a:xfrm>
          <a:prstGeom prst="rect">
            <a:avLst/>
          </a:prstGeom>
        </p:spPr>
      </p:pic>
      <p:sp>
        <p:nvSpPr>
          <p:cNvPr id="41" name="Shape 22"/>
          <p:cNvSpPr/>
          <p:nvPr/>
        </p:nvSpPr>
        <p:spPr>
          <a:xfrm>
            <a:off x="6096305" y="1218895"/>
            <a:ext cx="6096305" cy="67052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2" name="Shape 23"/>
          <p:cNvSpPr/>
          <p:nvPr/>
        </p:nvSpPr>
        <p:spPr>
          <a:xfrm>
            <a:off x="6096305" y="1218895"/>
            <a:ext cx="9144" cy="67052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3" name="Text 24"/>
          <p:cNvSpPr txBox="1"/>
          <p:nvPr/>
        </p:nvSpPr>
        <p:spPr>
          <a:xfrm>
            <a:off x="7077456" y="3392424"/>
            <a:ext cx="101681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예제</a:t>
            </a:r>
            <a:endParaRPr lang="en-US" sz="1800" dirty="0"/>
          </a:p>
        </p:txBody>
      </p:sp>
      <p:pic>
        <p:nvPicPr>
          <p:cNvPr id="44" name="Image 17" descr="preencoded.png">    </p:cNvPr>
          <p:cNvPicPr>
            <a:picLocks noChangeAspect="1"/>
          </p:cNvPicPr>
          <p:nvPr/>
        </p:nvPicPr>
        <p:blipFill>
          <a:blip r:embed="rId18"/>
          <a:srcRect l="-80" r="-80" t="0" b="0"/>
          <a:stretch/>
        </p:blipFill>
        <p:spPr>
          <a:xfrm>
            <a:off x="6715354" y="3440887"/>
            <a:ext cx="286207" cy="228600"/>
          </a:xfrm>
          <a:prstGeom prst="rect">
            <a:avLst/>
          </a:prstGeom>
        </p:spPr>
      </p:pic>
      <p:sp>
        <p:nvSpPr>
          <p:cNvPr id="45" name="Text 25"/>
          <p:cNvSpPr txBox="1"/>
          <p:nvPr/>
        </p:nvSpPr>
        <p:spPr>
          <a:xfrm>
            <a:off x="10782605" y="3450031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 3.x</a:t>
            </a:r>
            <a:endParaRPr lang="en-US" sz="1000" dirty="0"/>
          </a:p>
        </p:txBody>
      </p:sp>
      <p:pic>
        <p:nvPicPr>
          <p:cNvPr id="46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17" b="-17"/>
          <a:stretch/>
        </p:blipFill>
        <p:spPr>
          <a:xfrm>
            <a:off x="6715354" y="3849624"/>
            <a:ext cx="4867351" cy="1044245"/>
          </a:xfrm>
          <a:prstGeom prst="rect">
            <a:avLst/>
          </a:prstGeom>
        </p:spPr>
      </p:pic>
      <p:sp>
        <p:nvSpPr>
          <p:cNvPr id="47" name="Shape 26"/>
          <p:cNvSpPr/>
          <p:nvPr/>
        </p:nvSpPr>
        <p:spPr>
          <a:xfrm>
            <a:off x="6715354" y="3849624"/>
            <a:ext cx="4867351" cy="342900"/>
          </a:xfrm>
          <a:prstGeom prst="roundRect">
            <a:avLst>
              <a:gd name="adj" fmla="val 88889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27"/>
          <p:cNvSpPr/>
          <p:nvPr/>
        </p:nvSpPr>
        <p:spPr>
          <a:xfrm>
            <a:off x="6867144" y="3963924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28"/>
          <p:cNvSpPr/>
          <p:nvPr/>
        </p:nvSpPr>
        <p:spPr>
          <a:xfrm>
            <a:off x="7058254" y="3963924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29"/>
          <p:cNvSpPr/>
          <p:nvPr/>
        </p:nvSpPr>
        <p:spPr>
          <a:xfrm>
            <a:off x="7248449" y="3963924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0"/>
          <p:cNvSpPr txBox="1"/>
          <p:nvPr/>
        </p:nvSpPr>
        <p:spPr>
          <a:xfrm>
            <a:off x="6943954" y="4450385"/>
            <a:ext cx="276423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1. 딕셔너리 생성 (Key: Value)</a:t>
            </a:r>
            <a:endParaRPr lang="en-US" sz="1200" dirty="0"/>
          </a:p>
        </p:txBody>
      </p:sp>
      <p:sp>
        <p:nvSpPr>
          <p:cNvPr id="52" name="Text 31"/>
          <p:cNvSpPr txBox="1"/>
          <p:nvPr/>
        </p:nvSpPr>
        <p:spPr>
          <a:xfrm>
            <a:off x="9595714" y="4450385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200" dirty="0"/>
          </a:p>
        </p:txBody>
      </p:sp>
      <p:sp>
        <p:nvSpPr>
          <p:cNvPr id="53" name="Text 32"/>
          <p:cNvSpPr txBox="1"/>
          <p:nvPr/>
        </p:nvSpPr>
        <p:spPr>
          <a:xfrm>
            <a:off x="10052914" y="4450385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{</a:t>
            </a:r>
            <a:endParaRPr lang="en-US" sz="1200" dirty="0"/>
          </a:p>
        </p:txBody>
      </p:sp>
      <p:sp>
        <p:nvSpPr>
          <p:cNvPr id="54" name="Text 33"/>
          <p:cNvSpPr txBox="1"/>
          <p:nvPr/>
        </p:nvSpPr>
        <p:spPr>
          <a:xfrm>
            <a:off x="10418674" y="4450385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"한국"</a:t>
            </a:r>
            <a:endParaRPr lang="en-US" sz="1200" dirty="0"/>
          </a:p>
        </p:txBody>
      </p:sp>
      <p:sp>
        <p:nvSpPr>
          <p:cNvPr id="55" name="Text 34"/>
          <p:cNvSpPr txBox="1"/>
          <p:nvPr/>
        </p:nvSpPr>
        <p:spPr>
          <a:xfrm>
            <a:off x="10906963" y="44503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200" dirty="0"/>
          </a:p>
        </p:txBody>
      </p:sp>
      <p:sp>
        <p:nvSpPr>
          <p:cNvPr id="56" name="Text 35"/>
          <p:cNvSpPr txBox="1"/>
          <p:nvPr/>
        </p:nvSpPr>
        <p:spPr>
          <a:xfrm>
            <a:off x="11089843" y="4450385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5000</a:t>
            </a:r>
            <a:endParaRPr lang="en-US" sz="1200" dirty="0"/>
          </a:p>
        </p:txBody>
      </p:sp>
      <p:sp>
        <p:nvSpPr>
          <p:cNvPr id="57" name="Text 36"/>
          <p:cNvSpPr txBox="1"/>
          <p:nvPr/>
        </p:nvSpPr>
        <p:spPr>
          <a:xfrm>
            <a:off x="11455603" y="44503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58" name="Text 37"/>
          <p:cNvSpPr txBox="1"/>
          <p:nvPr/>
        </p:nvSpPr>
        <p:spPr>
          <a:xfrm>
            <a:off x="11638483" y="4450385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"미국"</a:t>
            </a:r>
            <a:endParaRPr lang="en-US" sz="1200" dirty="0"/>
          </a:p>
        </p:txBody>
      </p:sp>
      <p:sp>
        <p:nvSpPr>
          <p:cNvPr id="59" name="Text 38"/>
          <p:cNvSpPr txBox="1"/>
          <p:nvPr/>
        </p:nvSpPr>
        <p:spPr>
          <a:xfrm>
            <a:off x="12125858" y="44503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200" dirty="0"/>
          </a:p>
        </p:txBody>
      </p:sp>
      <p:sp>
        <p:nvSpPr>
          <p:cNvPr id="60" name="Text 39"/>
          <p:cNvSpPr txBox="1"/>
          <p:nvPr/>
        </p:nvSpPr>
        <p:spPr>
          <a:xfrm>
            <a:off x="12308738" y="4450385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85000</a:t>
            </a:r>
            <a:endParaRPr lang="en-US" sz="1200" dirty="0"/>
          </a:p>
        </p:txBody>
      </p:sp>
      <p:sp>
        <p:nvSpPr>
          <p:cNvPr id="61" name="Text 40"/>
          <p:cNvSpPr txBox="1"/>
          <p:nvPr/>
        </p:nvSpPr>
        <p:spPr>
          <a:xfrm>
            <a:off x="12765938" y="44503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200" dirty="0"/>
          </a:p>
        </p:txBody>
      </p:sp>
      <p:sp>
        <p:nvSpPr>
          <p:cNvPr id="62" name="Text 41"/>
          <p:cNvSpPr txBox="1"/>
          <p:nvPr/>
        </p:nvSpPr>
        <p:spPr>
          <a:xfrm>
            <a:off x="12948818" y="4450385"/>
            <a:ext cx="19431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접근 (Key로 찾기)</a:t>
            </a:r>
            <a:endParaRPr lang="en-US" sz="1200" dirty="0"/>
          </a:p>
        </p:txBody>
      </p:sp>
      <p:sp>
        <p:nvSpPr>
          <p:cNvPr id="63" name="Text 42"/>
          <p:cNvSpPr txBox="1"/>
          <p:nvPr/>
        </p:nvSpPr>
        <p:spPr>
          <a:xfrm>
            <a:off x="14808708" y="4450385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64" name="Text 43"/>
          <p:cNvSpPr txBox="1"/>
          <p:nvPr/>
        </p:nvSpPr>
        <p:spPr>
          <a:xfrm>
            <a:off x="15265908" y="44503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65" name="Text 44"/>
          <p:cNvSpPr txBox="1"/>
          <p:nvPr/>
        </p:nvSpPr>
        <p:spPr>
          <a:xfrm>
            <a:off x="15357348" y="4450385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200" dirty="0"/>
          </a:p>
        </p:txBody>
      </p:sp>
      <p:sp>
        <p:nvSpPr>
          <p:cNvPr id="66" name="Text 45"/>
          <p:cNvSpPr txBox="1"/>
          <p:nvPr/>
        </p:nvSpPr>
        <p:spPr>
          <a:xfrm>
            <a:off x="15814548" y="44503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200" dirty="0"/>
          </a:p>
        </p:txBody>
      </p:sp>
      <p:sp>
        <p:nvSpPr>
          <p:cNvPr id="67" name="Text 46"/>
          <p:cNvSpPr txBox="1"/>
          <p:nvPr/>
        </p:nvSpPr>
        <p:spPr>
          <a:xfrm>
            <a:off x="15906902" y="4450385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"한국"</a:t>
            </a:r>
            <a:endParaRPr lang="en-US" sz="1200" dirty="0"/>
          </a:p>
        </p:txBody>
      </p:sp>
      <p:sp>
        <p:nvSpPr>
          <p:cNvPr id="68" name="Text 47"/>
          <p:cNvSpPr txBox="1"/>
          <p:nvPr/>
        </p:nvSpPr>
        <p:spPr>
          <a:xfrm>
            <a:off x="16394278" y="4450385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])</a:t>
            </a:r>
            <a:endParaRPr lang="en-US" sz="1200" dirty="0"/>
          </a:p>
        </p:txBody>
      </p:sp>
      <p:sp>
        <p:nvSpPr>
          <p:cNvPr id="69" name="Text 48"/>
          <p:cNvSpPr txBox="1"/>
          <p:nvPr/>
        </p:nvSpPr>
        <p:spPr>
          <a:xfrm>
            <a:off x="16668598" y="4450385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5000</a:t>
            </a:r>
            <a:endParaRPr lang="en-US" sz="1200" dirty="0"/>
          </a:p>
        </p:txBody>
      </p:sp>
      <p:sp>
        <p:nvSpPr>
          <p:cNvPr id="70" name="Text 49"/>
          <p:cNvSpPr txBox="1"/>
          <p:nvPr/>
        </p:nvSpPr>
        <p:spPr>
          <a:xfrm>
            <a:off x="17217238" y="4450385"/>
            <a:ext cx="31720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print(covid["영국"]) # KeyError!</a:t>
            </a:r>
            <a:endParaRPr lang="en-US" sz="1200" dirty="0"/>
          </a:p>
        </p:txBody>
      </p:sp>
      <p:sp>
        <p:nvSpPr>
          <p:cNvPr id="71" name="Text 50"/>
          <p:cNvSpPr txBox="1"/>
          <p:nvPr/>
        </p:nvSpPr>
        <p:spPr>
          <a:xfrm>
            <a:off x="20265847" y="4450385"/>
            <a:ext cx="1485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추가 및 수정</a:t>
            </a:r>
            <a:endParaRPr lang="en-US" sz="1200" dirty="0"/>
          </a:p>
        </p:txBody>
      </p:sp>
      <p:sp>
        <p:nvSpPr>
          <p:cNvPr id="72" name="Text 51"/>
          <p:cNvSpPr txBox="1"/>
          <p:nvPr/>
        </p:nvSpPr>
        <p:spPr>
          <a:xfrm>
            <a:off x="21667622" y="4450385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200" dirty="0"/>
          </a:p>
        </p:txBody>
      </p:sp>
      <p:sp>
        <p:nvSpPr>
          <p:cNvPr id="73" name="Text 52"/>
          <p:cNvSpPr txBox="1"/>
          <p:nvPr/>
        </p:nvSpPr>
        <p:spPr>
          <a:xfrm>
            <a:off x="22125737" y="44503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200" dirty="0"/>
          </a:p>
        </p:txBody>
      </p:sp>
      <p:sp>
        <p:nvSpPr>
          <p:cNvPr id="74" name="Text 53"/>
          <p:cNvSpPr txBox="1"/>
          <p:nvPr/>
        </p:nvSpPr>
        <p:spPr>
          <a:xfrm>
            <a:off x="22217177" y="4450385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"영국"</a:t>
            </a:r>
            <a:endParaRPr lang="en-US" sz="1200" dirty="0"/>
          </a:p>
        </p:txBody>
      </p:sp>
      <p:sp>
        <p:nvSpPr>
          <p:cNvPr id="75" name="Text 54"/>
          <p:cNvSpPr txBox="1"/>
          <p:nvPr/>
        </p:nvSpPr>
        <p:spPr>
          <a:xfrm>
            <a:off x="22704552" y="4450385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=</a:t>
            </a:r>
            <a:endParaRPr lang="en-US" sz="1200" dirty="0"/>
          </a:p>
        </p:txBody>
      </p:sp>
      <p:sp>
        <p:nvSpPr>
          <p:cNvPr id="76" name="Text 55"/>
          <p:cNvSpPr txBox="1"/>
          <p:nvPr/>
        </p:nvSpPr>
        <p:spPr>
          <a:xfrm>
            <a:off x="23070312" y="4450385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30000</a:t>
            </a:r>
            <a:endParaRPr lang="en-US" sz="1200" dirty="0"/>
          </a:p>
        </p:txBody>
      </p:sp>
      <p:sp>
        <p:nvSpPr>
          <p:cNvPr id="77" name="Text 56"/>
          <p:cNvSpPr txBox="1"/>
          <p:nvPr/>
        </p:nvSpPr>
        <p:spPr>
          <a:xfrm>
            <a:off x="23527512" y="4450385"/>
            <a:ext cx="13889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새로운 키 추가</a:t>
            </a:r>
            <a:endParaRPr lang="en-US" sz="1200" dirty="0"/>
          </a:p>
        </p:txBody>
      </p:sp>
      <p:sp>
        <p:nvSpPr>
          <p:cNvPr id="78" name="Text 57"/>
          <p:cNvSpPr txBox="1"/>
          <p:nvPr/>
        </p:nvSpPr>
        <p:spPr>
          <a:xfrm>
            <a:off x="24807672" y="4450385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200" dirty="0"/>
          </a:p>
        </p:txBody>
      </p:sp>
      <p:sp>
        <p:nvSpPr>
          <p:cNvPr id="79" name="Text 58"/>
          <p:cNvSpPr txBox="1"/>
          <p:nvPr/>
        </p:nvSpPr>
        <p:spPr>
          <a:xfrm>
            <a:off x="25265786" y="44503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200" dirty="0"/>
          </a:p>
        </p:txBody>
      </p:sp>
      <p:sp>
        <p:nvSpPr>
          <p:cNvPr id="80" name="Text 59"/>
          <p:cNvSpPr txBox="1"/>
          <p:nvPr/>
        </p:nvSpPr>
        <p:spPr>
          <a:xfrm>
            <a:off x="25357226" y="4450385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"한국"</a:t>
            </a:r>
            <a:endParaRPr lang="en-US" sz="1200" dirty="0"/>
          </a:p>
        </p:txBody>
      </p:sp>
      <p:sp>
        <p:nvSpPr>
          <p:cNvPr id="81" name="Text 60"/>
          <p:cNvSpPr txBox="1"/>
          <p:nvPr/>
        </p:nvSpPr>
        <p:spPr>
          <a:xfrm>
            <a:off x="25844602" y="4450385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=</a:t>
            </a:r>
            <a:endParaRPr lang="en-US" sz="1200" dirty="0"/>
          </a:p>
        </p:txBody>
      </p:sp>
      <p:sp>
        <p:nvSpPr>
          <p:cNvPr id="82" name="Text 61"/>
          <p:cNvSpPr txBox="1"/>
          <p:nvPr/>
        </p:nvSpPr>
        <p:spPr>
          <a:xfrm>
            <a:off x="26210362" y="4450385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5500</a:t>
            </a:r>
            <a:endParaRPr lang="en-US" sz="1200" dirty="0"/>
          </a:p>
        </p:txBody>
      </p:sp>
      <p:sp>
        <p:nvSpPr>
          <p:cNvPr id="83" name="Text 62"/>
          <p:cNvSpPr txBox="1"/>
          <p:nvPr/>
        </p:nvSpPr>
        <p:spPr>
          <a:xfrm>
            <a:off x="26576122" y="4450385"/>
            <a:ext cx="8101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값 수정</a:t>
            </a:r>
            <a:endParaRPr lang="en-US" sz="1200" dirty="0"/>
          </a:p>
        </p:txBody>
      </p:sp>
      <p:sp>
        <p:nvSpPr>
          <p:cNvPr id="84" name="Text 63"/>
          <p:cNvSpPr txBox="1"/>
          <p:nvPr/>
        </p:nvSpPr>
        <p:spPr>
          <a:xfrm>
            <a:off x="27307642" y="4450385"/>
            <a:ext cx="1485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4. 순회 (Loop)</a:t>
            </a:r>
            <a:endParaRPr lang="en-US" sz="1200" dirty="0"/>
          </a:p>
        </p:txBody>
      </p:sp>
      <p:sp>
        <p:nvSpPr>
          <p:cNvPr id="85" name="Text 64"/>
          <p:cNvSpPr txBox="1"/>
          <p:nvPr/>
        </p:nvSpPr>
        <p:spPr>
          <a:xfrm>
            <a:off x="28710331" y="4450385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</a:t>
            </a:r>
            <a:endParaRPr lang="en-US" sz="1200" dirty="0"/>
          </a:p>
        </p:txBody>
      </p:sp>
      <p:sp>
        <p:nvSpPr>
          <p:cNvPr id="86" name="Text 65"/>
          <p:cNvSpPr txBox="1"/>
          <p:nvPr/>
        </p:nvSpPr>
        <p:spPr>
          <a:xfrm>
            <a:off x="28984651" y="44503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</a:t>
            </a:r>
            <a:endParaRPr lang="en-US" sz="1200" dirty="0"/>
          </a:p>
        </p:txBody>
      </p:sp>
      <p:sp>
        <p:nvSpPr>
          <p:cNvPr id="87" name="Text 66"/>
          <p:cNvSpPr txBox="1"/>
          <p:nvPr/>
        </p:nvSpPr>
        <p:spPr>
          <a:xfrm>
            <a:off x="29076091" y="44503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88" name="Text 67"/>
          <p:cNvSpPr txBox="1"/>
          <p:nvPr/>
        </p:nvSpPr>
        <p:spPr>
          <a:xfrm>
            <a:off x="29258971" y="44503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</a:t>
            </a:r>
            <a:endParaRPr lang="en-US" sz="1200" dirty="0"/>
          </a:p>
        </p:txBody>
      </p:sp>
      <p:sp>
        <p:nvSpPr>
          <p:cNvPr id="89" name="Text 68"/>
          <p:cNvSpPr txBox="1"/>
          <p:nvPr/>
        </p:nvSpPr>
        <p:spPr>
          <a:xfrm>
            <a:off x="29350411" y="44503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endParaRPr lang="en-US" sz="1200" dirty="0"/>
          </a:p>
        </p:txBody>
      </p:sp>
      <p:sp>
        <p:nvSpPr>
          <p:cNvPr id="90" name="Text 69"/>
          <p:cNvSpPr txBox="1"/>
          <p:nvPr/>
        </p:nvSpPr>
        <p:spPr>
          <a:xfrm>
            <a:off x="29533291" y="4450385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200" dirty="0"/>
          </a:p>
        </p:txBody>
      </p:sp>
      <p:sp>
        <p:nvSpPr>
          <p:cNvPr id="91" name="Text 70"/>
          <p:cNvSpPr txBox="1"/>
          <p:nvPr/>
        </p:nvSpPr>
        <p:spPr>
          <a:xfrm>
            <a:off x="29990491" y="44503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200" dirty="0"/>
          </a:p>
        </p:txBody>
      </p:sp>
      <p:sp>
        <p:nvSpPr>
          <p:cNvPr id="92" name="Text 71"/>
          <p:cNvSpPr txBox="1"/>
          <p:nvPr/>
        </p:nvSpPr>
        <p:spPr>
          <a:xfrm>
            <a:off x="30081931" y="4450385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items</a:t>
            </a:r>
            <a:endParaRPr lang="en-US" sz="1200" dirty="0"/>
          </a:p>
        </p:txBody>
      </p:sp>
      <p:sp>
        <p:nvSpPr>
          <p:cNvPr id="93" name="Text 72"/>
          <p:cNvSpPr txBox="1"/>
          <p:nvPr/>
        </p:nvSpPr>
        <p:spPr>
          <a:xfrm>
            <a:off x="30540046" y="4450385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():</a:t>
            </a:r>
            <a:endParaRPr lang="en-US" sz="1200" dirty="0"/>
          </a:p>
        </p:txBody>
      </p:sp>
      <p:sp>
        <p:nvSpPr>
          <p:cNvPr id="94" name="Text 73"/>
          <p:cNvSpPr txBox="1"/>
          <p:nvPr/>
        </p:nvSpPr>
        <p:spPr>
          <a:xfrm>
            <a:off x="30905806" y="4450385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95" name="Text 74"/>
          <p:cNvSpPr txBox="1"/>
          <p:nvPr/>
        </p:nvSpPr>
        <p:spPr>
          <a:xfrm>
            <a:off x="31363006" y="44503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96" name="Text 75"/>
          <p:cNvSpPr txBox="1"/>
          <p:nvPr/>
        </p:nvSpPr>
        <p:spPr>
          <a:xfrm>
            <a:off x="31454446" y="4450385"/>
            <a:ext cx="1239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f"{k}: {v}명"</a:t>
            </a:r>
            <a:endParaRPr lang="en-US" sz="1200" dirty="0"/>
          </a:p>
        </p:txBody>
      </p:sp>
      <p:sp>
        <p:nvSpPr>
          <p:cNvPr id="97" name="Text 76"/>
          <p:cNvSpPr txBox="1"/>
          <p:nvPr/>
        </p:nvSpPr>
        <p:spPr>
          <a:xfrm>
            <a:off x="32612990" y="44503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pic>
        <p:nvPicPr>
          <p:cNvPr id="98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39" b="-39"/>
          <a:stretch/>
        </p:blipFill>
        <p:spPr>
          <a:xfrm>
            <a:off x="6715354" y="5122469"/>
            <a:ext cx="1520647" cy="629107"/>
          </a:xfrm>
          <a:prstGeom prst="rect">
            <a:avLst/>
          </a:prstGeom>
        </p:spPr>
      </p:pic>
      <p:sp>
        <p:nvSpPr>
          <p:cNvPr id="99" name="Text 77"/>
          <p:cNvSpPr txBox="1"/>
          <p:nvPr/>
        </p:nvSpPr>
        <p:spPr>
          <a:xfrm>
            <a:off x="6838798" y="5245913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Method</a:t>
            </a:r>
            <a:endParaRPr lang="en-US" sz="900" dirty="0"/>
          </a:p>
        </p:txBody>
      </p:sp>
      <p:sp>
        <p:nvSpPr>
          <p:cNvPr id="100" name="Text 78"/>
          <p:cNvSpPr txBox="1"/>
          <p:nvPr/>
        </p:nvSpPr>
        <p:spPr>
          <a:xfrm>
            <a:off x="6838798" y="5437022"/>
            <a:ext cx="1353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.keys()</a:t>
            </a:r>
            <a:endParaRPr lang="en-US" sz="1000" dirty="0"/>
          </a:p>
        </p:txBody>
      </p:sp>
      <p:pic>
        <p:nvPicPr>
          <p:cNvPr id="101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-44" b="-44"/>
          <a:stretch/>
        </p:blipFill>
        <p:spPr>
          <a:xfrm>
            <a:off x="8388706" y="5122469"/>
            <a:ext cx="1520647" cy="629107"/>
          </a:xfrm>
          <a:prstGeom prst="rect">
            <a:avLst/>
          </a:prstGeom>
        </p:spPr>
      </p:pic>
      <p:sp>
        <p:nvSpPr>
          <p:cNvPr id="102" name="Text 79"/>
          <p:cNvSpPr txBox="1"/>
          <p:nvPr/>
        </p:nvSpPr>
        <p:spPr>
          <a:xfrm>
            <a:off x="8512150" y="5245913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Method</a:t>
            </a:r>
            <a:endParaRPr lang="en-US" sz="900" dirty="0"/>
          </a:p>
        </p:txBody>
      </p:sp>
      <p:sp>
        <p:nvSpPr>
          <p:cNvPr id="103" name="Text 80"/>
          <p:cNvSpPr txBox="1"/>
          <p:nvPr/>
        </p:nvSpPr>
        <p:spPr>
          <a:xfrm>
            <a:off x="8512150" y="5437022"/>
            <a:ext cx="1353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.values()</a:t>
            </a:r>
            <a:endParaRPr lang="en-US" sz="1000" dirty="0"/>
          </a:p>
        </p:txBody>
      </p:sp>
      <p:pic>
        <p:nvPicPr>
          <p:cNvPr id="104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44" b="-44"/>
          <a:stretch/>
        </p:blipFill>
        <p:spPr>
          <a:xfrm>
            <a:off x="10061143" y="5122469"/>
            <a:ext cx="1520647" cy="629107"/>
          </a:xfrm>
          <a:prstGeom prst="rect">
            <a:avLst/>
          </a:prstGeom>
        </p:spPr>
      </p:pic>
      <p:sp>
        <p:nvSpPr>
          <p:cNvPr id="105" name="Text 81"/>
          <p:cNvSpPr txBox="1"/>
          <p:nvPr/>
        </p:nvSpPr>
        <p:spPr>
          <a:xfrm>
            <a:off x="10185502" y="5245913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Method</a:t>
            </a:r>
            <a:endParaRPr lang="en-US" sz="900" dirty="0"/>
          </a:p>
        </p:txBody>
      </p:sp>
      <p:sp>
        <p:nvSpPr>
          <p:cNvPr id="106" name="Text 82"/>
          <p:cNvSpPr txBox="1"/>
          <p:nvPr/>
        </p:nvSpPr>
        <p:spPr>
          <a:xfrm>
            <a:off x="10185502" y="5437022"/>
            <a:ext cx="1353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.items()</a:t>
            </a:r>
            <a:endParaRPr lang="en-US" sz="1000" dirty="0"/>
          </a:p>
        </p:txBody>
      </p:sp>
      <p:sp>
        <p:nvSpPr>
          <p:cNvPr id="107" name="Text 83"/>
          <p:cNvSpPr txBox="1"/>
          <p:nvPr/>
        </p:nvSpPr>
        <p:spPr>
          <a:xfrm>
            <a:off x="11805818" y="6400800"/>
            <a:ext cx="162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218895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381305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9633" y="457200"/>
            <a:ext cx="314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 }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18895" y="304495"/>
            <a:ext cx="28245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집합(Set) 핵심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1218895" y="724205"/>
            <a:ext cx="27998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없는 주머니 (Unordered Collection)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030" y="519379"/>
            <a:ext cx="1514246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73030" y="519379"/>
            <a:ext cx="151516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nums = {1, 2, 3}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0" y="1218895"/>
            <a:ext cx="6096305" cy="56391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10412" y="1681582"/>
            <a:ext cx="46670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 및 연산 </a:t>
            </a:r>
            <a:endParaRPr lang="en-US" sz="2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905" y="1709928"/>
            <a:ext cx="286207" cy="2862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09905" y="2176272"/>
            <a:ext cx="49533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집합은 </a:t>
            </a:r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중괄호 { }</a:t>
            </a:r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사용하며, 데이터의 </a:t>
            </a:r>
            <a:pPr algn="l" indent="0" marL="0">
              <a:buNone/>
            </a:pPr>
            <a:r>
              <a:rPr lang="en-US" sz="1500" b="1" dirty="0">
                <a:solidFill>
                  <a:srgbClr val="E24A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중복을 허용하지 않습니다.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95198" y="2948026"/>
            <a:ext cx="47813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자동 제거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(유일한 값만 유지)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647395" y="2986430"/>
            <a:ext cx="133502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5198" y="3290926"/>
            <a:ext cx="47813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 없음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(인덱싱/슬라이싱 </a:t>
            </a:r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647395" y="3329330"/>
            <a:ext cx="133502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95198" y="3633826"/>
            <a:ext cx="47813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수학적 집합 연산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가능 (교·합·차집합)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647395" y="3672230"/>
            <a:ext cx="133502" cy="152705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09905" y="4395521"/>
            <a:ext cx="4876495" cy="2000707"/>
          </a:xfrm>
          <a:prstGeom prst="roundRect">
            <a:avLst>
              <a:gd name="adj" fmla="val 26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790956" y="4634179"/>
            <a:ext cx="4515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Duplicate Removal Process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847649" y="4938674"/>
            <a:ext cx="2695651" cy="599846"/>
          </a:xfrm>
          <a:prstGeom prst="roundRect">
            <a:avLst>
              <a:gd name="adj" fmla="val 1935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07" y="5024628"/>
            <a:ext cx="428854" cy="42885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72007" y="5024628"/>
            <a:ext cx="428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93C5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1476756" y="5024628"/>
            <a:ext cx="428854" cy="428854"/>
          </a:xfrm>
          <a:prstGeom prst="roundRect">
            <a:avLst>
              <a:gd name="adj" fmla="val 37906"/>
            </a:avLst>
          </a:prstGeom>
          <a:solidFill>
            <a:srgbClr val="EFF6FF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1640434" y="5113325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1762049" y="4947818"/>
            <a:ext cx="171907" cy="17190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-3205" r="-3205" t="0" b="0"/>
          <a:stretch/>
        </p:blipFill>
        <p:spPr>
          <a:xfrm>
            <a:off x="1809598" y="4986223"/>
            <a:ext cx="75895" cy="95098"/>
          </a:xfrm>
          <a:prstGeom prst="rect">
            <a:avLst/>
          </a:prstGeom>
        </p:spPr>
      </p:pic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1505" y="5024628"/>
            <a:ext cx="428854" cy="42885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981505" y="5024628"/>
            <a:ext cx="428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93C5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hape 21"/>
          <p:cNvSpPr/>
          <p:nvPr/>
        </p:nvSpPr>
        <p:spPr>
          <a:xfrm>
            <a:off x="2486254" y="5024628"/>
            <a:ext cx="428854" cy="428854"/>
          </a:xfrm>
          <a:prstGeom prst="roundRect">
            <a:avLst>
              <a:gd name="adj" fmla="val 37906"/>
            </a:avLst>
          </a:prstGeom>
          <a:solidFill>
            <a:srgbClr val="EFF6FF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33" name="Text 22"/>
          <p:cNvSpPr txBox="1"/>
          <p:nvPr/>
        </p:nvSpPr>
        <p:spPr>
          <a:xfrm>
            <a:off x="2649931" y="5113325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Shape 23"/>
          <p:cNvSpPr/>
          <p:nvPr/>
        </p:nvSpPr>
        <p:spPr>
          <a:xfrm>
            <a:off x="2771546" y="4947818"/>
            <a:ext cx="171907" cy="17190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-3205" r="-3205" t="0" b="0"/>
          <a:stretch/>
        </p:blipFill>
        <p:spPr>
          <a:xfrm>
            <a:off x="2819095" y="4986223"/>
            <a:ext cx="75895" cy="95098"/>
          </a:xfrm>
          <a:prstGeom prst="rect">
            <a:avLst/>
          </a:prstGeom>
        </p:spPr>
      </p:pic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91002" y="5024628"/>
            <a:ext cx="428854" cy="428854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2991002" y="5024628"/>
            <a:ext cx="428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93C5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13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rcRect l="-57" r="-57" t="0" b="0"/>
          <a:stretch/>
        </p:blipFill>
        <p:spPr>
          <a:xfrm>
            <a:off x="3543300" y="5134356"/>
            <a:ext cx="200254" cy="228600"/>
          </a:xfrm>
          <a:prstGeom prst="rect">
            <a:avLst/>
          </a:prstGeom>
        </p:spPr>
      </p:pic>
      <p:sp>
        <p:nvSpPr>
          <p:cNvPr id="39" name="Shape 25"/>
          <p:cNvSpPr/>
          <p:nvPr/>
        </p:nvSpPr>
        <p:spPr>
          <a:xfrm>
            <a:off x="3743554" y="4938674"/>
            <a:ext cx="1990649" cy="599846"/>
          </a:xfrm>
          <a:prstGeom prst="roundRect">
            <a:avLst>
              <a:gd name="adj" fmla="val 19357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26"/>
          <p:cNvSpPr txBox="1"/>
          <p:nvPr/>
        </p:nvSpPr>
        <p:spPr>
          <a:xfrm>
            <a:off x="3829507" y="5024628"/>
            <a:ext cx="1335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</a:t>
            </a:r>
            <a:endParaRPr lang="en-US" sz="180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15130" y="5024628"/>
            <a:ext cx="428854" cy="428854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015130" y="5024628"/>
            <a:ext cx="428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6EE7B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1300" dirty="0"/>
          </a:p>
        </p:txBody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9879" y="5024628"/>
            <a:ext cx="428854" cy="428854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4519879" y="5024628"/>
            <a:ext cx="428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6EE7B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1300" dirty="0"/>
          </a:p>
        </p:txBody>
      </p:sp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24628" y="5024628"/>
            <a:ext cx="428854" cy="428854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5024628" y="5024628"/>
            <a:ext cx="428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6EE7B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Text 30"/>
          <p:cNvSpPr txBox="1"/>
          <p:nvPr/>
        </p:nvSpPr>
        <p:spPr>
          <a:xfrm>
            <a:off x="5567782" y="5024628"/>
            <a:ext cx="1335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}</a:t>
            </a:r>
            <a:endParaRPr lang="en-US" sz="1800" dirty="0"/>
          </a:p>
        </p:txBody>
      </p:sp>
      <p:sp>
        <p:nvSpPr>
          <p:cNvPr id="48" name="Shape 31"/>
          <p:cNvSpPr/>
          <p:nvPr/>
        </p:nvSpPr>
        <p:spPr>
          <a:xfrm>
            <a:off x="847649" y="5767121"/>
            <a:ext cx="44010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9" name="Shape 32"/>
          <p:cNvSpPr/>
          <p:nvPr/>
        </p:nvSpPr>
        <p:spPr>
          <a:xfrm>
            <a:off x="1761134" y="5928970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3"/>
          <p:cNvSpPr txBox="1"/>
          <p:nvPr/>
        </p:nvSpPr>
        <p:spPr>
          <a:xfrm>
            <a:off x="2065630" y="5948172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00" dirty="0"/>
          </a:p>
        </p:txBody>
      </p:sp>
      <p:sp>
        <p:nvSpPr>
          <p:cNvPr id="51" name="Text 34"/>
          <p:cNvSpPr txBox="1"/>
          <p:nvPr/>
        </p:nvSpPr>
        <p:spPr>
          <a:xfrm>
            <a:off x="2532888" y="5948172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A&amp;B</a:t>
            </a:r>
            <a:endParaRPr lang="en-US" sz="1000" dirty="0"/>
          </a:p>
        </p:txBody>
      </p:sp>
      <p:sp>
        <p:nvSpPr>
          <p:cNvPr id="52" name="Text 35"/>
          <p:cNvSpPr txBox="1"/>
          <p:nvPr/>
        </p:nvSpPr>
        <p:spPr>
          <a:xfrm>
            <a:off x="2925166" y="5948172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A|B</a:t>
            </a:r>
            <a:endParaRPr lang="en-US" sz="1000" dirty="0"/>
          </a:p>
        </p:txBody>
      </p:sp>
      <p:sp>
        <p:nvSpPr>
          <p:cNvPr id="53" name="Text 36"/>
          <p:cNvSpPr txBox="1"/>
          <p:nvPr/>
        </p:nvSpPr>
        <p:spPr>
          <a:xfrm>
            <a:off x="3317443" y="5948172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A-B</a:t>
            </a:r>
            <a:endParaRPr lang="en-US" sz="1000" dirty="0"/>
          </a:p>
        </p:txBody>
      </p:sp>
      <p:sp>
        <p:nvSpPr>
          <p:cNvPr id="54" name="Shape 37"/>
          <p:cNvSpPr/>
          <p:nvPr/>
        </p:nvSpPr>
        <p:spPr>
          <a:xfrm>
            <a:off x="3939235" y="5928970"/>
            <a:ext cx="228600" cy="228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38"/>
          <p:cNvSpPr txBox="1"/>
          <p:nvPr/>
        </p:nvSpPr>
        <p:spPr>
          <a:xfrm>
            <a:off x="4243730" y="5948172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00" dirty="0"/>
          </a:p>
        </p:txBody>
      </p:sp>
      <p:sp>
        <p:nvSpPr>
          <p:cNvPr id="56" name="Shape 39"/>
          <p:cNvSpPr/>
          <p:nvPr/>
        </p:nvSpPr>
        <p:spPr>
          <a:xfrm>
            <a:off x="6096305" y="1218895"/>
            <a:ext cx="6096305" cy="56391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7" name="Shape 40"/>
          <p:cNvSpPr/>
          <p:nvPr/>
        </p:nvSpPr>
        <p:spPr>
          <a:xfrm>
            <a:off x="6096305" y="1218895"/>
            <a:ext cx="9144" cy="56391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8" name="Text 41"/>
          <p:cNvSpPr txBox="1"/>
          <p:nvPr/>
        </p:nvSpPr>
        <p:spPr>
          <a:xfrm>
            <a:off x="7077456" y="2820924"/>
            <a:ext cx="101681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예제</a:t>
            </a:r>
            <a:endParaRPr lang="en-US" sz="180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rcRect l="-80" r="-80" t="0" b="0"/>
          <a:stretch/>
        </p:blipFill>
        <p:spPr>
          <a:xfrm>
            <a:off x="6715354" y="2869387"/>
            <a:ext cx="286207" cy="228600"/>
          </a:xfrm>
          <a:prstGeom prst="rect">
            <a:avLst/>
          </a:prstGeom>
        </p:spPr>
      </p:pic>
      <p:sp>
        <p:nvSpPr>
          <p:cNvPr id="60" name="Text 42"/>
          <p:cNvSpPr txBox="1"/>
          <p:nvPr/>
        </p:nvSpPr>
        <p:spPr>
          <a:xfrm>
            <a:off x="10782605" y="2878531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 3.x</a:t>
            </a:r>
            <a:endParaRPr lang="en-US" sz="1000" dirty="0"/>
          </a:p>
        </p:txBody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7" b="-17"/>
          <a:stretch/>
        </p:blipFill>
        <p:spPr>
          <a:xfrm>
            <a:off x="6715354" y="3278124"/>
            <a:ext cx="4867351" cy="1044245"/>
          </a:xfrm>
          <a:prstGeom prst="rect">
            <a:avLst/>
          </a:prstGeom>
        </p:spPr>
      </p:pic>
      <p:sp>
        <p:nvSpPr>
          <p:cNvPr id="62" name="Shape 43"/>
          <p:cNvSpPr/>
          <p:nvPr/>
        </p:nvSpPr>
        <p:spPr>
          <a:xfrm>
            <a:off x="6715354" y="3278124"/>
            <a:ext cx="4867351" cy="342900"/>
          </a:xfrm>
          <a:prstGeom prst="roundRect">
            <a:avLst>
              <a:gd name="adj" fmla="val 88889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44"/>
          <p:cNvSpPr/>
          <p:nvPr/>
        </p:nvSpPr>
        <p:spPr>
          <a:xfrm>
            <a:off x="6867144" y="3392424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45"/>
          <p:cNvSpPr/>
          <p:nvPr/>
        </p:nvSpPr>
        <p:spPr>
          <a:xfrm>
            <a:off x="7058254" y="3392424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46"/>
          <p:cNvSpPr/>
          <p:nvPr/>
        </p:nvSpPr>
        <p:spPr>
          <a:xfrm>
            <a:off x="7248449" y="3392424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47"/>
          <p:cNvSpPr txBox="1"/>
          <p:nvPr/>
        </p:nvSpPr>
        <p:spPr>
          <a:xfrm>
            <a:off x="6943954" y="3878885"/>
            <a:ext cx="238749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1. 집합 생성 (중복 제거됨)</a:t>
            </a:r>
            <a:endParaRPr lang="en-US" sz="1200" dirty="0"/>
          </a:p>
        </p:txBody>
      </p:sp>
      <p:sp>
        <p:nvSpPr>
          <p:cNvPr id="67" name="Text 48"/>
          <p:cNvSpPr txBox="1"/>
          <p:nvPr/>
        </p:nvSpPr>
        <p:spPr>
          <a:xfrm>
            <a:off x="9229954" y="3878885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nums</a:t>
            </a:r>
            <a:endParaRPr lang="en-US" sz="1200" dirty="0"/>
          </a:p>
        </p:txBody>
      </p:sp>
      <p:sp>
        <p:nvSpPr>
          <p:cNvPr id="68" name="Text 49"/>
          <p:cNvSpPr txBox="1"/>
          <p:nvPr/>
        </p:nvSpPr>
        <p:spPr>
          <a:xfrm>
            <a:off x="9595714" y="3878885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{</a:t>
            </a:r>
            <a:endParaRPr lang="en-US" sz="1200" dirty="0"/>
          </a:p>
        </p:txBody>
      </p:sp>
      <p:sp>
        <p:nvSpPr>
          <p:cNvPr id="69" name="Text 50"/>
          <p:cNvSpPr txBox="1"/>
          <p:nvPr/>
        </p:nvSpPr>
        <p:spPr>
          <a:xfrm>
            <a:off x="9961474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200" dirty="0"/>
          </a:p>
        </p:txBody>
      </p:sp>
      <p:sp>
        <p:nvSpPr>
          <p:cNvPr id="70" name="Text 51"/>
          <p:cNvSpPr txBox="1"/>
          <p:nvPr/>
        </p:nvSpPr>
        <p:spPr>
          <a:xfrm>
            <a:off x="10052914" y="38788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71" name="Text 52"/>
          <p:cNvSpPr txBox="1"/>
          <p:nvPr/>
        </p:nvSpPr>
        <p:spPr>
          <a:xfrm>
            <a:off x="10235794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</a:t>
            </a:r>
            <a:endParaRPr lang="en-US" sz="1200" dirty="0"/>
          </a:p>
        </p:txBody>
      </p:sp>
      <p:sp>
        <p:nvSpPr>
          <p:cNvPr id="72" name="Text 53"/>
          <p:cNvSpPr txBox="1"/>
          <p:nvPr/>
        </p:nvSpPr>
        <p:spPr>
          <a:xfrm>
            <a:off x="10327234" y="38788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73" name="Text 54"/>
          <p:cNvSpPr txBox="1"/>
          <p:nvPr/>
        </p:nvSpPr>
        <p:spPr>
          <a:xfrm>
            <a:off x="10510114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</a:t>
            </a:r>
            <a:endParaRPr lang="en-US" sz="1200" dirty="0"/>
          </a:p>
        </p:txBody>
      </p:sp>
      <p:sp>
        <p:nvSpPr>
          <p:cNvPr id="74" name="Text 55"/>
          <p:cNvSpPr txBox="1"/>
          <p:nvPr/>
        </p:nvSpPr>
        <p:spPr>
          <a:xfrm>
            <a:off x="10601554" y="38788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75" name="Text 56"/>
          <p:cNvSpPr txBox="1"/>
          <p:nvPr/>
        </p:nvSpPr>
        <p:spPr>
          <a:xfrm>
            <a:off x="10784434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</a:t>
            </a:r>
            <a:endParaRPr lang="en-US" sz="1200" dirty="0"/>
          </a:p>
        </p:txBody>
      </p:sp>
      <p:sp>
        <p:nvSpPr>
          <p:cNvPr id="76" name="Text 57"/>
          <p:cNvSpPr txBox="1"/>
          <p:nvPr/>
        </p:nvSpPr>
        <p:spPr>
          <a:xfrm>
            <a:off x="10876788" y="38788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77" name="Text 58"/>
          <p:cNvSpPr txBox="1"/>
          <p:nvPr/>
        </p:nvSpPr>
        <p:spPr>
          <a:xfrm>
            <a:off x="11059668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</a:t>
            </a:r>
            <a:endParaRPr lang="en-US" sz="1200" dirty="0"/>
          </a:p>
        </p:txBody>
      </p:sp>
      <p:sp>
        <p:nvSpPr>
          <p:cNvPr id="78" name="Text 59"/>
          <p:cNvSpPr txBox="1"/>
          <p:nvPr/>
        </p:nvSpPr>
        <p:spPr>
          <a:xfrm>
            <a:off x="11151108" y="38788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200" dirty="0"/>
          </a:p>
        </p:txBody>
      </p:sp>
      <p:sp>
        <p:nvSpPr>
          <p:cNvPr id="79" name="Text 60"/>
          <p:cNvSpPr txBox="1"/>
          <p:nvPr/>
        </p:nvSpPr>
        <p:spPr>
          <a:xfrm>
            <a:off x="11333988" y="3878885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80" name="Text 61"/>
          <p:cNvSpPr txBox="1"/>
          <p:nvPr/>
        </p:nvSpPr>
        <p:spPr>
          <a:xfrm>
            <a:off x="11791188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81" name="Text 62"/>
          <p:cNvSpPr txBox="1"/>
          <p:nvPr/>
        </p:nvSpPr>
        <p:spPr>
          <a:xfrm>
            <a:off x="11882628" y="3878885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nums</a:t>
            </a:r>
            <a:endParaRPr lang="en-US" sz="1200" dirty="0"/>
          </a:p>
        </p:txBody>
      </p:sp>
      <p:sp>
        <p:nvSpPr>
          <p:cNvPr id="82" name="Text 63"/>
          <p:cNvSpPr txBox="1"/>
          <p:nvPr/>
        </p:nvSpPr>
        <p:spPr>
          <a:xfrm>
            <a:off x="12248388" y="38788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83" name="Text 64"/>
          <p:cNvSpPr txBox="1"/>
          <p:nvPr/>
        </p:nvSpPr>
        <p:spPr>
          <a:xfrm>
            <a:off x="12431268" y="3878885"/>
            <a:ext cx="1086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{1, 2, 3}</a:t>
            </a:r>
            <a:endParaRPr lang="en-US" sz="1200" dirty="0"/>
          </a:p>
        </p:txBody>
      </p:sp>
      <p:sp>
        <p:nvSpPr>
          <p:cNvPr id="84" name="Text 65"/>
          <p:cNvSpPr txBox="1"/>
          <p:nvPr/>
        </p:nvSpPr>
        <p:spPr>
          <a:xfrm>
            <a:off x="13437108" y="3878885"/>
            <a:ext cx="282366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집합 연산 (Set Operations)</a:t>
            </a:r>
            <a:endParaRPr lang="en-US" sz="1200" dirty="0"/>
          </a:p>
        </p:txBody>
      </p:sp>
      <p:sp>
        <p:nvSpPr>
          <p:cNvPr id="85" name="Text 66"/>
          <p:cNvSpPr txBox="1"/>
          <p:nvPr/>
        </p:nvSpPr>
        <p:spPr>
          <a:xfrm>
            <a:off x="16150133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</a:t>
            </a:r>
            <a:endParaRPr lang="en-US" sz="1200" dirty="0"/>
          </a:p>
        </p:txBody>
      </p:sp>
      <p:sp>
        <p:nvSpPr>
          <p:cNvPr id="86" name="Text 67"/>
          <p:cNvSpPr txBox="1"/>
          <p:nvPr/>
        </p:nvSpPr>
        <p:spPr>
          <a:xfrm>
            <a:off x="16242487" y="3878885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{</a:t>
            </a:r>
            <a:endParaRPr lang="en-US" sz="1200" dirty="0"/>
          </a:p>
        </p:txBody>
      </p:sp>
      <p:sp>
        <p:nvSpPr>
          <p:cNvPr id="87" name="Text 68"/>
          <p:cNvSpPr txBox="1"/>
          <p:nvPr/>
        </p:nvSpPr>
        <p:spPr>
          <a:xfrm>
            <a:off x="16608247" y="3878885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"한국"</a:t>
            </a:r>
            <a:endParaRPr lang="en-US" sz="1200" dirty="0"/>
          </a:p>
        </p:txBody>
      </p:sp>
      <p:sp>
        <p:nvSpPr>
          <p:cNvPr id="88" name="Text 69"/>
          <p:cNvSpPr txBox="1"/>
          <p:nvPr/>
        </p:nvSpPr>
        <p:spPr>
          <a:xfrm>
            <a:off x="17095622" y="38788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89" name="Text 70"/>
          <p:cNvSpPr txBox="1"/>
          <p:nvPr/>
        </p:nvSpPr>
        <p:spPr>
          <a:xfrm>
            <a:off x="17278502" y="3878885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"미국"</a:t>
            </a:r>
            <a:endParaRPr lang="en-US" sz="1200" dirty="0"/>
          </a:p>
        </p:txBody>
      </p:sp>
      <p:sp>
        <p:nvSpPr>
          <p:cNvPr id="90" name="Text 71"/>
          <p:cNvSpPr txBox="1"/>
          <p:nvPr/>
        </p:nvSpPr>
        <p:spPr>
          <a:xfrm>
            <a:off x="17765878" y="38788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200" dirty="0"/>
          </a:p>
        </p:txBody>
      </p:sp>
      <p:sp>
        <p:nvSpPr>
          <p:cNvPr id="91" name="Text 72"/>
          <p:cNvSpPr txBox="1"/>
          <p:nvPr/>
        </p:nvSpPr>
        <p:spPr>
          <a:xfrm>
            <a:off x="17948758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</a:t>
            </a:r>
            <a:endParaRPr lang="en-US" sz="1200" dirty="0"/>
          </a:p>
        </p:txBody>
      </p:sp>
      <p:sp>
        <p:nvSpPr>
          <p:cNvPr id="92" name="Text 73"/>
          <p:cNvSpPr txBox="1"/>
          <p:nvPr/>
        </p:nvSpPr>
        <p:spPr>
          <a:xfrm>
            <a:off x="18040198" y="3878885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{</a:t>
            </a:r>
            <a:endParaRPr lang="en-US" sz="1200" dirty="0"/>
          </a:p>
        </p:txBody>
      </p:sp>
      <p:sp>
        <p:nvSpPr>
          <p:cNvPr id="93" name="Text 74"/>
          <p:cNvSpPr txBox="1"/>
          <p:nvPr/>
        </p:nvSpPr>
        <p:spPr>
          <a:xfrm>
            <a:off x="18406872" y="3878885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"미국"</a:t>
            </a:r>
            <a:endParaRPr lang="en-US" sz="1200" dirty="0"/>
          </a:p>
        </p:txBody>
      </p:sp>
      <p:sp>
        <p:nvSpPr>
          <p:cNvPr id="94" name="Text 75"/>
          <p:cNvSpPr txBox="1"/>
          <p:nvPr/>
        </p:nvSpPr>
        <p:spPr>
          <a:xfrm>
            <a:off x="18894247" y="38788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95" name="Text 76"/>
          <p:cNvSpPr txBox="1"/>
          <p:nvPr/>
        </p:nvSpPr>
        <p:spPr>
          <a:xfrm>
            <a:off x="19077127" y="3878885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"영국"</a:t>
            </a:r>
            <a:endParaRPr lang="en-US" sz="1200" dirty="0"/>
          </a:p>
        </p:txBody>
      </p:sp>
      <p:sp>
        <p:nvSpPr>
          <p:cNvPr id="96" name="Text 77"/>
          <p:cNvSpPr txBox="1"/>
          <p:nvPr/>
        </p:nvSpPr>
        <p:spPr>
          <a:xfrm>
            <a:off x="19564502" y="38788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200" dirty="0"/>
          </a:p>
        </p:txBody>
      </p:sp>
      <p:sp>
        <p:nvSpPr>
          <p:cNvPr id="97" name="Text 78"/>
          <p:cNvSpPr txBox="1"/>
          <p:nvPr/>
        </p:nvSpPr>
        <p:spPr>
          <a:xfrm>
            <a:off x="19747382" y="3878885"/>
            <a:ext cx="21003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교집합 (Intersection)</a:t>
            </a:r>
            <a:endParaRPr lang="en-US" sz="1200" dirty="0"/>
          </a:p>
        </p:txBody>
      </p:sp>
      <p:sp>
        <p:nvSpPr>
          <p:cNvPr id="98" name="Text 79"/>
          <p:cNvSpPr txBox="1"/>
          <p:nvPr/>
        </p:nvSpPr>
        <p:spPr>
          <a:xfrm>
            <a:off x="21759977" y="3878885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99" name="Text 80"/>
          <p:cNvSpPr txBox="1"/>
          <p:nvPr/>
        </p:nvSpPr>
        <p:spPr>
          <a:xfrm>
            <a:off x="22217177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100" name="Text 81"/>
          <p:cNvSpPr txBox="1"/>
          <p:nvPr/>
        </p:nvSpPr>
        <p:spPr>
          <a:xfrm>
            <a:off x="22308617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</a:t>
            </a:r>
            <a:endParaRPr lang="en-US" sz="1200" dirty="0"/>
          </a:p>
        </p:txBody>
      </p:sp>
      <p:sp>
        <p:nvSpPr>
          <p:cNvPr id="101" name="Text 82"/>
          <p:cNvSpPr txBox="1"/>
          <p:nvPr/>
        </p:nvSpPr>
        <p:spPr>
          <a:xfrm>
            <a:off x="22400057" y="3878885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&amp;</a:t>
            </a:r>
            <a:endParaRPr lang="en-US" sz="1200" dirty="0"/>
          </a:p>
        </p:txBody>
      </p:sp>
      <p:sp>
        <p:nvSpPr>
          <p:cNvPr id="102" name="Text 83"/>
          <p:cNvSpPr txBox="1"/>
          <p:nvPr/>
        </p:nvSpPr>
        <p:spPr>
          <a:xfrm>
            <a:off x="22674377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</a:t>
            </a:r>
            <a:endParaRPr lang="en-US" sz="1200" dirty="0"/>
          </a:p>
        </p:txBody>
      </p:sp>
      <p:sp>
        <p:nvSpPr>
          <p:cNvPr id="103" name="Text 84"/>
          <p:cNvSpPr txBox="1"/>
          <p:nvPr/>
        </p:nvSpPr>
        <p:spPr>
          <a:xfrm>
            <a:off x="22765817" y="38788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104" name="Text 85"/>
          <p:cNvSpPr txBox="1"/>
          <p:nvPr/>
        </p:nvSpPr>
        <p:spPr>
          <a:xfrm>
            <a:off x="22948697" y="3878885"/>
            <a:ext cx="9336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{'미국'}</a:t>
            </a:r>
            <a:endParaRPr lang="en-US" sz="1200" dirty="0"/>
          </a:p>
        </p:txBody>
      </p:sp>
      <p:sp>
        <p:nvSpPr>
          <p:cNvPr id="105" name="Text 86"/>
          <p:cNvSpPr txBox="1"/>
          <p:nvPr/>
        </p:nvSpPr>
        <p:spPr>
          <a:xfrm>
            <a:off x="23802746" y="3878885"/>
            <a:ext cx="1457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합집합 (Union)</a:t>
            </a:r>
            <a:endParaRPr lang="en-US" sz="1200" dirty="0"/>
          </a:p>
        </p:txBody>
      </p:sp>
      <p:sp>
        <p:nvSpPr>
          <p:cNvPr id="106" name="Text 87"/>
          <p:cNvSpPr txBox="1"/>
          <p:nvPr/>
        </p:nvSpPr>
        <p:spPr>
          <a:xfrm>
            <a:off x="25174346" y="3878885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107" name="Text 88"/>
          <p:cNvSpPr txBox="1"/>
          <p:nvPr/>
        </p:nvSpPr>
        <p:spPr>
          <a:xfrm>
            <a:off x="25631546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108" name="Text 89"/>
          <p:cNvSpPr txBox="1"/>
          <p:nvPr/>
        </p:nvSpPr>
        <p:spPr>
          <a:xfrm>
            <a:off x="25722986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</a:t>
            </a:r>
            <a:endParaRPr lang="en-US" sz="1200" dirty="0"/>
          </a:p>
        </p:txBody>
      </p:sp>
      <p:sp>
        <p:nvSpPr>
          <p:cNvPr id="109" name="Text 90"/>
          <p:cNvSpPr txBox="1"/>
          <p:nvPr/>
        </p:nvSpPr>
        <p:spPr>
          <a:xfrm>
            <a:off x="25814426" y="3878885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200" dirty="0"/>
          </a:p>
        </p:txBody>
      </p:sp>
      <p:sp>
        <p:nvSpPr>
          <p:cNvPr id="110" name="Text 91"/>
          <p:cNvSpPr txBox="1"/>
          <p:nvPr/>
        </p:nvSpPr>
        <p:spPr>
          <a:xfrm>
            <a:off x="26088746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</a:t>
            </a:r>
            <a:endParaRPr lang="en-US" sz="1200" dirty="0"/>
          </a:p>
        </p:txBody>
      </p:sp>
      <p:sp>
        <p:nvSpPr>
          <p:cNvPr id="111" name="Text 92"/>
          <p:cNvSpPr txBox="1"/>
          <p:nvPr/>
        </p:nvSpPr>
        <p:spPr>
          <a:xfrm>
            <a:off x="26181101" y="38788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112" name="Text 93"/>
          <p:cNvSpPr txBox="1"/>
          <p:nvPr/>
        </p:nvSpPr>
        <p:spPr>
          <a:xfrm>
            <a:off x="26363981" y="3878885"/>
            <a:ext cx="228874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{'한국', '미국', '영국'}</a:t>
            </a:r>
            <a:endParaRPr lang="en-US" sz="1200" dirty="0"/>
          </a:p>
        </p:txBody>
      </p:sp>
      <p:sp>
        <p:nvSpPr>
          <p:cNvPr id="113" name="Text 94"/>
          <p:cNvSpPr txBox="1"/>
          <p:nvPr/>
        </p:nvSpPr>
        <p:spPr>
          <a:xfrm>
            <a:off x="28558541" y="3878885"/>
            <a:ext cx="1914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차집합 (Difference)</a:t>
            </a:r>
            <a:endParaRPr lang="en-US" sz="1200" dirty="0"/>
          </a:p>
        </p:txBody>
      </p:sp>
      <p:sp>
        <p:nvSpPr>
          <p:cNvPr id="114" name="Text 95"/>
          <p:cNvSpPr txBox="1"/>
          <p:nvPr/>
        </p:nvSpPr>
        <p:spPr>
          <a:xfrm>
            <a:off x="30387341" y="3878885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115" name="Text 96"/>
          <p:cNvSpPr txBox="1"/>
          <p:nvPr/>
        </p:nvSpPr>
        <p:spPr>
          <a:xfrm>
            <a:off x="30844541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116" name="Text 97"/>
          <p:cNvSpPr txBox="1"/>
          <p:nvPr/>
        </p:nvSpPr>
        <p:spPr>
          <a:xfrm>
            <a:off x="30935981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</a:t>
            </a:r>
            <a:endParaRPr lang="en-US" sz="1200" dirty="0"/>
          </a:p>
        </p:txBody>
      </p:sp>
      <p:sp>
        <p:nvSpPr>
          <p:cNvPr id="117" name="Text 98"/>
          <p:cNvSpPr txBox="1"/>
          <p:nvPr/>
        </p:nvSpPr>
        <p:spPr>
          <a:xfrm>
            <a:off x="31027421" y="3878885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endParaRPr lang="en-US" sz="1200" dirty="0"/>
          </a:p>
        </p:txBody>
      </p:sp>
      <p:sp>
        <p:nvSpPr>
          <p:cNvPr id="118" name="Text 99"/>
          <p:cNvSpPr txBox="1"/>
          <p:nvPr/>
        </p:nvSpPr>
        <p:spPr>
          <a:xfrm>
            <a:off x="31302655" y="3878885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</a:t>
            </a:r>
            <a:endParaRPr lang="en-US" sz="1200" dirty="0"/>
          </a:p>
        </p:txBody>
      </p:sp>
      <p:sp>
        <p:nvSpPr>
          <p:cNvPr id="119" name="Text 100"/>
          <p:cNvSpPr txBox="1"/>
          <p:nvPr/>
        </p:nvSpPr>
        <p:spPr>
          <a:xfrm>
            <a:off x="31394095" y="3878885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120" name="Text 101"/>
          <p:cNvSpPr txBox="1"/>
          <p:nvPr/>
        </p:nvSpPr>
        <p:spPr>
          <a:xfrm>
            <a:off x="31576975" y="3878885"/>
            <a:ext cx="9336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{'한국'}</a:t>
            </a:r>
            <a:endParaRPr lang="en-US" sz="1200" dirty="0"/>
          </a:p>
        </p:txBody>
      </p:sp>
      <p:pic>
        <p:nvPicPr>
          <p:cNvPr id="121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13" b="-13"/>
          <a:stretch/>
        </p:blipFill>
        <p:spPr>
          <a:xfrm>
            <a:off x="6715354" y="4550969"/>
            <a:ext cx="1520647" cy="705002"/>
          </a:xfrm>
          <a:prstGeom prst="rect">
            <a:avLst/>
          </a:prstGeom>
        </p:spPr>
      </p:pic>
      <p:sp>
        <p:nvSpPr>
          <p:cNvPr id="122" name="Text 102"/>
          <p:cNvSpPr txBox="1"/>
          <p:nvPr/>
        </p:nvSpPr>
        <p:spPr>
          <a:xfrm>
            <a:off x="7317943" y="4674413"/>
            <a:ext cx="400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교집합</a:t>
            </a:r>
            <a:endParaRPr lang="en-US" sz="900" dirty="0"/>
          </a:p>
        </p:txBody>
      </p:sp>
      <p:sp>
        <p:nvSpPr>
          <p:cNvPr id="123" name="Text 103"/>
          <p:cNvSpPr txBox="1"/>
          <p:nvPr/>
        </p:nvSpPr>
        <p:spPr>
          <a:xfrm>
            <a:off x="7418527" y="4865522"/>
            <a:ext cx="2002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&amp;</a:t>
            </a:r>
            <a:endParaRPr lang="en-US" sz="1500" dirty="0"/>
          </a:p>
        </p:txBody>
      </p:sp>
      <p:pic>
        <p:nvPicPr>
          <p:cNvPr id="124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18" b="-18"/>
          <a:stretch/>
        </p:blipFill>
        <p:spPr>
          <a:xfrm>
            <a:off x="8388706" y="4550969"/>
            <a:ext cx="1520647" cy="705002"/>
          </a:xfrm>
          <a:prstGeom prst="rect">
            <a:avLst/>
          </a:prstGeom>
        </p:spPr>
      </p:pic>
      <p:sp>
        <p:nvSpPr>
          <p:cNvPr id="125" name="Text 104"/>
          <p:cNvSpPr txBox="1"/>
          <p:nvPr/>
        </p:nvSpPr>
        <p:spPr>
          <a:xfrm>
            <a:off x="8991295" y="4674413"/>
            <a:ext cx="400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합집합</a:t>
            </a:r>
            <a:endParaRPr lang="en-US" sz="900" dirty="0"/>
          </a:p>
        </p:txBody>
      </p:sp>
      <p:sp>
        <p:nvSpPr>
          <p:cNvPr id="126" name="Text 105"/>
          <p:cNvSpPr txBox="1"/>
          <p:nvPr/>
        </p:nvSpPr>
        <p:spPr>
          <a:xfrm>
            <a:off x="9091879" y="4865522"/>
            <a:ext cx="2002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500" dirty="0"/>
          </a:p>
        </p:txBody>
      </p:sp>
      <p:pic>
        <p:nvPicPr>
          <p:cNvPr id="127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18" b="-18"/>
          <a:stretch/>
        </p:blipFill>
        <p:spPr>
          <a:xfrm>
            <a:off x="10061143" y="4550969"/>
            <a:ext cx="1520647" cy="705002"/>
          </a:xfrm>
          <a:prstGeom prst="rect">
            <a:avLst/>
          </a:prstGeom>
        </p:spPr>
      </p:pic>
      <p:sp>
        <p:nvSpPr>
          <p:cNvPr id="128" name="Text 106"/>
          <p:cNvSpPr txBox="1"/>
          <p:nvPr/>
        </p:nvSpPr>
        <p:spPr>
          <a:xfrm>
            <a:off x="10663733" y="4674413"/>
            <a:ext cx="400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차집합</a:t>
            </a:r>
            <a:endParaRPr lang="en-US" sz="900" dirty="0"/>
          </a:p>
        </p:txBody>
      </p:sp>
      <p:sp>
        <p:nvSpPr>
          <p:cNvPr id="129" name="Text 107"/>
          <p:cNvSpPr txBox="1"/>
          <p:nvPr/>
        </p:nvSpPr>
        <p:spPr>
          <a:xfrm>
            <a:off x="10764317" y="4865522"/>
            <a:ext cx="2002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endParaRPr lang="en-US" sz="1500" dirty="0"/>
          </a:p>
        </p:txBody>
      </p:sp>
      <p:sp>
        <p:nvSpPr>
          <p:cNvPr id="130" name="Text 108"/>
          <p:cNvSpPr txBox="1"/>
          <p:nvPr/>
        </p:nvSpPr>
        <p:spPr>
          <a:xfrm>
            <a:off x="11794846" y="6400800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218895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304495"/>
            <a:ext cx="463692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불리언(Boolean) &amp; 연산자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24205"/>
            <a:ext cx="4010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판단의 기초가 되는 참(True)과 거짓(False)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9062" y="476402"/>
            <a:ext cx="552298" cy="2670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29062" y="476402"/>
            <a:ext cx="5532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True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598" y="476402"/>
            <a:ext cx="638251" cy="2670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53598" y="476402"/>
            <a:ext cx="63825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False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09905" y="1524305"/>
            <a:ext cx="3504895" cy="2771546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09905" y="1524305"/>
            <a:ext cx="3504895" cy="47549"/>
          </a:xfrm>
          <a:prstGeom prst="roundRect">
            <a:avLst>
              <a:gd name="adj" fmla="val 7930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153058" y="1800454"/>
            <a:ext cx="29242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연산자 </a:t>
            </a:r>
            <a:endParaRPr lang="en-US" sz="15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8505" y="1848002"/>
            <a:ext cx="237744" cy="19019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38505" y="2238451"/>
            <a:ext cx="3047695" cy="437998"/>
          </a:xfrm>
          <a:prstGeom prst="roundRect">
            <a:avLst>
              <a:gd name="adj" fmla="val 27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9" y="2324405"/>
            <a:ext cx="381305" cy="26700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1949" y="2324405"/>
            <a:ext cx="3813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==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438351" y="2349094"/>
            <a:ext cx="6894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값이 같다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838505" y="2790749"/>
            <a:ext cx="3047695" cy="437998"/>
          </a:xfrm>
          <a:prstGeom prst="roundRect">
            <a:avLst>
              <a:gd name="adj" fmla="val 27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9" y="2876702"/>
            <a:ext cx="381305" cy="26700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1949" y="2876702"/>
            <a:ext cx="3813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!=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1438351" y="2901391"/>
            <a:ext cx="8394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값이 다르다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838505" y="3343046"/>
            <a:ext cx="3047695" cy="437998"/>
          </a:xfrm>
          <a:prstGeom prst="roundRect">
            <a:avLst>
              <a:gd name="adj" fmla="val 27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949" y="3429000"/>
            <a:ext cx="381305" cy="26700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61949" y="3429000"/>
            <a:ext cx="3813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&gt;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1438351" y="3453689"/>
            <a:ext cx="8714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크다 (초과)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838505" y="3895344"/>
            <a:ext cx="3047695" cy="437998"/>
          </a:xfrm>
          <a:prstGeom prst="roundRect">
            <a:avLst>
              <a:gd name="adj" fmla="val 27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949" y="3981298"/>
            <a:ext cx="381305" cy="26700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61949" y="3981298"/>
            <a:ext cx="3813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&lt;=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1438351" y="4005986"/>
            <a:ext cx="1410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작거나 같다 (이하)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4343400" y="1524305"/>
            <a:ext cx="3504895" cy="2771546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4343400" y="1524305"/>
            <a:ext cx="3504895" cy="47549"/>
          </a:xfrm>
          <a:prstGeom prst="roundRect">
            <a:avLst>
              <a:gd name="adj" fmla="val 79302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4839005" y="1800454"/>
            <a:ext cx="2971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 연산자 </a:t>
            </a:r>
            <a:endParaRPr lang="en-US" sz="15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72000" y="1848002"/>
            <a:ext cx="190195" cy="190195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4572000" y="2238451"/>
            <a:ext cx="3047695" cy="437998"/>
          </a:xfrm>
          <a:prstGeom prst="roundRect">
            <a:avLst>
              <a:gd name="adj" fmla="val 27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5444" y="2324405"/>
            <a:ext cx="390449" cy="267005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4695444" y="2324405"/>
            <a:ext cx="3913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and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5180076" y="2349094"/>
            <a:ext cx="13039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둘 다 참이면 True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4572000" y="2790749"/>
            <a:ext cx="3047695" cy="437998"/>
          </a:xfrm>
          <a:prstGeom prst="roundRect">
            <a:avLst>
              <a:gd name="adj" fmla="val 27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5444" y="2876702"/>
            <a:ext cx="381305" cy="267005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4695444" y="2876702"/>
            <a:ext cx="3813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or</a:t>
            </a:r>
            <a:endParaRPr lang="en-US" sz="1200" dirty="0"/>
          </a:p>
        </p:txBody>
      </p:sp>
      <p:sp>
        <p:nvSpPr>
          <p:cNvPr id="42" name="Text 30"/>
          <p:cNvSpPr txBox="1"/>
          <p:nvPr/>
        </p:nvSpPr>
        <p:spPr>
          <a:xfrm>
            <a:off x="5171846" y="2901391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하나라도 참이면 True</a:t>
            </a:r>
            <a:endParaRPr lang="en-US" sz="1100" dirty="0"/>
          </a:p>
        </p:txBody>
      </p:sp>
      <p:sp>
        <p:nvSpPr>
          <p:cNvPr id="43" name="Shape 31"/>
          <p:cNvSpPr/>
          <p:nvPr/>
        </p:nvSpPr>
        <p:spPr>
          <a:xfrm>
            <a:off x="4572000" y="3343046"/>
            <a:ext cx="3047695" cy="437998"/>
          </a:xfrm>
          <a:prstGeom prst="roundRect">
            <a:avLst>
              <a:gd name="adj" fmla="val 27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5444" y="3429000"/>
            <a:ext cx="390449" cy="267005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4695444" y="3429000"/>
            <a:ext cx="3913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not</a:t>
            </a:r>
            <a:endParaRPr lang="en-US" sz="1200" dirty="0"/>
          </a:p>
        </p:txBody>
      </p:sp>
      <p:sp>
        <p:nvSpPr>
          <p:cNvPr id="46" name="Text 33"/>
          <p:cNvSpPr txBox="1"/>
          <p:nvPr/>
        </p:nvSpPr>
        <p:spPr>
          <a:xfrm>
            <a:off x="5180076" y="3453689"/>
            <a:ext cx="9893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반대로 뒤집기</a:t>
            </a:r>
            <a:endParaRPr lang="en-US" sz="1100" dirty="0"/>
          </a:p>
        </p:txBody>
      </p:sp>
      <p:sp>
        <p:nvSpPr>
          <p:cNvPr id="47" name="Shape 34"/>
          <p:cNvSpPr/>
          <p:nvPr/>
        </p:nvSpPr>
        <p:spPr>
          <a:xfrm>
            <a:off x="8076895" y="1524305"/>
            <a:ext cx="3504895" cy="2771546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48" name="Shape 35"/>
          <p:cNvSpPr/>
          <p:nvPr/>
        </p:nvSpPr>
        <p:spPr>
          <a:xfrm>
            <a:off x="8076895" y="1524305"/>
            <a:ext cx="3504895" cy="47549"/>
          </a:xfrm>
          <a:prstGeom prst="roundRect">
            <a:avLst>
              <a:gd name="adj" fmla="val 79302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9" name="Text 36"/>
          <p:cNvSpPr txBox="1"/>
          <p:nvPr/>
        </p:nvSpPr>
        <p:spPr>
          <a:xfrm>
            <a:off x="8572500" y="1800454"/>
            <a:ext cx="2971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소속 연산자 (중요!) </a:t>
            </a:r>
            <a:endParaRPr lang="en-US" sz="150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305495" y="1848002"/>
            <a:ext cx="190195" cy="190195"/>
          </a:xfrm>
          <a:prstGeom prst="rect">
            <a:avLst/>
          </a:prstGeom>
        </p:spPr>
      </p:pic>
      <p:sp>
        <p:nvSpPr>
          <p:cNvPr id="51" name="Shape 37"/>
          <p:cNvSpPr/>
          <p:nvPr/>
        </p:nvSpPr>
        <p:spPr>
          <a:xfrm>
            <a:off x="8305495" y="2238451"/>
            <a:ext cx="3047695" cy="437998"/>
          </a:xfrm>
          <a:prstGeom prst="roundRect">
            <a:avLst>
              <a:gd name="adj" fmla="val 27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9854" y="2324405"/>
            <a:ext cx="381305" cy="267005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8429854" y="2324405"/>
            <a:ext cx="3813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</a:t>
            </a:r>
            <a:endParaRPr lang="en-US" sz="1200" dirty="0"/>
          </a:p>
        </p:txBody>
      </p:sp>
      <p:sp>
        <p:nvSpPr>
          <p:cNvPr id="54" name="Text 39"/>
          <p:cNvSpPr txBox="1"/>
          <p:nvPr/>
        </p:nvSpPr>
        <p:spPr>
          <a:xfrm>
            <a:off x="8906256" y="2349094"/>
            <a:ext cx="9317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안에 있는가?</a:t>
            </a:r>
            <a:endParaRPr lang="en-US" sz="1100" dirty="0"/>
          </a:p>
        </p:txBody>
      </p:sp>
      <p:sp>
        <p:nvSpPr>
          <p:cNvPr id="55" name="Shape 40"/>
          <p:cNvSpPr/>
          <p:nvPr/>
        </p:nvSpPr>
        <p:spPr>
          <a:xfrm>
            <a:off x="8305495" y="2790749"/>
            <a:ext cx="3047695" cy="437998"/>
          </a:xfrm>
          <a:prstGeom prst="roundRect">
            <a:avLst>
              <a:gd name="adj" fmla="val 27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9854" y="2876702"/>
            <a:ext cx="666598" cy="267005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8429854" y="2876702"/>
            <a:ext cx="6675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not in</a:t>
            </a:r>
            <a:endParaRPr lang="en-US" sz="1200" dirty="0"/>
          </a:p>
        </p:txBody>
      </p:sp>
      <p:sp>
        <p:nvSpPr>
          <p:cNvPr id="58" name="Text 42"/>
          <p:cNvSpPr txBox="1"/>
          <p:nvPr/>
        </p:nvSpPr>
        <p:spPr>
          <a:xfrm>
            <a:off x="9187891" y="2901391"/>
            <a:ext cx="9317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안에 없는가?</a:t>
            </a:r>
            <a:endParaRPr lang="en-US" sz="1100" dirty="0"/>
          </a:p>
        </p:txBody>
      </p:sp>
      <p:sp>
        <p:nvSpPr>
          <p:cNvPr id="59" name="Shape 43"/>
          <p:cNvSpPr/>
          <p:nvPr/>
        </p:nvSpPr>
        <p:spPr>
          <a:xfrm>
            <a:off x="8305495" y="3419856"/>
            <a:ext cx="3047695" cy="780898"/>
          </a:xfrm>
          <a:prstGeom prst="roundRect">
            <a:avLst>
              <a:gd name="adj" fmla="val 5712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0" name="Text 44"/>
          <p:cNvSpPr txBox="1"/>
          <p:nvPr/>
        </p:nvSpPr>
        <p:spPr>
          <a:xfrm>
            <a:off x="8609990" y="3543300"/>
            <a:ext cx="27322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Tip </a:t>
            </a:r>
            <a:endParaRPr lang="en-US" sz="1000" dirty="0"/>
          </a:p>
        </p:txBody>
      </p:sp>
      <p:pic>
        <p:nvPicPr>
          <p:cNvPr id="61" name="Image 14" descr="preencoded.png">    </p:cNvPr>
          <p:cNvPicPr>
            <a:picLocks noChangeAspect="1"/>
          </p:cNvPicPr>
          <p:nvPr/>
        </p:nvPicPr>
        <p:blipFill>
          <a:blip r:embed="rId15"/>
          <a:srcRect l="-2512" r="-2512" t="0" b="0"/>
          <a:stretch/>
        </p:blipFill>
        <p:spPr>
          <a:xfrm>
            <a:off x="8429854" y="3578962"/>
            <a:ext cx="105156" cy="133502"/>
          </a:xfrm>
          <a:prstGeom prst="rect">
            <a:avLst/>
          </a:prstGeom>
        </p:spPr>
      </p:pic>
      <p:sp>
        <p:nvSpPr>
          <p:cNvPr id="62" name="Text 45"/>
          <p:cNvSpPr txBox="1"/>
          <p:nvPr/>
        </p:nvSpPr>
        <p:spPr>
          <a:xfrm>
            <a:off x="8429854" y="3771900"/>
            <a:ext cx="28767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리스트, 딕셔너리, 문자열 등에 특정 값이 있는지 확인할 때 가장 많이 사용합니다.</a:t>
            </a:r>
            <a:endParaRPr lang="en-US" sz="900" dirty="0"/>
          </a:p>
        </p:txBody>
      </p:sp>
      <p:sp>
        <p:nvSpPr>
          <p:cNvPr id="63" name="Text 46"/>
          <p:cNvSpPr txBox="1"/>
          <p:nvPr/>
        </p:nvSpPr>
        <p:spPr>
          <a:xfrm>
            <a:off x="609905" y="4931359"/>
            <a:ext cx="3391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실전 코드 예제</a:t>
            </a:r>
            <a:endParaRPr lang="en-US" sz="1800" dirty="0"/>
          </a:p>
        </p:txBody>
      </p:sp>
      <p:sp>
        <p:nvSpPr>
          <p:cNvPr id="64" name="Text 47"/>
          <p:cNvSpPr txBox="1"/>
          <p:nvPr/>
        </p:nvSpPr>
        <p:spPr>
          <a:xfrm>
            <a:off x="609905" y="5350154"/>
            <a:ext cx="32772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연산자는 데이터 분석에서 필터링을 할 때 매우 유용합니다. </a:t>
            </a:r>
            <a:endParaRPr lang="en-US" sz="1200" dirty="0"/>
          </a:p>
        </p:txBody>
      </p:sp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16"/>
          <a:srcRect l="-837" r="-837" t="0" b="0"/>
          <a:stretch/>
        </p:blipFill>
        <p:spPr>
          <a:xfrm>
            <a:off x="609905" y="6055157"/>
            <a:ext cx="152705" cy="133502"/>
          </a:xfrm>
          <a:prstGeom prst="rect">
            <a:avLst/>
          </a:prstGeom>
        </p:spPr>
      </p:pic>
      <p:sp>
        <p:nvSpPr>
          <p:cNvPr id="66" name="Text 48"/>
          <p:cNvSpPr txBox="1"/>
          <p:nvPr/>
        </p:nvSpPr>
        <p:spPr>
          <a:xfrm>
            <a:off x="838505" y="6025896"/>
            <a:ext cx="25383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타이핑하며 결과를 확인해보세요.</a:t>
            </a:r>
            <a:endParaRPr lang="en-US" sz="1000" dirty="0"/>
          </a:p>
        </p:txBody>
      </p:sp>
      <p:pic>
        <p:nvPicPr>
          <p:cNvPr id="6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3" b="-3"/>
          <a:stretch/>
        </p:blipFill>
        <p:spPr>
          <a:xfrm>
            <a:off x="4114800" y="4594860"/>
            <a:ext cx="7467905" cy="1958645"/>
          </a:xfrm>
          <a:prstGeom prst="rect">
            <a:avLst/>
          </a:prstGeom>
        </p:spPr>
      </p:pic>
      <p:sp>
        <p:nvSpPr>
          <p:cNvPr id="68" name="Shape 49"/>
          <p:cNvSpPr/>
          <p:nvPr/>
        </p:nvSpPr>
        <p:spPr>
          <a:xfrm>
            <a:off x="4114800" y="4594860"/>
            <a:ext cx="7467905" cy="247802"/>
          </a:xfrm>
          <a:prstGeom prst="roundRect">
            <a:avLst>
              <a:gd name="adj" fmla="val 17031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0"/>
          <p:cNvSpPr/>
          <p:nvPr/>
        </p:nvSpPr>
        <p:spPr>
          <a:xfrm>
            <a:off x="4267505" y="4670755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4419295" y="4670755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4572000" y="4670755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53"/>
          <p:cNvSpPr txBox="1"/>
          <p:nvPr/>
        </p:nvSpPr>
        <p:spPr>
          <a:xfrm>
            <a:off x="4304995" y="5071262"/>
            <a:ext cx="2971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1. 소속 연산자 (in / not in)</a:t>
            </a:r>
            <a:endParaRPr lang="en-US" sz="1300" dirty="0"/>
          </a:p>
        </p:txBody>
      </p:sp>
      <p:sp>
        <p:nvSpPr>
          <p:cNvPr id="73" name="Text 54"/>
          <p:cNvSpPr txBox="1"/>
          <p:nvPr/>
        </p:nvSpPr>
        <p:spPr>
          <a:xfrm>
            <a:off x="7154266" y="5071262"/>
            <a:ext cx="991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74" name="Text 55"/>
          <p:cNvSpPr txBox="1"/>
          <p:nvPr/>
        </p:nvSpPr>
        <p:spPr>
          <a:xfrm>
            <a:off x="8059522" y="5071262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[</a:t>
            </a:r>
            <a:endParaRPr lang="en-US" sz="1300" dirty="0"/>
          </a:p>
        </p:txBody>
      </p:sp>
      <p:sp>
        <p:nvSpPr>
          <p:cNvPr id="75" name="Text 56"/>
          <p:cNvSpPr txBox="1"/>
          <p:nvPr/>
        </p:nvSpPr>
        <p:spPr>
          <a:xfrm>
            <a:off x="8461858" y="5071262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"한국"</a:t>
            </a:r>
            <a:endParaRPr lang="en-US" sz="1300" dirty="0"/>
          </a:p>
        </p:txBody>
      </p:sp>
      <p:sp>
        <p:nvSpPr>
          <p:cNvPr id="76" name="Text 57"/>
          <p:cNvSpPr txBox="1"/>
          <p:nvPr/>
        </p:nvSpPr>
        <p:spPr>
          <a:xfrm>
            <a:off x="8998610" y="507126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77" name="Text 58"/>
          <p:cNvSpPr txBox="1"/>
          <p:nvPr/>
        </p:nvSpPr>
        <p:spPr>
          <a:xfrm>
            <a:off x="9199778" y="5071262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"미국"</a:t>
            </a:r>
            <a:endParaRPr lang="en-US" sz="1300" dirty="0"/>
          </a:p>
        </p:txBody>
      </p:sp>
      <p:sp>
        <p:nvSpPr>
          <p:cNvPr id="78" name="Text 59"/>
          <p:cNvSpPr txBox="1"/>
          <p:nvPr/>
        </p:nvSpPr>
        <p:spPr>
          <a:xfrm>
            <a:off x="9735617" y="507126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79" name="Text 60"/>
          <p:cNvSpPr txBox="1"/>
          <p:nvPr/>
        </p:nvSpPr>
        <p:spPr>
          <a:xfrm>
            <a:off x="9937699" y="5071262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"일본"</a:t>
            </a:r>
            <a:endParaRPr lang="en-US" sz="1300" dirty="0"/>
          </a:p>
        </p:txBody>
      </p:sp>
      <p:sp>
        <p:nvSpPr>
          <p:cNvPr id="80" name="Text 61"/>
          <p:cNvSpPr txBox="1"/>
          <p:nvPr/>
        </p:nvSpPr>
        <p:spPr>
          <a:xfrm>
            <a:off x="10473538" y="507126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300" dirty="0"/>
          </a:p>
        </p:txBody>
      </p:sp>
      <p:sp>
        <p:nvSpPr>
          <p:cNvPr id="81" name="Text 62"/>
          <p:cNvSpPr txBox="1"/>
          <p:nvPr/>
        </p:nvSpPr>
        <p:spPr>
          <a:xfrm>
            <a:off x="10674706" y="5071262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82" name="Text 63"/>
          <p:cNvSpPr txBox="1"/>
          <p:nvPr/>
        </p:nvSpPr>
        <p:spPr>
          <a:xfrm>
            <a:off x="11177626" y="5071262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83" name="Text 64"/>
          <p:cNvSpPr txBox="1"/>
          <p:nvPr/>
        </p:nvSpPr>
        <p:spPr>
          <a:xfrm>
            <a:off x="11278210" y="5071262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"한국"</a:t>
            </a:r>
            <a:endParaRPr lang="en-US" sz="1300" dirty="0"/>
          </a:p>
        </p:txBody>
      </p:sp>
      <p:sp>
        <p:nvSpPr>
          <p:cNvPr id="84" name="Text 65"/>
          <p:cNvSpPr txBox="1"/>
          <p:nvPr/>
        </p:nvSpPr>
        <p:spPr>
          <a:xfrm>
            <a:off x="11814962" y="507126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endParaRPr lang="en-US" sz="1300" dirty="0"/>
          </a:p>
        </p:txBody>
      </p:sp>
      <p:sp>
        <p:nvSpPr>
          <p:cNvPr id="85" name="Text 66"/>
          <p:cNvSpPr txBox="1"/>
          <p:nvPr/>
        </p:nvSpPr>
        <p:spPr>
          <a:xfrm>
            <a:off x="12016130" y="5071262"/>
            <a:ext cx="991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86" name="Text 67"/>
          <p:cNvSpPr txBox="1"/>
          <p:nvPr/>
        </p:nvSpPr>
        <p:spPr>
          <a:xfrm>
            <a:off x="12921386" y="507126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87" name="Text 68"/>
          <p:cNvSpPr txBox="1"/>
          <p:nvPr/>
        </p:nvSpPr>
        <p:spPr>
          <a:xfrm>
            <a:off x="13122554" y="5071262"/>
            <a:ext cx="1324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True (있음)</a:t>
            </a:r>
            <a:endParaRPr lang="en-US" sz="1300" dirty="0"/>
          </a:p>
        </p:txBody>
      </p:sp>
      <p:sp>
        <p:nvSpPr>
          <p:cNvPr id="88" name="Text 69"/>
          <p:cNvSpPr txBox="1"/>
          <p:nvPr/>
        </p:nvSpPr>
        <p:spPr>
          <a:xfrm>
            <a:off x="14362481" y="5071262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89" name="Text 70"/>
          <p:cNvSpPr txBox="1"/>
          <p:nvPr/>
        </p:nvSpPr>
        <p:spPr>
          <a:xfrm>
            <a:off x="14865401" y="5071262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90" name="Text 71"/>
          <p:cNvSpPr txBox="1"/>
          <p:nvPr/>
        </p:nvSpPr>
        <p:spPr>
          <a:xfrm>
            <a:off x="14965985" y="5071262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"독일"</a:t>
            </a:r>
            <a:endParaRPr lang="en-US" sz="1300" dirty="0"/>
          </a:p>
        </p:txBody>
      </p:sp>
      <p:sp>
        <p:nvSpPr>
          <p:cNvPr id="91" name="Text 72"/>
          <p:cNvSpPr txBox="1"/>
          <p:nvPr/>
        </p:nvSpPr>
        <p:spPr>
          <a:xfrm>
            <a:off x="15502738" y="5071262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 in</a:t>
            </a:r>
            <a:endParaRPr lang="en-US" sz="1300" dirty="0"/>
          </a:p>
        </p:txBody>
      </p:sp>
      <p:sp>
        <p:nvSpPr>
          <p:cNvPr id="92" name="Text 73"/>
          <p:cNvSpPr txBox="1"/>
          <p:nvPr/>
        </p:nvSpPr>
        <p:spPr>
          <a:xfrm>
            <a:off x="16106242" y="5071262"/>
            <a:ext cx="991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93" name="Text 74"/>
          <p:cNvSpPr txBox="1"/>
          <p:nvPr/>
        </p:nvSpPr>
        <p:spPr>
          <a:xfrm>
            <a:off x="17011498" y="507126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94" name="Text 75"/>
          <p:cNvSpPr txBox="1"/>
          <p:nvPr/>
        </p:nvSpPr>
        <p:spPr>
          <a:xfrm>
            <a:off x="17212666" y="5071262"/>
            <a:ext cx="1324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True (없음)</a:t>
            </a:r>
            <a:endParaRPr lang="en-US" sz="1300" dirty="0"/>
          </a:p>
        </p:txBody>
      </p:sp>
      <p:sp>
        <p:nvSpPr>
          <p:cNvPr id="95" name="Text 76"/>
          <p:cNvSpPr txBox="1"/>
          <p:nvPr/>
        </p:nvSpPr>
        <p:spPr>
          <a:xfrm>
            <a:off x="18452592" y="5071262"/>
            <a:ext cx="3267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딕셔너리에서의 활용 (Key 확인)</a:t>
            </a:r>
            <a:endParaRPr lang="en-US" sz="1300" dirty="0"/>
          </a:p>
        </p:txBody>
      </p:sp>
      <p:sp>
        <p:nvSpPr>
          <p:cNvPr id="96" name="Text 77"/>
          <p:cNvSpPr txBox="1"/>
          <p:nvPr/>
        </p:nvSpPr>
        <p:spPr>
          <a:xfrm>
            <a:off x="21603614" y="5071262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300" dirty="0"/>
          </a:p>
        </p:txBody>
      </p:sp>
      <p:sp>
        <p:nvSpPr>
          <p:cNvPr id="97" name="Text 78"/>
          <p:cNvSpPr txBox="1"/>
          <p:nvPr/>
        </p:nvSpPr>
        <p:spPr>
          <a:xfrm>
            <a:off x="22106534" y="5071262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{</a:t>
            </a:r>
            <a:endParaRPr lang="en-US" sz="1300" dirty="0"/>
          </a:p>
        </p:txBody>
      </p:sp>
      <p:sp>
        <p:nvSpPr>
          <p:cNvPr id="98" name="Text 79"/>
          <p:cNvSpPr txBox="1"/>
          <p:nvPr/>
        </p:nvSpPr>
        <p:spPr>
          <a:xfrm>
            <a:off x="22508870" y="5071262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"한국"</a:t>
            </a:r>
            <a:endParaRPr lang="en-US" sz="1300" dirty="0"/>
          </a:p>
        </p:txBody>
      </p:sp>
      <p:sp>
        <p:nvSpPr>
          <p:cNvPr id="99" name="Text 80"/>
          <p:cNvSpPr txBox="1"/>
          <p:nvPr/>
        </p:nvSpPr>
        <p:spPr>
          <a:xfrm>
            <a:off x="23044709" y="507126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300" dirty="0"/>
          </a:p>
        </p:txBody>
      </p:sp>
      <p:sp>
        <p:nvSpPr>
          <p:cNvPr id="100" name="Text 81"/>
          <p:cNvSpPr txBox="1"/>
          <p:nvPr/>
        </p:nvSpPr>
        <p:spPr>
          <a:xfrm>
            <a:off x="23246791" y="5071262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5000</a:t>
            </a:r>
            <a:endParaRPr lang="en-US" sz="1300" dirty="0"/>
          </a:p>
        </p:txBody>
      </p:sp>
      <p:sp>
        <p:nvSpPr>
          <p:cNvPr id="101" name="Text 82"/>
          <p:cNvSpPr txBox="1"/>
          <p:nvPr/>
        </p:nvSpPr>
        <p:spPr>
          <a:xfrm>
            <a:off x="23648213" y="507126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102" name="Text 83"/>
          <p:cNvSpPr txBox="1"/>
          <p:nvPr/>
        </p:nvSpPr>
        <p:spPr>
          <a:xfrm>
            <a:off x="23850295" y="5071262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"미국"</a:t>
            </a:r>
            <a:endParaRPr lang="en-US" sz="1300" dirty="0"/>
          </a:p>
        </p:txBody>
      </p:sp>
      <p:sp>
        <p:nvSpPr>
          <p:cNvPr id="103" name="Text 84"/>
          <p:cNvSpPr txBox="1"/>
          <p:nvPr/>
        </p:nvSpPr>
        <p:spPr>
          <a:xfrm>
            <a:off x="24386134" y="507126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300" dirty="0"/>
          </a:p>
        </p:txBody>
      </p:sp>
      <p:sp>
        <p:nvSpPr>
          <p:cNvPr id="104" name="Text 85"/>
          <p:cNvSpPr txBox="1"/>
          <p:nvPr/>
        </p:nvSpPr>
        <p:spPr>
          <a:xfrm>
            <a:off x="24587302" y="5071262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85000</a:t>
            </a:r>
            <a:endParaRPr lang="en-US" sz="1300" dirty="0"/>
          </a:p>
        </p:txBody>
      </p:sp>
      <p:sp>
        <p:nvSpPr>
          <p:cNvPr id="105" name="Text 86"/>
          <p:cNvSpPr txBox="1"/>
          <p:nvPr/>
        </p:nvSpPr>
        <p:spPr>
          <a:xfrm>
            <a:off x="25090222" y="507126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300" dirty="0"/>
          </a:p>
        </p:txBody>
      </p:sp>
      <p:sp>
        <p:nvSpPr>
          <p:cNvPr id="106" name="Text 87"/>
          <p:cNvSpPr txBox="1"/>
          <p:nvPr/>
        </p:nvSpPr>
        <p:spPr>
          <a:xfrm>
            <a:off x="25291390" y="5071262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107" name="Text 88"/>
          <p:cNvSpPr txBox="1"/>
          <p:nvPr/>
        </p:nvSpPr>
        <p:spPr>
          <a:xfrm>
            <a:off x="25794310" y="5071262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108" name="Text 89"/>
          <p:cNvSpPr txBox="1"/>
          <p:nvPr/>
        </p:nvSpPr>
        <p:spPr>
          <a:xfrm>
            <a:off x="25894894" y="5071262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"한국"</a:t>
            </a:r>
            <a:endParaRPr lang="en-US" sz="1300" dirty="0"/>
          </a:p>
        </p:txBody>
      </p:sp>
      <p:sp>
        <p:nvSpPr>
          <p:cNvPr id="109" name="Text 90"/>
          <p:cNvSpPr txBox="1"/>
          <p:nvPr/>
        </p:nvSpPr>
        <p:spPr>
          <a:xfrm>
            <a:off x="26431646" y="507126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endParaRPr lang="en-US" sz="1300" dirty="0"/>
          </a:p>
        </p:txBody>
      </p:sp>
      <p:sp>
        <p:nvSpPr>
          <p:cNvPr id="110" name="Text 91"/>
          <p:cNvSpPr txBox="1"/>
          <p:nvPr/>
        </p:nvSpPr>
        <p:spPr>
          <a:xfrm>
            <a:off x="26632814" y="5071262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300" dirty="0"/>
          </a:p>
        </p:txBody>
      </p:sp>
      <p:sp>
        <p:nvSpPr>
          <p:cNvPr id="111" name="Text 92"/>
          <p:cNvSpPr txBox="1"/>
          <p:nvPr/>
        </p:nvSpPr>
        <p:spPr>
          <a:xfrm>
            <a:off x="27135734" y="507126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112" name="Text 93"/>
          <p:cNvSpPr txBox="1"/>
          <p:nvPr/>
        </p:nvSpPr>
        <p:spPr>
          <a:xfrm>
            <a:off x="27336902" y="5071262"/>
            <a:ext cx="23774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True (키가 있는지 확인)</a:t>
            </a:r>
            <a:endParaRPr lang="en-US" sz="1300" dirty="0"/>
          </a:p>
        </p:txBody>
      </p:sp>
      <p:sp>
        <p:nvSpPr>
          <p:cNvPr id="113" name="Text 94"/>
          <p:cNvSpPr txBox="1"/>
          <p:nvPr/>
        </p:nvSpPr>
        <p:spPr>
          <a:xfrm>
            <a:off x="11791188" y="6400800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218895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304495"/>
            <a:ext cx="443301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⚠️ 복사 주의사항 (copy)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24205"/>
            <a:ext cx="3676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얕은 대입(=)과 독립적 복사(.copy)의 결정적 차이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4842" y="466344"/>
            <a:ext cx="733349" cy="2862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54842" y="466344"/>
            <a:ext cx="734263" cy="28620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ID: 10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9905" y="1524305"/>
            <a:ext cx="5333695" cy="2743200"/>
          </a:xfrm>
          <a:prstGeom prst="roundRect">
            <a:avLst>
              <a:gd name="adj" fmla="val 138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9905" y="1524305"/>
            <a:ext cx="5333695" cy="47549"/>
          </a:xfrm>
          <a:prstGeom prst="roundRect">
            <a:avLst>
              <a:gd name="adj" fmla="val 8012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8505" y="2238451"/>
            <a:ext cx="4876495" cy="19202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24712" y="1800454"/>
            <a:ext cx="127924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단순 대입 (=)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8505" y="1836115"/>
            <a:ext cx="209398" cy="209398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667" y="1846174"/>
            <a:ext cx="609905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09667" y="1846174"/>
            <a:ext cx="6099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주소 공유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429000" y="2913278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" y="3649370"/>
            <a:ext cx="4953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"같은 서랍을 두 명이 공유하는 꼴"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b를 바꾸면 a도 바뀝니다! 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248095" y="1524305"/>
            <a:ext cx="5333695" cy="2743200"/>
          </a:xfrm>
          <a:prstGeom prst="roundRect">
            <a:avLst>
              <a:gd name="adj" fmla="val 1389"/>
            </a:avLst>
          </a:prstGeom>
          <a:solidFill>
            <a:srgbClr val="ECFDF5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248095" y="1524305"/>
            <a:ext cx="5333695" cy="47549"/>
          </a:xfrm>
          <a:prstGeom prst="roundRect">
            <a:avLst>
              <a:gd name="adj" fmla="val 8012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76695" y="2238451"/>
            <a:ext cx="4876495" cy="19202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762902" y="1800454"/>
            <a:ext cx="204642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복사 메서드 (.copy)</a:t>
            </a:r>
            <a:endParaRPr lang="en-US" sz="16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-7143" r="-7143" t="0" b="0"/>
          <a:stretch/>
        </p:blipFill>
        <p:spPr>
          <a:xfrm>
            <a:off x="6476695" y="1836115"/>
            <a:ext cx="209398" cy="209398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1612" y="1846174"/>
            <a:ext cx="743407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611612" y="1846174"/>
            <a:ext cx="7434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공간 생성</a:t>
            </a:r>
            <a:endParaRPr lang="en-US" sz="9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029700" y="2621585"/>
            <a:ext cx="152705" cy="152705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29700" y="3281782"/>
            <a:ext cx="152705" cy="15270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439205" y="3649370"/>
            <a:ext cx="4953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"똑같은 서랍을 하나 더 구매"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c를 바꿔도 a는 안전합니다. 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609905" y="4846320"/>
            <a:ext cx="3391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실전 코드 확인</a:t>
            </a:r>
            <a:endParaRPr lang="en-US" sz="1800" dirty="0"/>
          </a:p>
        </p:txBody>
      </p:sp>
      <p:sp>
        <p:nvSpPr>
          <p:cNvPr id="29" name="Text 19"/>
          <p:cNvSpPr txBox="1"/>
          <p:nvPr/>
        </p:nvSpPr>
        <p:spPr>
          <a:xfrm>
            <a:off x="609905" y="5266030"/>
            <a:ext cx="3277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분석 시 원본 데이터를 보존하려면 반드시 </a:t>
            </a:r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사용해야 합니다. </a:t>
            </a:r>
            <a:endParaRPr lang="en-US" sz="10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905" y="5530291"/>
            <a:ext cx="638251" cy="15270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09905" y="5530291"/>
            <a:ext cx="638251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.copy()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609905" y="5870448"/>
            <a:ext cx="3200400" cy="400507"/>
          </a:xfrm>
          <a:prstGeom prst="roundRect">
            <a:avLst>
              <a:gd name="adj" fmla="val 21744"/>
            </a:avLst>
          </a:prstGeom>
          <a:solidFill>
            <a:srgbClr val="FFFBEB"/>
          </a:solidFill>
          <a:ln/>
        </p:spPr>
      </p:sp>
      <p:sp>
        <p:nvSpPr>
          <p:cNvPr id="33" name="Shape 22"/>
          <p:cNvSpPr/>
          <p:nvPr/>
        </p:nvSpPr>
        <p:spPr>
          <a:xfrm>
            <a:off x="609905" y="5870448"/>
            <a:ext cx="38405" cy="400507"/>
          </a:xfrm>
          <a:prstGeom prst="roundRect">
            <a:avLst>
              <a:gd name="adj" fmla="val 226756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4" name="Text 23"/>
          <p:cNvSpPr txBox="1"/>
          <p:nvPr/>
        </p:nvSpPr>
        <p:spPr>
          <a:xfrm>
            <a:off x="885139" y="5984748"/>
            <a:ext cx="29251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Tip:</a:t>
            </a:r>
            <a:pPr algn="l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슬라이싱 </a:t>
            </a:r>
            <a:pPr algn="l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a[:]</a:t>
            </a:r>
            <a:pPr algn="l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복사 효과를 냅니다. </a:t>
            </a:r>
            <a:endParaRPr lang="en-US" sz="9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-133" r="-133" t="0" b="0"/>
          <a:stretch/>
        </p:blipFill>
        <p:spPr>
          <a:xfrm>
            <a:off x="761695" y="6008522"/>
            <a:ext cx="85954" cy="114300"/>
          </a:xfrm>
          <a:prstGeom prst="rect">
            <a:avLst/>
          </a:prstGeom>
        </p:spPr>
      </p:pic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-13" r="-13" t="0" b="0"/>
          <a:stretch/>
        </p:blipFill>
        <p:spPr>
          <a:xfrm>
            <a:off x="4114800" y="4563770"/>
            <a:ext cx="7467905" cy="1988820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4114800" y="4563770"/>
            <a:ext cx="7467905" cy="247802"/>
          </a:xfrm>
          <a:prstGeom prst="roundRect">
            <a:avLst>
              <a:gd name="adj" fmla="val 17031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25"/>
          <p:cNvSpPr/>
          <p:nvPr/>
        </p:nvSpPr>
        <p:spPr>
          <a:xfrm>
            <a:off x="4267505" y="4640580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26"/>
          <p:cNvSpPr/>
          <p:nvPr/>
        </p:nvSpPr>
        <p:spPr>
          <a:xfrm>
            <a:off x="4419295" y="4640580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27"/>
          <p:cNvSpPr/>
          <p:nvPr/>
        </p:nvSpPr>
        <p:spPr>
          <a:xfrm>
            <a:off x="4572000" y="4640580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28"/>
          <p:cNvSpPr txBox="1"/>
          <p:nvPr/>
        </p:nvSpPr>
        <p:spPr>
          <a:xfrm>
            <a:off x="4304995" y="5040173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original</a:t>
            </a:r>
            <a:endParaRPr lang="en-US" sz="1300" dirty="0"/>
          </a:p>
        </p:txBody>
      </p:sp>
      <p:sp>
        <p:nvSpPr>
          <p:cNvPr id="42" name="Text 29"/>
          <p:cNvSpPr txBox="1"/>
          <p:nvPr/>
        </p:nvSpPr>
        <p:spPr>
          <a:xfrm>
            <a:off x="5109667" y="5040173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[</a:t>
            </a:r>
            <a:endParaRPr lang="en-US" sz="1300" dirty="0"/>
          </a:p>
        </p:txBody>
      </p:sp>
      <p:sp>
        <p:nvSpPr>
          <p:cNvPr id="43" name="Text 30"/>
          <p:cNvSpPr txBox="1"/>
          <p:nvPr/>
        </p:nvSpPr>
        <p:spPr>
          <a:xfrm>
            <a:off x="5512003" y="5040173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300" dirty="0"/>
          </a:p>
        </p:txBody>
      </p:sp>
      <p:sp>
        <p:nvSpPr>
          <p:cNvPr id="44" name="Text 31"/>
          <p:cNvSpPr txBox="1"/>
          <p:nvPr/>
        </p:nvSpPr>
        <p:spPr>
          <a:xfrm>
            <a:off x="5612587" y="5040173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45" name="Text 32"/>
          <p:cNvSpPr txBox="1"/>
          <p:nvPr/>
        </p:nvSpPr>
        <p:spPr>
          <a:xfrm>
            <a:off x="5813755" y="5040173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</a:t>
            </a:r>
            <a:endParaRPr lang="en-US" sz="1300" dirty="0"/>
          </a:p>
        </p:txBody>
      </p:sp>
      <p:sp>
        <p:nvSpPr>
          <p:cNvPr id="46" name="Text 33"/>
          <p:cNvSpPr txBox="1"/>
          <p:nvPr/>
        </p:nvSpPr>
        <p:spPr>
          <a:xfrm>
            <a:off x="5914339" y="5040173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47" name="Text 34"/>
          <p:cNvSpPr txBox="1"/>
          <p:nvPr/>
        </p:nvSpPr>
        <p:spPr>
          <a:xfrm>
            <a:off x="6115507" y="5040173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35"/>
          <p:cNvSpPr txBox="1"/>
          <p:nvPr/>
        </p:nvSpPr>
        <p:spPr>
          <a:xfrm>
            <a:off x="6216091" y="5040173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300" dirty="0"/>
          </a:p>
        </p:txBody>
      </p:sp>
      <p:sp>
        <p:nvSpPr>
          <p:cNvPr id="49" name="Text 36"/>
          <p:cNvSpPr txBox="1"/>
          <p:nvPr/>
        </p:nvSpPr>
        <p:spPr>
          <a:xfrm>
            <a:off x="6417259" y="5040173"/>
            <a:ext cx="2100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1. 얕은 대입 (위험!)</a:t>
            </a:r>
            <a:endParaRPr lang="en-US" sz="1300" dirty="0"/>
          </a:p>
        </p:txBody>
      </p:sp>
      <p:sp>
        <p:nvSpPr>
          <p:cNvPr id="50" name="Text 37"/>
          <p:cNvSpPr txBox="1"/>
          <p:nvPr/>
        </p:nvSpPr>
        <p:spPr>
          <a:xfrm>
            <a:off x="8428939" y="5040173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ref</a:t>
            </a:r>
            <a:endParaRPr lang="en-US" sz="1300" dirty="0"/>
          </a:p>
        </p:txBody>
      </p:sp>
      <p:sp>
        <p:nvSpPr>
          <p:cNvPr id="51" name="Text 38"/>
          <p:cNvSpPr txBox="1"/>
          <p:nvPr/>
        </p:nvSpPr>
        <p:spPr>
          <a:xfrm>
            <a:off x="8730691" y="5040173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300" dirty="0"/>
          </a:p>
        </p:txBody>
      </p:sp>
      <p:sp>
        <p:nvSpPr>
          <p:cNvPr id="52" name="Text 39"/>
          <p:cNvSpPr txBox="1"/>
          <p:nvPr/>
        </p:nvSpPr>
        <p:spPr>
          <a:xfrm>
            <a:off x="9032443" y="5040173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original</a:t>
            </a:r>
            <a:endParaRPr lang="en-US" sz="1300" dirty="0"/>
          </a:p>
        </p:txBody>
      </p:sp>
      <p:sp>
        <p:nvSpPr>
          <p:cNvPr id="53" name="Text 40"/>
          <p:cNvSpPr txBox="1"/>
          <p:nvPr/>
        </p:nvSpPr>
        <p:spPr>
          <a:xfrm>
            <a:off x="9837115" y="5040173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ref</a:t>
            </a:r>
            <a:endParaRPr lang="en-US" sz="1300" dirty="0"/>
          </a:p>
        </p:txBody>
      </p:sp>
      <p:sp>
        <p:nvSpPr>
          <p:cNvPr id="54" name="Text 41"/>
          <p:cNvSpPr txBox="1"/>
          <p:nvPr/>
        </p:nvSpPr>
        <p:spPr>
          <a:xfrm>
            <a:off x="10138867" y="5040173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300" dirty="0"/>
          </a:p>
        </p:txBody>
      </p:sp>
      <p:sp>
        <p:nvSpPr>
          <p:cNvPr id="55" name="Text 42"/>
          <p:cNvSpPr txBox="1"/>
          <p:nvPr/>
        </p:nvSpPr>
        <p:spPr>
          <a:xfrm>
            <a:off x="10239451" y="5040173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300" dirty="0"/>
          </a:p>
        </p:txBody>
      </p:sp>
      <p:sp>
        <p:nvSpPr>
          <p:cNvPr id="56" name="Text 43"/>
          <p:cNvSpPr txBox="1"/>
          <p:nvPr/>
        </p:nvSpPr>
        <p:spPr>
          <a:xfrm>
            <a:off x="10340035" y="5040173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=</a:t>
            </a:r>
            <a:endParaRPr lang="en-US" sz="1300" dirty="0"/>
          </a:p>
        </p:txBody>
      </p:sp>
      <p:sp>
        <p:nvSpPr>
          <p:cNvPr id="57" name="Text 44"/>
          <p:cNvSpPr txBox="1"/>
          <p:nvPr/>
        </p:nvSpPr>
        <p:spPr>
          <a:xfrm>
            <a:off x="10742371" y="5040173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999</a:t>
            </a:r>
            <a:endParaRPr lang="en-US" sz="1300" dirty="0"/>
          </a:p>
        </p:txBody>
      </p:sp>
      <p:sp>
        <p:nvSpPr>
          <p:cNvPr id="58" name="Text 45"/>
          <p:cNvSpPr txBox="1"/>
          <p:nvPr/>
        </p:nvSpPr>
        <p:spPr>
          <a:xfrm>
            <a:off x="11044123" y="5040173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59" name="Text 46"/>
          <p:cNvSpPr txBox="1"/>
          <p:nvPr/>
        </p:nvSpPr>
        <p:spPr>
          <a:xfrm>
            <a:off x="11547043" y="5040173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60" name="Text 47"/>
          <p:cNvSpPr txBox="1"/>
          <p:nvPr/>
        </p:nvSpPr>
        <p:spPr>
          <a:xfrm>
            <a:off x="11647627" y="5040173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original</a:t>
            </a:r>
            <a:endParaRPr lang="en-US" sz="1300" dirty="0"/>
          </a:p>
        </p:txBody>
      </p:sp>
      <p:sp>
        <p:nvSpPr>
          <p:cNvPr id="61" name="Text 48"/>
          <p:cNvSpPr txBox="1"/>
          <p:nvPr/>
        </p:nvSpPr>
        <p:spPr>
          <a:xfrm>
            <a:off x="12452299" y="5040173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62" name="Text 49"/>
          <p:cNvSpPr txBox="1"/>
          <p:nvPr/>
        </p:nvSpPr>
        <p:spPr>
          <a:xfrm>
            <a:off x="12653467" y="5040173"/>
            <a:ext cx="3248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[999, 2, 3] → 😱 원본이 훼손됨!</a:t>
            </a:r>
            <a:endParaRPr lang="en-US" sz="1300" dirty="0"/>
          </a:p>
        </p:txBody>
      </p:sp>
      <p:sp>
        <p:nvSpPr>
          <p:cNvPr id="63" name="Text 50"/>
          <p:cNvSpPr txBox="1"/>
          <p:nvPr/>
        </p:nvSpPr>
        <p:spPr>
          <a:xfrm>
            <a:off x="15778886" y="5040173"/>
            <a:ext cx="2100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독립 복사 (안전!)</a:t>
            </a:r>
            <a:endParaRPr lang="en-US" sz="1300" dirty="0"/>
          </a:p>
        </p:txBody>
      </p:sp>
      <p:sp>
        <p:nvSpPr>
          <p:cNvPr id="64" name="Text 51"/>
          <p:cNvSpPr txBox="1"/>
          <p:nvPr/>
        </p:nvSpPr>
        <p:spPr>
          <a:xfrm>
            <a:off x="17790566" y="5040173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original</a:t>
            </a:r>
            <a:endParaRPr lang="en-US" sz="1300" dirty="0"/>
          </a:p>
        </p:txBody>
      </p:sp>
      <p:sp>
        <p:nvSpPr>
          <p:cNvPr id="65" name="Text 52"/>
          <p:cNvSpPr txBox="1"/>
          <p:nvPr/>
        </p:nvSpPr>
        <p:spPr>
          <a:xfrm>
            <a:off x="18594324" y="5040173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[</a:t>
            </a:r>
            <a:endParaRPr lang="en-US" sz="1300" dirty="0"/>
          </a:p>
        </p:txBody>
      </p:sp>
      <p:sp>
        <p:nvSpPr>
          <p:cNvPr id="66" name="Text 53"/>
          <p:cNvSpPr txBox="1"/>
          <p:nvPr/>
        </p:nvSpPr>
        <p:spPr>
          <a:xfrm>
            <a:off x="18996660" y="5040173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300" dirty="0"/>
          </a:p>
        </p:txBody>
      </p:sp>
      <p:sp>
        <p:nvSpPr>
          <p:cNvPr id="67" name="Text 54"/>
          <p:cNvSpPr txBox="1"/>
          <p:nvPr/>
        </p:nvSpPr>
        <p:spPr>
          <a:xfrm>
            <a:off x="19097244" y="5040173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68" name="Text 55"/>
          <p:cNvSpPr txBox="1"/>
          <p:nvPr/>
        </p:nvSpPr>
        <p:spPr>
          <a:xfrm>
            <a:off x="19298412" y="5040173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</a:t>
            </a:r>
            <a:endParaRPr lang="en-US" sz="1300" dirty="0"/>
          </a:p>
        </p:txBody>
      </p:sp>
      <p:sp>
        <p:nvSpPr>
          <p:cNvPr id="69" name="Text 56"/>
          <p:cNvSpPr txBox="1"/>
          <p:nvPr/>
        </p:nvSpPr>
        <p:spPr>
          <a:xfrm>
            <a:off x="19398996" y="5040173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70" name="Text 57"/>
          <p:cNvSpPr txBox="1"/>
          <p:nvPr/>
        </p:nvSpPr>
        <p:spPr>
          <a:xfrm>
            <a:off x="19601078" y="5040173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</a:t>
            </a:r>
            <a:endParaRPr lang="en-US" sz="1300" dirty="0"/>
          </a:p>
        </p:txBody>
      </p:sp>
      <p:sp>
        <p:nvSpPr>
          <p:cNvPr id="71" name="Text 58"/>
          <p:cNvSpPr txBox="1"/>
          <p:nvPr/>
        </p:nvSpPr>
        <p:spPr>
          <a:xfrm>
            <a:off x="19701662" y="5040173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300" dirty="0"/>
          </a:p>
        </p:txBody>
      </p:sp>
      <p:sp>
        <p:nvSpPr>
          <p:cNvPr id="72" name="Text 59"/>
          <p:cNvSpPr txBox="1"/>
          <p:nvPr/>
        </p:nvSpPr>
        <p:spPr>
          <a:xfrm>
            <a:off x="19902830" y="5040173"/>
            <a:ext cx="781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초기화</a:t>
            </a:r>
            <a:endParaRPr lang="en-US" sz="1300" dirty="0"/>
          </a:p>
        </p:txBody>
      </p:sp>
      <p:sp>
        <p:nvSpPr>
          <p:cNvPr id="73" name="Text 60"/>
          <p:cNvSpPr txBox="1"/>
          <p:nvPr/>
        </p:nvSpPr>
        <p:spPr>
          <a:xfrm>
            <a:off x="20606004" y="5040173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safe</a:t>
            </a:r>
            <a:endParaRPr lang="en-US" sz="1300" dirty="0"/>
          </a:p>
        </p:txBody>
      </p:sp>
      <p:sp>
        <p:nvSpPr>
          <p:cNvPr id="74" name="Text 61"/>
          <p:cNvSpPr txBox="1"/>
          <p:nvPr/>
        </p:nvSpPr>
        <p:spPr>
          <a:xfrm>
            <a:off x="21008340" y="5040173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300" dirty="0"/>
          </a:p>
        </p:txBody>
      </p:sp>
      <p:sp>
        <p:nvSpPr>
          <p:cNvPr id="75" name="Text 62"/>
          <p:cNvSpPr txBox="1"/>
          <p:nvPr/>
        </p:nvSpPr>
        <p:spPr>
          <a:xfrm>
            <a:off x="21311006" y="5040173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original</a:t>
            </a:r>
            <a:endParaRPr lang="en-US" sz="1300" dirty="0"/>
          </a:p>
        </p:txBody>
      </p:sp>
      <p:sp>
        <p:nvSpPr>
          <p:cNvPr id="76" name="Text 63"/>
          <p:cNvSpPr txBox="1"/>
          <p:nvPr/>
        </p:nvSpPr>
        <p:spPr>
          <a:xfrm>
            <a:off x="22114764" y="5040173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300" dirty="0"/>
          </a:p>
        </p:txBody>
      </p:sp>
      <p:sp>
        <p:nvSpPr>
          <p:cNvPr id="77" name="Text 64"/>
          <p:cNvSpPr txBox="1"/>
          <p:nvPr/>
        </p:nvSpPr>
        <p:spPr>
          <a:xfrm>
            <a:off x="22215348" y="5040173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copy</a:t>
            </a:r>
            <a:endParaRPr lang="en-US" sz="1300" dirty="0"/>
          </a:p>
        </p:txBody>
      </p:sp>
      <p:sp>
        <p:nvSpPr>
          <p:cNvPr id="78" name="Text 65"/>
          <p:cNvSpPr txBox="1"/>
          <p:nvPr/>
        </p:nvSpPr>
        <p:spPr>
          <a:xfrm>
            <a:off x="22617684" y="5040173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300" dirty="0"/>
          </a:p>
        </p:txBody>
      </p:sp>
      <p:sp>
        <p:nvSpPr>
          <p:cNvPr id="79" name="Text 66"/>
          <p:cNvSpPr txBox="1"/>
          <p:nvPr/>
        </p:nvSpPr>
        <p:spPr>
          <a:xfrm>
            <a:off x="22919436" y="5040173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safe</a:t>
            </a:r>
            <a:endParaRPr lang="en-US" sz="1300" dirty="0"/>
          </a:p>
        </p:txBody>
      </p:sp>
      <p:sp>
        <p:nvSpPr>
          <p:cNvPr id="80" name="Text 67"/>
          <p:cNvSpPr txBox="1"/>
          <p:nvPr/>
        </p:nvSpPr>
        <p:spPr>
          <a:xfrm>
            <a:off x="23321772" y="5040173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300" dirty="0"/>
          </a:p>
        </p:txBody>
      </p:sp>
      <p:sp>
        <p:nvSpPr>
          <p:cNvPr id="81" name="Text 68"/>
          <p:cNvSpPr txBox="1"/>
          <p:nvPr/>
        </p:nvSpPr>
        <p:spPr>
          <a:xfrm>
            <a:off x="23422356" y="5040173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300" dirty="0"/>
          </a:p>
        </p:txBody>
      </p:sp>
      <p:sp>
        <p:nvSpPr>
          <p:cNvPr id="82" name="Text 69"/>
          <p:cNvSpPr txBox="1"/>
          <p:nvPr/>
        </p:nvSpPr>
        <p:spPr>
          <a:xfrm>
            <a:off x="23522940" y="5040173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=</a:t>
            </a:r>
            <a:endParaRPr lang="en-US" sz="1300" dirty="0"/>
          </a:p>
        </p:txBody>
      </p:sp>
      <p:sp>
        <p:nvSpPr>
          <p:cNvPr id="83" name="Text 70"/>
          <p:cNvSpPr txBox="1"/>
          <p:nvPr/>
        </p:nvSpPr>
        <p:spPr>
          <a:xfrm>
            <a:off x="23925276" y="5040173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999</a:t>
            </a:r>
            <a:endParaRPr lang="en-US" sz="1300" dirty="0"/>
          </a:p>
        </p:txBody>
      </p:sp>
      <p:sp>
        <p:nvSpPr>
          <p:cNvPr id="84" name="Text 71"/>
          <p:cNvSpPr txBox="1"/>
          <p:nvPr/>
        </p:nvSpPr>
        <p:spPr>
          <a:xfrm>
            <a:off x="24227028" y="5040173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85" name="Text 72"/>
          <p:cNvSpPr txBox="1"/>
          <p:nvPr/>
        </p:nvSpPr>
        <p:spPr>
          <a:xfrm>
            <a:off x="24729948" y="5040173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86" name="Text 73"/>
          <p:cNvSpPr txBox="1"/>
          <p:nvPr/>
        </p:nvSpPr>
        <p:spPr>
          <a:xfrm>
            <a:off x="24830532" y="5040173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original</a:t>
            </a:r>
            <a:endParaRPr lang="en-US" sz="1300" dirty="0"/>
          </a:p>
        </p:txBody>
      </p:sp>
      <p:sp>
        <p:nvSpPr>
          <p:cNvPr id="87" name="Text 74"/>
          <p:cNvSpPr txBox="1"/>
          <p:nvPr/>
        </p:nvSpPr>
        <p:spPr>
          <a:xfrm>
            <a:off x="25635204" y="5040173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88" name="Text 75"/>
          <p:cNvSpPr txBox="1"/>
          <p:nvPr/>
        </p:nvSpPr>
        <p:spPr>
          <a:xfrm>
            <a:off x="25836372" y="5040173"/>
            <a:ext cx="27642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[1, 2, 3] → ✅ 원본 안전함</a:t>
            </a:r>
            <a:endParaRPr lang="en-US" sz="1300" dirty="0"/>
          </a:p>
        </p:txBody>
      </p:sp>
      <p:sp>
        <p:nvSpPr>
          <p:cNvPr id="89" name="Text 76"/>
          <p:cNvSpPr txBox="1"/>
          <p:nvPr/>
        </p:nvSpPr>
        <p:spPr>
          <a:xfrm>
            <a:off x="11735410" y="6400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200" dirty="0"/>
          </a:p>
        </p:txBody>
      </p:sp>
      <p:pic>
        <p:nvPicPr>
          <p:cNvPr id="9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28900" y="2570378"/>
            <a:ext cx="571500" cy="381305"/>
          </a:xfrm>
          <a:prstGeom prst="rect">
            <a:avLst/>
          </a:prstGeom>
        </p:spPr>
      </p:pic>
      <p:sp>
        <p:nvSpPr>
          <p:cNvPr id="91" name="Text 77"/>
          <p:cNvSpPr/>
          <p:nvPr/>
        </p:nvSpPr>
        <p:spPr>
          <a:xfrm>
            <a:off x="2628900" y="2570378"/>
            <a:ext cx="57150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</a:t>
            </a:r>
            <a:endParaRPr lang="en-US" sz="1200" dirty="0"/>
          </a:p>
        </p:txBody>
      </p:sp>
      <p:pic>
        <p:nvPicPr>
          <p:cNvPr id="9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28900" y="3104388"/>
            <a:ext cx="571500" cy="381305"/>
          </a:xfrm>
          <a:prstGeom prst="rect">
            <a:avLst/>
          </a:prstGeom>
        </p:spPr>
      </p:pic>
      <p:sp>
        <p:nvSpPr>
          <p:cNvPr id="93" name="Text 78"/>
          <p:cNvSpPr/>
          <p:nvPr/>
        </p:nvSpPr>
        <p:spPr>
          <a:xfrm>
            <a:off x="2628900" y="3104388"/>
            <a:ext cx="57150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</a:t>
            </a:r>
            <a:endParaRPr lang="en-US" sz="1200" dirty="0"/>
          </a:p>
        </p:txBody>
      </p:sp>
      <p:pic>
        <p:nvPicPr>
          <p:cNvPr id="9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33495" y="2818181"/>
            <a:ext cx="1171346" cy="418795"/>
          </a:xfrm>
          <a:prstGeom prst="rect">
            <a:avLst/>
          </a:prstGeom>
        </p:spPr>
      </p:pic>
      <p:sp>
        <p:nvSpPr>
          <p:cNvPr id="95" name="Text 79"/>
          <p:cNvSpPr/>
          <p:nvPr/>
        </p:nvSpPr>
        <p:spPr>
          <a:xfrm>
            <a:off x="3733495" y="2818181"/>
            <a:ext cx="1172261" cy="41971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[1, 2, 3]</a:t>
            </a:r>
            <a:endParaRPr lang="en-US" sz="1200" dirty="0"/>
          </a:p>
        </p:txBody>
      </p:sp>
      <p:pic>
        <p:nvPicPr>
          <p:cNvPr id="9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9600" y="2507285"/>
            <a:ext cx="571500" cy="381305"/>
          </a:xfrm>
          <a:prstGeom prst="rect">
            <a:avLst/>
          </a:prstGeom>
        </p:spPr>
      </p:pic>
      <p:sp>
        <p:nvSpPr>
          <p:cNvPr id="97" name="Text 80"/>
          <p:cNvSpPr/>
          <p:nvPr/>
        </p:nvSpPr>
        <p:spPr>
          <a:xfrm>
            <a:off x="8229600" y="2507285"/>
            <a:ext cx="57150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</a:t>
            </a:r>
            <a:endParaRPr lang="en-US" sz="1200" dirty="0"/>
          </a:p>
        </p:txBody>
      </p:sp>
      <p:pic>
        <p:nvPicPr>
          <p:cNvPr id="9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58300" y="2488082"/>
            <a:ext cx="1171346" cy="418795"/>
          </a:xfrm>
          <a:prstGeom prst="rect">
            <a:avLst/>
          </a:prstGeom>
        </p:spPr>
      </p:pic>
      <p:sp>
        <p:nvSpPr>
          <p:cNvPr id="99" name="Text 81"/>
          <p:cNvSpPr/>
          <p:nvPr/>
        </p:nvSpPr>
        <p:spPr>
          <a:xfrm>
            <a:off x="9258300" y="2488082"/>
            <a:ext cx="1172261" cy="41971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[1, 2, 3]</a:t>
            </a:r>
            <a:endParaRPr lang="en-US" sz="1200" dirty="0"/>
          </a:p>
        </p:txBody>
      </p:sp>
      <p:pic>
        <p:nvPicPr>
          <p:cNvPr id="10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29600" y="3167482"/>
            <a:ext cx="571500" cy="381305"/>
          </a:xfrm>
          <a:prstGeom prst="rect">
            <a:avLst/>
          </a:prstGeom>
        </p:spPr>
      </p:pic>
      <p:sp>
        <p:nvSpPr>
          <p:cNvPr id="101" name="Text 82"/>
          <p:cNvSpPr/>
          <p:nvPr/>
        </p:nvSpPr>
        <p:spPr>
          <a:xfrm>
            <a:off x="8229600" y="3167482"/>
            <a:ext cx="57150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</a:t>
            </a:r>
            <a:endParaRPr lang="en-US" sz="1200" dirty="0"/>
          </a:p>
        </p:txBody>
      </p:sp>
      <p:pic>
        <p:nvPicPr>
          <p:cNvPr id="10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58300" y="3148279"/>
            <a:ext cx="1171346" cy="418795"/>
          </a:xfrm>
          <a:prstGeom prst="rect">
            <a:avLst/>
          </a:prstGeom>
        </p:spPr>
      </p:pic>
      <p:sp>
        <p:nvSpPr>
          <p:cNvPr id="103" name="Text 83"/>
          <p:cNvSpPr/>
          <p:nvPr/>
        </p:nvSpPr>
        <p:spPr>
          <a:xfrm>
            <a:off x="9258300" y="3148279"/>
            <a:ext cx="1172261" cy="41971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[1, 2, 3]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26750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-4" r="-4" t="0" b="0"/>
          <a:stretch/>
        </p:blipFill>
        <p:spPr>
          <a:xfrm>
            <a:off x="0" y="4800600"/>
            <a:ext cx="4267505" cy="20574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76495" y="333756"/>
            <a:ext cx="6705295" cy="39812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181905" y="638251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77002" y="733349"/>
            <a:ext cx="190195" cy="19019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715000" y="676656"/>
            <a:ext cx="13661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여정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5181905" y="1209751"/>
            <a:ext cx="6096305" cy="761695"/>
          </a:xfrm>
          <a:prstGeom prst="roundRect">
            <a:avLst>
              <a:gd name="adj" fmla="val 12005"/>
            </a:avLst>
          </a:prstGeom>
          <a:solidFill>
            <a:srgbClr val="FFF5F5"/>
          </a:solidFill>
          <a:ln/>
          <a:effectLst>
            <a:outerShdw sx="100000" sy="100000" kx="0" ky="0" algn="bl" rotWithShape="0" blurRad="50800" dist="25400" dir="16200000">
              <a:srgbClr val="e24a32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5181905" y="1209751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E24A32"/>
          </a:solidFill>
          <a:ln w="12700">
            <a:solidFill>
              <a:srgbClr val="E24A32">
                <a:alpha val="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1455725"/>
            <a:ext cx="847649" cy="2761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72100" y="1455725"/>
            <a:ext cx="848563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A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6363310" y="1362456"/>
            <a:ext cx="47247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브리핑 (현재)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6363310" y="1628546"/>
            <a:ext cx="4724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4대 자료구조 핵심 이론 및 비교 학습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896905" y="1476756"/>
            <a:ext cx="228600" cy="22860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-1358" r="-1358" t="0" b="0"/>
          <a:stretch/>
        </p:blipFill>
        <p:spPr>
          <a:xfrm>
            <a:off x="8182051" y="2009851"/>
            <a:ext cx="95098" cy="123444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5181905" y="2171700"/>
            <a:ext cx="6096305" cy="761695"/>
          </a:xfrm>
          <a:prstGeom prst="roundRect">
            <a:avLst>
              <a:gd name="adj" fmla="val 12005"/>
            </a:avLst>
          </a:prstGeom>
          <a:solidFill>
            <a:srgbClr val="F9FAFB"/>
          </a:solidFill>
          <a:ln/>
        </p:spPr>
      </p:sp>
      <p:sp>
        <p:nvSpPr>
          <p:cNvPr id="19" name="Shape 11"/>
          <p:cNvSpPr/>
          <p:nvPr/>
        </p:nvSpPr>
        <p:spPr>
          <a:xfrm>
            <a:off x="5181905" y="2171700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2100" y="2417674"/>
            <a:ext cx="838505" cy="276149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72100" y="2417674"/>
            <a:ext cx="838505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B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6354166" y="2324405"/>
            <a:ext cx="47247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핑퐁 코딩 + 도전 실습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6354166" y="2590495"/>
            <a:ext cx="4724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코드를 작성하며 개념 체화 및 데이터 조작</a:t>
            </a:r>
            <a:endParaRPr lang="en-US" sz="10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886846" y="2457907"/>
            <a:ext cx="237744" cy="190195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rcRect l="-1358" r="-1358" t="0" b="0"/>
          <a:stretch/>
        </p:blipFill>
        <p:spPr>
          <a:xfrm>
            <a:off x="8182051" y="2971800"/>
            <a:ext cx="95098" cy="123444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5181905" y="3133649"/>
            <a:ext cx="6096305" cy="761695"/>
          </a:xfrm>
          <a:prstGeom prst="roundRect">
            <a:avLst>
              <a:gd name="adj" fmla="val 12005"/>
            </a:avLst>
          </a:prstGeom>
          <a:solidFill>
            <a:srgbClr val="F9FAFB"/>
          </a:solidFill>
          <a:ln/>
        </p:spPr>
      </p:sp>
      <p:sp>
        <p:nvSpPr>
          <p:cNvPr id="27" name="Shape 16"/>
          <p:cNvSpPr/>
          <p:nvPr/>
        </p:nvSpPr>
        <p:spPr>
          <a:xfrm>
            <a:off x="5181905" y="3133649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2100" y="3379622"/>
            <a:ext cx="847649" cy="276149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72100" y="3379622"/>
            <a:ext cx="848563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C</a:t>
            </a:r>
            <a:endParaRPr lang="en-US" sz="1000" dirty="0"/>
          </a:p>
        </p:txBody>
      </p:sp>
      <p:sp>
        <p:nvSpPr>
          <p:cNvPr id="30" name="Text 18"/>
          <p:cNvSpPr txBox="1"/>
          <p:nvPr/>
        </p:nvSpPr>
        <p:spPr>
          <a:xfrm>
            <a:off x="6366967" y="3286354"/>
            <a:ext cx="47155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심화 + 연습문제</a:t>
            </a:r>
            <a:endParaRPr lang="en-US" sz="1300" dirty="0"/>
          </a:p>
        </p:txBody>
      </p:sp>
      <p:sp>
        <p:nvSpPr>
          <p:cNvPr id="31" name="Text 19"/>
          <p:cNvSpPr txBox="1"/>
          <p:nvPr/>
        </p:nvSpPr>
        <p:spPr>
          <a:xfrm>
            <a:off x="6366967" y="3552444"/>
            <a:ext cx="4715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수정 및 응용 문제 풀이로 실력 다지기</a:t>
            </a:r>
            <a:endParaRPr lang="en-US" sz="10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0886846" y="3419856"/>
            <a:ext cx="237744" cy="190195"/>
          </a:xfrm>
          <a:prstGeom prst="rect">
            <a:avLst/>
          </a:prstGeom>
        </p:spPr>
      </p:pic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1" b="-11"/>
          <a:stretch/>
        </p:blipFill>
        <p:spPr>
          <a:xfrm>
            <a:off x="4876495" y="4543654"/>
            <a:ext cx="6705295" cy="1752905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5181905" y="4848149"/>
            <a:ext cx="381305" cy="38130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rcRect l="-1648" r="-1648" t="0" b="0"/>
          <a:stretch/>
        </p:blipFill>
        <p:spPr>
          <a:xfrm>
            <a:off x="5286146" y="4943246"/>
            <a:ext cx="171907" cy="190195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5715000" y="4886554"/>
            <a:ext cx="112196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목표</a:t>
            </a:r>
            <a:endParaRPr lang="en-US" sz="1800" dirty="0"/>
          </a:p>
        </p:txBody>
      </p:sp>
      <p:sp>
        <p:nvSpPr>
          <p:cNvPr id="37" name="Shape 22"/>
          <p:cNvSpPr/>
          <p:nvPr/>
        </p:nvSpPr>
        <p:spPr>
          <a:xfrm>
            <a:off x="5181905" y="5381244"/>
            <a:ext cx="6096305" cy="609905"/>
          </a:xfrm>
          <a:prstGeom prst="roundRect">
            <a:avLst>
              <a:gd name="adj" fmla="val 1874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530" b="-530"/>
          <a:stretch/>
        </p:blipFill>
        <p:spPr>
          <a:xfrm>
            <a:off x="5343754" y="5544007"/>
            <a:ext cx="247802" cy="286207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5743346" y="5381244"/>
            <a:ext cx="3267151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코로나 데이터를 </a:t>
            </a:r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자료구조</a:t>
            </a:r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자유롭게 다루기 </a:t>
            </a:r>
            <a:endParaRPr lang="en-US" sz="1300" dirty="0"/>
          </a:p>
        </p:txBody>
      </p:sp>
      <p:sp>
        <p:nvSpPr>
          <p:cNvPr id="40" name="Text 24"/>
          <p:cNvSpPr txBox="1"/>
          <p:nvPr/>
        </p:nvSpPr>
        <p:spPr>
          <a:xfrm>
            <a:off x="11792102" y="6324905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200" dirty="0"/>
          </a:p>
        </p:txBody>
      </p:sp>
      <p:sp>
        <p:nvSpPr>
          <p:cNvPr id="41" name="Text 25"/>
          <p:cNvSpPr txBox="1"/>
          <p:nvPr/>
        </p:nvSpPr>
        <p:spPr>
          <a:xfrm>
            <a:off x="609905" y="2083918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Course Roadmap</a:t>
            </a:r>
            <a:endParaRPr lang="en-US" sz="1000" dirty="0"/>
          </a:p>
        </p:txBody>
      </p:sp>
      <p:sp>
        <p:nvSpPr>
          <p:cNvPr id="42" name="Text 26"/>
          <p:cNvSpPr txBox="1"/>
          <p:nvPr/>
        </p:nvSpPr>
        <p:spPr>
          <a:xfrm>
            <a:off x="609905" y="2426818"/>
            <a:ext cx="31702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오늘의</a:t>
            </a:r>
            <a:pPr algn="l" indent="0" marL="0">
              <a:buNone/>
            </a:pPr>
            <a:endParaRPr lang="en-US" sz="4500" dirty="0"/>
          </a:p>
          <a:p>
            <a:pPr algn="l" indent="0" marL="0">
              <a:buNone/>
            </a:pPr>
            <a:r>
              <a:rPr lang="en-US" sz="4500" dirty="0">
                <a:solidFill>
                  <a:srgbClr val="E24A3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로드맵</a:t>
            </a:r>
            <a:endParaRPr lang="en-US" sz="450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20" b="-420"/>
          <a:stretch/>
        </p:blipFill>
        <p:spPr>
          <a:xfrm>
            <a:off x="609905" y="3874313"/>
            <a:ext cx="761695" cy="38405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609905" y="4217213"/>
            <a:ext cx="31245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 학습에서 실전 코딩까지, 단계별로 파이썬 자료구조를 정복하는 여정입니다.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571854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304495"/>
            <a:ext cx="1009498" cy="2761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2007" y="304495"/>
            <a:ext cx="6483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Ping ①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724205" y="369418"/>
            <a:ext cx="171907" cy="1335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9905" y="657454"/>
            <a:ext cx="64867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리스트 생성 · 인덱싱 · 슬라이싱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609905" y="1076249"/>
            <a:ext cx="4305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1주간 서울 기온 데이터를 활용한 리스트 기초 실습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10318090" y="737921"/>
            <a:ext cx="171907" cy="1335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372039" y="709574"/>
            <a:ext cx="12134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Instructor Demo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9905" y="1876349"/>
            <a:ext cx="10972800" cy="33147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09905" y="1876349"/>
            <a:ext cx="10972800" cy="448056"/>
          </a:xfrm>
          <a:prstGeom prst="roundRect">
            <a:avLst>
              <a:gd name="adj" fmla="val 52106"/>
            </a:avLst>
          </a:prstGeom>
          <a:solidFill>
            <a:srgbClr val="0F172A"/>
          </a:solidFill>
          <a:ln/>
        </p:spPr>
      </p:sp>
      <p:sp>
        <p:nvSpPr>
          <p:cNvPr id="14" name="Shape 8"/>
          <p:cNvSpPr/>
          <p:nvPr/>
        </p:nvSpPr>
        <p:spPr>
          <a:xfrm>
            <a:off x="609905" y="2315261"/>
            <a:ext cx="10972800" cy="9144"/>
          </a:xfrm>
          <a:prstGeom prst="roundRect">
            <a:avLst>
              <a:gd name="adj" fmla="val 2553191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38505" y="2036369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1028700" y="2036369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1218895" y="2036369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333695" y="1990649"/>
            <a:ext cx="16486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week2_list_basic.py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2672791"/>
            <a:ext cx="30769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1주간 서울 기온 데이터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3871570" y="267279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temps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4557370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4694530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4831690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496885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5243170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538033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5654650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5791810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592897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6204204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6341364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6615684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6752844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7027164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7164324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7438644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7575804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7712964" y="267279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8398764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8535924" y="2672791"/>
            <a:ext cx="18315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"월요일 기온:"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10228478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42" name="Text 36"/>
          <p:cNvSpPr txBox="1"/>
          <p:nvPr/>
        </p:nvSpPr>
        <p:spPr>
          <a:xfrm>
            <a:off x="10502798" y="267279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temps</a:t>
            </a:r>
            <a:endParaRPr lang="en-US" sz="1800" dirty="0"/>
          </a:p>
        </p:txBody>
      </p:sp>
      <p:sp>
        <p:nvSpPr>
          <p:cNvPr id="43" name="Text 37"/>
          <p:cNvSpPr txBox="1"/>
          <p:nvPr/>
        </p:nvSpPr>
        <p:spPr>
          <a:xfrm>
            <a:off x="11188598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800" dirty="0"/>
          </a:p>
        </p:txBody>
      </p:sp>
      <p:sp>
        <p:nvSpPr>
          <p:cNvPr id="44" name="Text 38"/>
          <p:cNvSpPr txBox="1"/>
          <p:nvPr/>
        </p:nvSpPr>
        <p:spPr>
          <a:xfrm>
            <a:off x="11325758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800" dirty="0"/>
          </a:p>
        </p:txBody>
      </p:sp>
      <p:sp>
        <p:nvSpPr>
          <p:cNvPr id="45" name="Text 39"/>
          <p:cNvSpPr txBox="1"/>
          <p:nvPr/>
        </p:nvSpPr>
        <p:spPr>
          <a:xfrm>
            <a:off x="11462918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800" dirty="0"/>
          </a:p>
        </p:txBody>
      </p:sp>
      <p:sp>
        <p:nvSpPr>
          <p:cNvPr id="46" name="Text 40"/>
          <p:cNvSpPr txBox="1"/>
          <p:nvPr/>
        </p:nvSpPr>
        <p:spPr>
          <a:xfrm>
            <a:off x="11600078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47" name="Text 41"/>
          <p:cNvSpPr txBox="1"/>
          <p:nvPr/>
        </p:nvSpPr>
        <p:spPr>
          <a:xfrm>
            <a:off x="11737238" y="267279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800" dirty="0"/>
          </a:p>
        </p:txBody>
      </p:sp>
      <p:sp>
        <p:nvSpPr>
          <p:cNvPr id="48" name="Text 42"/>
          <p:cNvSpPr txBox="1"/>
          <p:nvPr/>
        </p:nvSpPr>
        <p:spPr>
          <a:xfrm>
            <a:off x="12423038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49" name="Text 43"/>
          <p:cNvSpPr txBox="1"/>
          <p:nvPr/>
        </p:nvSpPr>
        <p:spPr>
          <a:xfrm>
            <a:off x="12560198" y="2672791"/>
            <a:ext cx="16861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"금~일 기온:"</a:t>
            </a:r>
            <a:endParaRPr lang="en-US" sz="1800" dirty="0"/>
          </a:p>
        </p:txBody>
      </p:sp>
      <p:sp>
        <p:nvSpPr>
          <p:cNvPr id="50" name="Text 44"/>
          <p:cNvSpPr txBox="1"/>
          <p:nvPr/>
        </p:nvSpPr>
        <p:spPr>
          <a:xfrm>
            <a:off x="14160398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51" name="Text 45"/>
          <p:cNvSpPr txBox="1"/>
          <p:nvPr/>
        </p:nvSpPr>
        <p:spPr>
          <a:xfrm>
            <a:off x="14435633" y="267279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temps</a:t>
            </a:r>
            <a:endParaRPr lang="en-US" sz="1800" dirty="0"/>
          </a:p>
        </p:txBody>
      </p:sp>
      <p:sp>
        <p:nvSpPr>
          <p:cNvPr id="52" name="Text 46"/>
          <p:cNvSpPr txBox="1"/>
          <p:nvPr/>
        </p:nvSpPr>
        <p:spPr>
          <a:xfrm>
            <a:off x="15121433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800" dirty="0"/>
          </a:p>
        </p:txBody>
      </p:sp>
      <p:sp>
        <p:nvSpPr>
          <p:cNvPr id="53" name="Text 47"/>
          <p:cNvSpPr txBox="1"/>
          <p:nvPr/>
        </p:nvSpPr>
        <p:spPr>
          <a:xfrm>
            <a:off x="15258593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</a:t>
            </a:r>
            <a:endParaRPr lang="en-US" sz="1800" dirty="0"/>
          </a:p>
        </p:txBody>
      </p:sp>
      <p:sp>
        <p:nvSpPr>
          <p:cNvPr id="54" name="Text 48"/>
          <p:cNvSpPr txBox="1"/>
          <p:nvPr/>
        </p:nvSpPr>
        <p:spPr>
          <a:xfrm>
            <a:off x="15395753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800" dirty="0"/>
          </a:p>
        </p:txBody>
      </p:sp>
      <p:sp>
        <p:nvSpPr>
          <p:cNvPr id="55" name="Text 49"/>
          <p:cNvSpPr txBox="1"/>
          <p:nvPr/>
        </p:nvSpPr>
        <p:spPr>
          <a:xfrm>
            <a:off x="15532913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800" dirty="0"/>
          </a:p>
        </p:txBody>
      </p:sp>
      <p:sp>
        <p:nvSpPr>
          <p:cNvPr id="56" name="Text 50"/>
          <p:cNvSpPr txBox="1"/>
          <p:nvPr/>
        </p:nvSpPr>
        <p:spPr>
          <a:xfrm>
            <a:off x="15670073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5" y="2991002"/>
            <a:ext cx="10972800" cy="371246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609905" y="2991002"/>
            <a:ext cx="10972800" cy="372161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E24A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 ( "최고 기온:" , max ( temps ) )</a:t>
            </a:r>
            <a:endParaRPr lang="en-US" sz="1800" dirty="0"/>
          </a:p>
        </p:txBody>
      </p:sp>
      <p:sp>
        <p:nvSpPr>
          <p:cNvPr id="59" name="Text 52"/>
          <p:cNvSpPr txBox="1"/>
          <p:nvPr/>
        </p:nvSpPr>
        <p:spPr>
          <a:xfrm>
            <a:off x="990295" y="303855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800" dirty="0"/>
          </a:p>
        </p:txBody>
      </p:sp>
      <p:sp>
        <p:nvSpPr>
          <p:cNvPr id="60" name="Text 53"/>
          <p:cNvSpPr txBox="1"/>
          <p:nvPr/>
        </p:nvSpPr>
        <p:spPr>
          <a:xfrm>
            <a:off x="1676095" y="303855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61" name="Text 54"/>
          <p:cNvSpPr txBox="1"/>
          <p:nvPr/>
        </p:nvSpPr>
        <p:spPr>
          <a:xfrm>
            <a:off x="1814170" y="3038551"/>
            <a:ext cx="1543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"최고 기온:"</a:t>
            </a:r>
            <a:endParaRPr lang="en-US" sz="1800" dirty="0"/>
          </a:p>
        </p:txBody>
      </p:sp>
      <p:sp>
        <p:nvSpPr>
          <p:cNvPr id="62" name="Text 55"/>
          <p:cNvSpPr txBox="1"/>
          <p:nvPr/>
        </p:nvSpPr>
        <p:spPr>
          <a:xfrm>
            <a:off x="3551530" y="3038551"/>
            <a:ext cx="495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</a:t>
            </a:r>
            <a:endParaRPr lang="en-US" sz="1800" dirty="0"/>
          </a:p>
        </p:txBody>
      </p:sp>
      <p:sp>
        <p:nvSpPr>
          <p:cNvPr id="63" name="Text 56"/>
          <p:cNvSpPr txBox="1"/>
          <p:nvPr/>
        </p:nvSpPr>
        <p:spPr>
          <a:xfrm>
            <a:off x="3963010" y="303855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64" name="Text 57"/>
          <p:cNvSpPr txBox="1"/>
          <p:nvPr/>
        </p:nvSpPr>
        <p:spPr>
          <a:xfrm>
            <a:off x="4100170" y="303855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temps</a:t>
            </a:r>
            <a:endParaRPr lang="en-US" sz="1800" dirty="0"/>
          </a:p>
        </p:txBody>
      </p:sp>
      <p:sp>
        <p:nvSpPr>
          <p:cNvPr id="65" name="Text 58"/>
          <p:cNvSpPr txBox="1"/>
          <p:nvPr/>
        </p:nvSpPr>
        <p:spPr>
          <a:xfrm>
            <a:off x="4785970" y="303855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66" name="Text 59"/>
          <p:cNvSpPr txBox="1"/>
          <p:nvPr/>
        </p:nvSpPr>
        <p:spPr>
          <a:xfrm>
            <a:off x="4923130" y="303855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67" name="Text 60"/>
          <p:cNvSpPr txBox="1"/>
          <p:nvPr/>
        </p:nvSpPr>
        <p:spPr>
          <a:xfrm>
            <a:off x="990295" y="340431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800" dirty="0"/>
          </a:p>
        </p:txBody>
      </p:sp>
      <p:sp>
        <p:nvSpPr>
          <p:cNvPr id="68" name="Text 61"/>
          <p:cNvSpPr txBox="1"/>
          <p:nvPr/>
        </p:nvSpPr>
        <p:spPr>
          <a:xfrm>
            <a:off x="1676095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69" name="Text 62"/>
          <p:cNvSpPr txBox="1"/>
          <p:nvPr/>
        </p:nvSpPr>
        <p:spPr>
          <a:xfrm>
            <a:off x="1814170" y="3404311"/>
            <a:ext cx="1543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"평균 기온:"</a:t>
            </a:r>
            <a:endParaRPr lang="en-US" sz="1800" dirty="0"/>
          </a:p>
        </p:txBody>
      </p:sp>
      <p:sp>
        <p:nvSpPr>
          <p:cNvPr id="70" name="Text 63"/>
          <p:cNvSpPr txBox="1"/>
          <p:nvPr/>
        </p:nvSpPr>
        <p:spPr>
          <a:xfrm>
            <a:off x="3277210" y="340431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71" name="Text 64"/>
          <p:cNvSpPr txBox="1"/>
          <p:nvPr/>
        </p:nvSpPr>
        <p:spPr>
          <a:xfrm>
            <a:off x="3551530" y="3404311"/>
            <a:ext cx="495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sum</a:t>
            </a:r>
            <a:endParaRPr lang="en-US" sz="1800" dirty="0"/>
          </a:p>
        </p:txBody>
      </p:sp>
      <p:sp>
        <p:nvSpPr>
          <p:cNvPr id="72" name="Text 65"/>
          <p:cNvSpPr txBox="1"/>
          <p:nvPr/>
        </p:nvSpPr>
        <p:spPr>
          <a:xfrm>
            <a:off x="3963010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73" name="Text 66"/>
          <p:cNvSpPr txBox="1"/>
          <p:nvPr/>
        </p:nvSpPr>
        <p:spPr>
          <a:xfrm>
            <a:off x="4100170" y="340431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temps</a:t>
            </a:r>
            <a:endParaRPr lang="en-US" sz="1800" dirty="0"/>
          </a:p>
        </p:txBody>
      </p:sp>
      <p:sp>
        <p:nvSpPr>
          <p:cNvPr id="74" name="Text 67"/>
          <p:cNvSpPr txBox="1"/>
          <p:nvPr/>
        </p:nvSpPr>
        <p:spPr>
          <a:xfrm>
            <a:off x="4785970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75" name="Text 68"/>
          <p:cNvSpPr txBox="1"/>
          <p:nvPr/>
        </p:nvSpPr>
        <p:spPr>
          <a:xfrm>
            <a:off x="4923130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</a:t>
            </a:r>
            <a:endParaRPr lang="en-US" sz="1800" dirty="0"/>
          </a:p>
        </p:txBody>
      </p:sp>
      <p:sp>
        <p:nvSpPr>
          <p:cNvPr id="76" name="Text 69"/>
          <p:cNvSpPr txBox="1"/>
          <p:nvPr/>
        </p:nvSpPr>
        <p:spPr>
          <a:xfrm>
            <a:off x="5060290" y="3404311"/>
            <a:ext cx="495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len</a:t>
            </a:r>
            <a:endParaRPr lang="en-US" sz="1800" dirty="0"/>
          </a:p>
        </p:txBody>
      </p:sp>
      <p:sp>
        <p:nvSpPr>
          <p:cNvPr id="77" name="Text 70"/>
          <p:cNvSpPr txBox="1"/>
          <p:nvPr/>
        </p:nvSpPr>
        <p:spPr>
          <a:xfrm>
            <a:off x="5472684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78" name="Text 71"/>
          <p:cNvSpPr txBox="1"/>
          <p:nvPr/>
        </p:nvSpPr>
        <p:spPr>
          <a:xfrm>
            <a:off x="5609844" y="340431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temps</a:t>
            </a:r>
            <a:endParaRPr lang="en-US" sz="1800" dirty="0"/>
          </a:p>
        </p:txBody>
      </p:sp>
      <p:sp>
        <p:nvSpPr>
          <p:cNvPr id="79" name="Text 72"/>
          <p:cNvSpPr txBox="1"/>
          <p:nvPr/>
        </p:nvSpPr>
        <p:spPr>
          <a:xfrm>
            <a:off x="6295644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80" name="Text 73"/>
          <p:cNvSpPr txBox="1"/>
          <p:nvPr/>
        </p:nvSpPr>
        <p:spPr>
          <a:xfrm>
            <a:off x="6432804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pic>
        <p:nvPicPr>
          <p:cNvPr id="8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" b="-4"/>
          <a:stretch/>
        </p:blipFill>
        <p:spPr>
          <a:xfrm>
            <a:off x="609905" y="5419649"/>
            <a:ext cx="10972800" cy="981151"/>
          </a:xfrm>
          <a:prstGeom prst="rect">
            <a:avLst/>
          </a:prstGeom>
        </p:spPr>
      </p:pic>
      <p:pic>
        <p:nvPicPr>
          <p:cNvPr id="8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72007" y="5796382"/>
            <a:ext cx="228600" cy="228600"/>
          </a:xfrm>
          <a:prstGeom prst="rect">
            <a:avLst/>
          </a:prstGeom>
        </p:spPr>
      </p:pic>
      <p:sp>
        <p:nvSpPr>
          <p:cNvPr id="83" name="Text 74"/>
          <p:cNvSpPr txBox="1"/>
          <p:nvPr/>
        </p:nvSpPr>
        <p:spPr>
          <a:xfrm>
            <a:off x="1429207" y="5609844"/>
            <a:ext cx="77824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교수자 가이드</a:t>
            </a:r>
            <a:endParaRPr lang="en-US" sz="1500" dirty="0"/>
          </a:p>
        </p:txBody>
      </p:sp>
      <p:sp>
        <p:nvSpPr>
          <p:cNvPr id="84" name="Text 75"/>
          <p:cNvSpPr txBox="1"/>
          <p:nvPr/>
        </p:nvSpPr>
        <p:spPr>
          <a:xfrm>
            <a:off x="1429207" y="5915254"/>
            <a:ext cx="77824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리스트의 인덱스는 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부터 시작하고, 슬라이싱 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end는 포함되지 않음을 강조해주세요. </a:t>
            </a:r>
            <a:endParaRPr lang="en-US" sz="1300" dirty="0"/>
          </a:p>
        </p:txBody>
      </p:sp>
      <p:pic>
        <p:nvPicPr>
          <p:cNvPr id="8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7091" y="5982005"/>
            <a:ext cx="181051" cy="190195"/>
          </a:xfrm>
          <a:prstGeom prst="rect">
            <a:avLst/>
          </a:prstGeom>
        </p:spPr>
      </p:pic>
      <p:sp>
        <p:nvSpPr>
          <p:cNvPr id="86" name="Text 76"/>
          <p:cNvSpPr/>
          <p:nvPr/>
        </p:nvSpPr>
        <p:spPr>
          <a:xfrm>
            <a:off x="2787091" y="5982005"/>
            <a:ext cx="1810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300" dirty="0"/>
          </a:p>
        </p:txBody>
      </p:sp>
      <p:pic>
        <p:nvPicPr>
          <p:cNvPr id="8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4763" y="5982005"/>
            <a:ext cx="1209751" cy="190195"/>
          </a:xfrm>
          <a:prstGeom prst="rect">
            <a:avLst/>
          </a:prstGeom>
        </p:spPr>
      </p:pic>
      <p:sp>
        <p:nvSpPr>
          <p:cNvPr id="88" name="Text 77"/>
          <p:cNvSpPr/>
          <p:nvPr/>
        </p:nvSpPr>
        <p:spPr>
          <a:xfrm>
            <a:off x="4734763" y="5982005"/>
            <a:ext cx="12097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[start:end]</a:t>
            </a:r>
            <a:endParaRPr lang="en-US" sz="1300" dirty="0"/>
          </a:p>
        </p:txBody>
      </p:sp>
      <p:sp>
        <p:nvSpPr>
          <p:cNvPr id="89" name="Shape 78"/>
          <p:cNvSpPr/>
          <p:nvPr/>
        </p:nvSpPr>
        <p:spPr>
          <a:xfrm>
            <a:off x="4869180" y="6191402"/>
            <a:ext cx="2457907" cy="362102"/>
          </a:xfrm>
          <a:prstGeom prst="roundRect">
            <a:avLst>
              <a:gd name="adj" fmla="val 26582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Text 79"/>
          <p:cNvSpPr txBox="1"/>
          <p:nvPr/>
        </p:nvSpPr>
        <p:spPr>
          <a:xfrm>
            <a:off x="5021885" y="6271870"/>
            <a:ext cx="409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Press</a:t>
            </a:r>
            <a:endParaRPr lang="en-US" sz="1000" dirty="0"/>
          </a:p>
        </p:txBody>
      </p:sp>
      <p:pic>
        <p:nvPicPr>
          <p:cNvPr id="9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0622" y="6267298"/>
            <a:ext cx="314554" cy="209398"/>
          </a:xfrm>
          <a:prstGeom prst="rect">
            <a:avLst/>
          </a:prstGeom>
        </p:spPr>
      </p:pic>
      <p:sp>
        <p:nvSpPr>
          <p:cNvPr id="92" name="Text 80"/>
          <p:cNvSpPr/>
          <p:nvPr/>
        </p:nvSpPr>
        <p:spPr>
          <a:xfrm>
            <a:off x="5430622" y="6267298"/>
            <a:ext cx="3145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</a:t>
            </a:r>
            <a:endParaRPr lang="en-US" sz="900" dirty="0"/>
          </a:p>
        </p:txBody>
      </p:sp>
      <p:sp>
        <p:nvSpPr>
          <p:cNvPr id="93" name="Text 81"/>
          <p:cNvSpPr txBox="1"/>
          <p:nvPr/>
        </p:nvSpPr>
        <p:spPr>
          <a:xfrm>
            <a:off x="5818327" y="6271870"/>
            <a:ext cx="152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000" dirty="0"/>
          </a:p>
        </p:txBody>
      </p:sp>
      <p:pic>
        <p:nvPicPr>
          <p:cNvPr id="9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8289" y="6267298"/>
            <a:ext cx="409651" cy="209398"/>
          </a:xfrm>
          <a:prstGeom prst="rect">
            <a:avLst/>
          </a:prstGeom>
        </p:spPr>
      </p:pic>
      <p:sp>
        <p:nvSpPr>
          <p:cNvPr id="95" name="Text 82"/>
          <p:cNvSpPr/>
          <p:nvPr/>
        </p:nvSpPr>
        <p:spPr>
          <a:xfrm>
            <a:off x="5968289" y="6267298"/>
            <a:ext cx="409651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</a:t>
            </a:r>
            <a:endParaRPr lang="en-US" sz="900" dirty="0"/>
          </a:p>
        </p:txBody>
      </p:sp>
      <p:sp>
        <p:nvSpPr>
          <p:cNvPr id="96" name="Text 83"/>
          <p:cNvSpPr txBox="1"/>
          <p:nvPr/>
        </p:nvSpPr>
        <p:spPr>
          <a:xfrm>
            <a:off x="6451092" y="6271870"/>
            <a:ext cx="8622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 run code</a:t>
            </a:r>
            <a:endParaRPr lang="en-US" sz="1000" dirty="0"/>
          </a:p>
        </p:txBody>
      </p:sp>
      <p:sp>
        <p:nvSpPr>
          <p:cNvPr id="97" name="Text 84"/>
          <p:cNvSpPr txBox="1"/>
          <p:nvPr/>
        </p:nvSpPr>
        <p:spPr>
          <a:xfrm>
            <a:off x="11751869" y="64008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571854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304495"/>
            <a:ext cx="1076249" cy="2761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2007" y="304495"/>
            <a:ext cx="7150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Pong ①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724205" y="369418"/>
            <a:ext cx="171907" cy="1335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9905" y="657454"/>
            <a:ext cx="42958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리스트 변형 과제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609905" y="1076249"/>
            <a:ext cx="47786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Ping에서 배운 내용을 바탕으로 직접 코드를 완성하세요.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2914" y="662026"/>
            <a:ext cx="1533449" cy="286207"/>
          </a:xfrm>
          <a:prstGeom prst="roundRect">
            <a:avLst>
              <a:gd name="adj" fmla="val 319489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10176358" y="737921"/>
            <a:ext cx="171907" cy="1335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367467" y="662026"/>
            <a:ext cx="10954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Student Exercise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09905" y="1876349"/>
            <a:ext cx="3733495" cy="3105302"/>
          </a:xfrm>
          <a:prstGeom prst="roundRect">
            <a:avLst>
              <a:gd name="adj" fmla="val 10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09905" y="1876349"/>
            <a:ext cx="57607" cy="3105302"/>
          </a:xfrm>
          <a:prstGeom prst="roundRect">
            <a:avLst>
              <a:gd name="adj" fmla="val 5842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276502" y="2180844"/>
            <a:ext cx="287761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Mission </a:t>
            </a:r>
            <a:endParaRPr lang="en-US" sz="1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2007" y="2219249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72007" y="2638044"/>
            <a:ext cx="3143707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7일간의 </a:t>
            </a:r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코로나19 확진자 수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데이터가 리스트로 주어졌습니다. 빈칸을 채워 데이터를 분석하세요. 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331366" y="3702406"/>
            <a:ext cx="1702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인덱싱으로 첫 값 찾기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07" y="3740810"/>
            <a:ext cx="286207" cy="20939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72007" y="3740810"/>
            <a:ext cx="286207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Q1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356055" y="4064508"/>
            <a:ext cx="19586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슬라이싱으로 끝 3개 찾기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07" y="4102913"/>
            <a:ext cx="314554" cy="20939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72007" y="4102913"/>
            <a:ext cx="3145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Q2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1358798" y="4426610"/>
            <a:ext cx="1860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내장 함수로 통계 구하기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07" y="4465015"/>
            <a:ext cx="314554" cy="20939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72007" y="4465015"/>
            <a:ext cx="3145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Q3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609905" y="5207508"/>
            <a:ext cx="3733495" cy="1371600"/>
          </a:xfrm>
          <a:prstGeom prst="roundRect">
            <a:avLst>
              <a:gd name="adj" fmla="val 370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999439" y="5407762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Hint 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0" b="-100"/>
          <a:stretch/>
        </p:blipFill>
        <p:spPr>
          <a:xfrm>
            <a:off x="809244" y="5446166"/>
            <a:ext cx="114300" cy="15270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09244" y="5712257"/>
            <a:ext cx="3525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번째 인덱스는 </a:t>
            </a:r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809244" y="5940857"/>
            <a:ext cx="38231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뒤에서부터 셀 때는 </a:t>
            </a:r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붙이거나 </a:t>
            </a:r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len()</a:t>
            </a:r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활용합니다.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809244" y="6169457"/>
            <a:ext cx="3448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합계는 </a:t>
            </a:r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sum()</a:t>
            </a:r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길이는 </a:t>
            </a:r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len()</a:t>
            </a:r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최댓값은 </a:t>
            </a:r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max()</a:t>
            </a:r>
            <a:endParaRPr lang="en-US" sz="10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647895" y="1876349"/>
            <a:ext cx="6933895" cy="4702759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4647895" y="1876349"/>
            <a:ext cx="6933895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/>
        </p:spPr>
      </p:sp>
      <p:sp>
        <p:nvSpPr>
          <p:cNvPr id="35" name="Shape 24"/>
          <p:cNvSpPr/>
          <p:nvPr/>
        </p:nvSpPr>
        <p:spPr>
          <a:xfrm>
            <a:off x="4647895" y="2296058"/>
            <a:ext cx="6933895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4876495" y="2029054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5067605" y="2029054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5257800" y="2029054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7573975" y="1990649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exercise_01.py</a:t>
            </a:r>
            <a:endParaRPr lang="en-US" sz="1000" dirty="0"/>
          </a:p>
        </p:txBody>
      </p:sp>
      <p:sp>
        <p:nvSpPr>
          <p:cNvPr id="40" name="Text 29"/>
          <p:cNvSpPr txBox="1"/>
          <p:nvPr/>
        </p:nvSpPr>
        <p:spPr>
          <a:xfrm>
            <a:off x="4953305" y="2667305"/>
            <a:ext cx="3324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7일간 코로나19 일별 확진자 수</a:t>
            </a:r>
            <a:endParaRPr lang="en-US" sz="1500" dirty="0"/>
          </a:p>
        </p:txBody>
      </p:sp>
      <p:sp>
        <p:nvSpPr>
          <p:cNvPr id="41" name="Text 30"/>
          <p:cNvSpPr txBox="1"/>
          <p:nvPr/>
        </p:nvSpPr>
        <p:spPr>
          <a:xfrm>
            <a:off x="8077810" y="2667305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daily_cases</a:t>
            </a:r>
            <a:endParaRPr lang="en-US" sz="1500" dirty="0"/>
          </a:p>
        </p:txBody>
      </p:sp>
      <p:sp>
        <p:nvSpPr>
          <p:cNvPr id="42" name="Text 31"/>
          <p:cNvSpPr txBox="1"/>
          <p:nvPr/>
        </p:nvSpPr>
        <p:spPr>
          <a:xfrm>
            <a:off x="9335110" y="2667305"/>
            <a:ext cx="543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[</a:t>
            </a:r>
            <a:endParaRPr lang="en-US" sz="1500" dirty="0"/>
          </a:p>
        </p:txBody>
      </p:sp>
      <p:sp>
        <p:nvSpPr>
          <p:cNvPr id="43" name="Text 32"/>
          <p:cNvSpPr txBox="1"/>
          <p:nvPr/>
        </p:nvSpPr>
        <p:spPr>
          <a:xfrm>
            <a:off x="9792310" y="2667305"/>
            <a:ext cx="428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523</a:t>
            </a:r>
            <a:endParaRPr lang="en-US" sz="1500" dirty="0"/>
          </a:p>
        </p:txBody>
      </p:sp>
      <p:sp>
        <p:nvSpPr>
          <p:cNvPr id="44" name="Text 33"/>
          <p:cNvSpPr txBox="1"/>
          <p:nvPr/>
        </p:nvSpPr>
        <p:spPr>
          <a:xfrm>
            <a:off x="10135210" y="2667305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500" dirty="0"/>
          </a:p>
        </p:txBody>
      </p:sp>
      <p:sp>
        <p:nvSpPr>
          <p:cNvPr id="45" name="Text 34"/>
          <p:cNvSpPr txBox="1"/>
          <p:nvPr/>
        </p:nvSpPr>
        <p:spPr>
          <a:xfrm>
            <a:off x="10363810" y="2667305"/>
            <a:ext cx="428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681</a:t>
            </a:r>
            <a:endParaRPr lang="en-US" sz="1500" dirty="0"/>
          </a:p>
        </p:txBody>
      </p:sp>
      <p:sp>
        <p:nvSpPr>
          <p:cNvPr id="46" name="Text 35"/>
          <p:cNvSpPr txBox="1"/>
          <p:nvPr/>
        </p:nvSpPr>
        <p:spPr>
          <a:xfrm>
            <a:off x="10707624" y="2667305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10936224" y="2667305"/>
            <a:ext cx="428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445</a:t>
            </a:r>
            <a:endParaRPr lang="en-US" sz="1500" dirty="0"/>
          </a:p>
        </p:txBody>
      </p:sp>
      <p:sp>
        <p:nvSpPr>
          <p:cNvPr id="48" name="Text 37"/>
          <p:cNvSpPr txBox="1"/>
          <p:nvPr/>
        </p:nvSpPr>
        <p:spPr>
          <a:xfrm>
            <a:off x="11279124" y="2667305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500" dirty="0"/>
          </a:p>
        </p:txBody>
      </p:sp>
      <p:sp>
        <p:nvSpPr>
          <p:cNvPr id="49" name="Text 38"/>
          <p:cNvSpPr txBox="1"/>
          <p:nvPr/>
        </p:nvSpPr>
        <p:spPr>
          <a:xfrm>
            <a:off x="11507724" y="2667305"/>
            <a:ext cx="428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892</a:t>
            </a:r>
            <a:endParaRPr lang="en-US" sz="1500" dirty="0"/>
          </a:p>
        </p:txBody>
      </p:sp>
      <p:sp>
        <p:nvSpPr>
          <p:cNvPr id="50" name="Text 39"/>
          <p:cNvSpPr txBox="1"/>
          <p:nvPr/>
        </p:nvSpPr>
        <p:spPr>
          <a:xfrm>
            <a:off x="11850624" y="2667305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500" dirty="0"/>
          </a:p>
        </p:txBody>
      </p:sp>
      <p:sp>
        <p:nvSpPr>
          <p:cNvPr id="51" name="Text 40"/>
          <p:cNvSpPr txBox="1"/>
          <p:nvPr/>
        </p:nvSpPr>
        <p:spPr>
          <a:xfrm>
            <a:off x="12079224" y="2667305"/>
            <a:ext cx="543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1023</a:t>
            </a:r>
            <a:endParaRPr lang="en-US" sz="1500" dirty="0"/>
          </a:p>
        </p:txBody>
      </p:sp>
      <p:sp>
        <p:nvSpPr>
          <p:cNvPr id="52" name="Text 41"/>
          <p:cNvSpPr txBox="1"/>
          <p:nvPr/>
        </p:nvSpPr>
        <p:spPr>
          <a:xfrm>
            <a:off x="12537338" y="2667305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500" dirty="0"/>
          </a:p>
        </p:txBody>
      </p:sp>
      <p:sp>
        <p:nvSpPr>
          <p:cNvPr id="53" name="Text 42"/>
          <p:cNvSpPr txBox="1"/>
          <p:nvPr/>
        </p:nvSpPr>
        <p:spPr>
          <a:xfrm>
            <a:off x="12765938" y="2667305"/>
            <a:ext cx="428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756</a:t>
            </a:r>
            <a:endParaRPr lang="en-US" sz="1500" dirty="0"/>
          </a:p>
        </p:txBody>
      </p:sp>
      <p:sp>
        <p:nvSpPr>
          <p:cNvPr id="54" name="Text 43"/>
          <p:cNvSpPr txBox="1"/>
          <p:nvPr/>
        </p:nvSpPr>
        <p:spPr>
          <a:xfrm>
            <a:off x="13108838" y="2667305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500" dirty="0"/>
          </a:p>
        </p:txBody>
      </p:sp>
      <p:sp>
        <p:nvSpPr>
          <p:cNvPr id="55" name="Text 44"/>
          <p:cNvSpPr txBox="1"/>
          <p:nvPr/>
        </p:nvSpPr>
        <p:spPr>
          <a:xfrm>
            <a:off x="13337438" y="2667305"/>
            <a:ext cx="428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634</a:t>
            </a:r>
            <a:endParaRPr lang="en-US" sz="1500" dirty="0"/>
          </a:p>
        </p:txBody>
      </p:sp>
      <p:sp>
        <p:nvSpPr>
          <p:cNvPr id="56" name="Text 45"/>
          <p:cNvSpPr txBox="1"/>
          <p:nvPr/>
        </p:nvSpPr>
        <p:spPr>
          <a:xfrm>
            <a:off x="13680338" y="2667305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500" dirty="0"/>
          </a:p>
        </p:txBody>
      </p:sp>
      <p:sp>
        <p:nvSpPr>
          <p:cNvPr id="57" name="Text 46"/>
          <p:cNvSpPr txBox="1"/>
          <p:nvPr/>
        </p:nvSpPr>
        <p:spPr>
          <a:xfrm>
            <a:off x="13908938" y="2667305"/>
            <a:ext cx="3629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1) 첫째 날 확진자 수를 출력하라.</a:t>
            </a:r>
            <a:endParaRPr lang="en-US" sz="1500" dirty="0"/>
          </a:p>
        </p:txBody>
      </p:sp>
      <p:sp>
        <p:nvSpPr>
          <p:cNvPr id="58" name="Text 47"/>
          <p:cNvSpPr txBox="1"/>
          <p:nvPr/>
        </p:nvSpPr>
        <p:spPr>
          <a:xfrm>
            <a:off x="17338853" y="2667305"/>
            <a:ext cx="6574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500" dirty="0"/>
          </a:p>
        </p:txBody>
      </p:sp>
      <p:sp>
        <p:nvSpPr>
          <p:cNvPr id="59" name="Text 48"/>
          <p:cNvSpPr txBox="1"/>
          <p:nvPr/>
        </p:nvSpPr>
        <p:spPr>
          <a:xfrm>
            <a:off x="17910353" y="2667305"/>
            <a:ext cx="1457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("첫째 날:",</a:t>
            </a:r>
            <a:endParaRPr lang="en-US" sz="1500" dirty="0"/>
          </a:p>
        </p:txBody>
      </p:sp>
      <p:sp>
        <p:nvSpPr>
          <p:cNvPr id="60" name="Shape 49"/>
          <p:cNvSpPr/>
          <p:nvPr/>
        </p:nvSpPr>
        <p:spPr>
          <a:xfrm>
            <a:off x="19320358" y="2952598"/>
            <a:ext cx="571500" cy="28346"/>
          </a:xfrm>
          <a:prstGeom prst="rect">
            <a:avLst/>
          </a:prstGeom>
          <a:solidFill>
            <a:srgbClr val="F6A412"/>
          </a:solidFill>
          <a:ln w="12700">
            <a:solidFill>
              <a:srgbClr val="F6A412">
                <a:alpha val="0"/>
              </a:srgbClr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19281953" y="2609698"/>
            <a:ext cx="6483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500" dirty="0"/>
          </a:p>
        </p:txBody>
      </p:sp>
      <p:sp>
        <p:nvSpPr>
          <p:cNvPr id="62" name="Text 51"/>
          <p:cNvSpPr txBox="1"/>
          <p:nvPr/>
        </p:nvSpPr>
        <p:spPr>
          <a:xfrm>
            <a:off x="19929348" y="2667305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500" dirty="0"/>
          </a:p>
        </p:txBody>
      </p:sp>
      <p:sp>
        <p:nvSpPr>
          <p:cNvPr id="63" name="Text 52"/>
          <p:cNvSpPr txBox="1"/>
          <p:nvPr/>
        </p:nvSpPr>
        <p:spPr>
          <a:xfrm>
            <a:off x="20158862" y="2667305"/>
            <a:ext cx="45061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2) 마지막 3일의 확진자 수를 슬라이싱하라.</a:t>
            </a:r>
            <a:endParaRPr lang="en-US" sz="1500" dirty="0"/>
          </a:p>
        </p:txBody>
      </p:sp>
      <p:sp>
        <p:nvSpPr>
          <p:cNvPr id="64" name="Text 53"/>
          <p:cNvSpPr txBox="1"/>
          <p:nvPr/>
        </p:nvSpPr>
        <p:spPr>
          <a:xfrm>
            <a:off x="24463858" y="2667305"/>
            <a:ext cx="6574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500" dirty="0"/>
          </a:p>
        </p:txBody>
      </p:sp>
      <p:sp>
        <p:nvSpPr>
          <p:cNvPr id="65" name="Text 54"/>
          <p:cNvSpPr txBox="1"/>
          <p:nvPr/>
        </p:nvSpPr>
        <p:spPr>
          <a:xfrm>
            <a:off x="25035358" y="2667305"/>
            <a:ext cx="17629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("마지막 3일:",</a:t>
            </a:r>
            <a:endParaRPr lang="en-US" sz="1500" dirty="0"/>
          </a:p>
        </p:txBody>
      </p:sp>
      <p:sp>
        <p:nvSpPr>
          <p:cNvPr id="66" name="Shape 55"/>
          <p:cNvSpPr/>
          <p:nvPr/>
        </p:nvSpPr>
        <p:spPr>
          <a:xfrm>
            <a:off x="26750772" y="2952598"/>
            <a:ext cx="571500" cy="28346"/>
          </a:xfrm>
          <a:prstGeom prst="rect">
            <a:avLst/>
          </a:prstGeom>
          <a:solidFill>
            <a:srgbClr val="F6A412"/>
          </a:solidFill>
          <a:ln w="12700">
            <a:solidFill>
              <a:srgbClr val="F6A412">
                <a:alpha val="0"/>
              </a:srgbClr>
            </a:solidFill>
            <a:prstDash val="solid"/>
          </a:ln>
        </p:spPr>
      </p:sp>
      <p:sp>
        <p:nvSpPr>
          <p:cNvPr id="67" name="Text 56"/>
          <p:cNvSpPr txBox="1"/>
          <p:nvPr/>
        </p:nvSpPr>
        <p:spPr>
          <a:xfrm>
            <a:off x="26712367" y="2609698"/>
            <a:ext cx="6483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500" dirty="0"/>
          </a:p>
        </p:txBody>
      </p:sp>
      <p:sp>
        <p:nvSpPr>
          <p:cNvPr id="68" name="Text 57"/>
          <p:cNvSpPr txBox="1"/>
          <p:nvPr/>
        </p:nvSpPr>
        <p:spPr>
          <a:xfrm>
            <a:off x="27359762" y="2667305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500" dirty="0"/>
          </a:p>
        </p:txBody>
      </p:sp>
      <p:sp>
        <p:nvSpPr>
          <p:cNvPr id="69" name="Text 58"/>
          <p:cNvSpPr txBox="1"/>
          <p:nvPr/>
        </p:nvSpPr>
        <p:spPr>
          <a:xfrm>
            <a:off x="27588362" y="2667305"/>
            <a:ext cx="3743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3) 7일간 총 확진자 수를 계산하라.</a:t>
            </a:r>
            <a:endParaRPr lang="en-US" sz="1500" dirty="0"/>
          </a:p>
        </p:txBody>
      </p:sp>
      <p:sp>
        <p:nvSpPr>
          <p:cNvPr id="70" name="Text 59"/>
          <p:cNvSpPr txBox="1"/>
          <p:nvPr/>
        </p:nvSpPr>
        <p:spPr>
          <a:xfrm>
            <a:off x="31132577" y="2667305"/>
            <a:ext cx="6574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31704077" y="2667305"/>
            <a:ext cx="16486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("총 확진자:",</a:t>
            </a:r>
            <a:endParaRPr lang="en-US" sz="1500" dirty="0"/>
          </a:p>
        </p:txBody>
      </p:sp>
      <p:sp>
        <p:nvSpPr>
          <p:cNvPr id="72" name="Shape 61"/>
          <p:cNvSpPr/>
          <p:nvPr/>
        </p:nvSpPr>
        <p:spPr>
          <a:xfrm>
            <a:off x="33304277" y="2952598"/>
            <a:ext cx="571500" cy="28346"/>
          </a:xfrm>
          <a:prstGeom prst="rect">
            <a:avLst/>
          </a:prstGeom>
          <a:solidFill>
            <a:srgbClr val="F6A412"/>
          </a:solidFill>
          <a:ln w="12700">
            <a:solidFill>
              <a:srgbClr val="F6A412">
                <a:alpha val="0"/>
              </a:srgbClr>
            </a:solidFill>
            <a:prstDash val="solid"/>
          </a:ln>
        </p:spPr>
      </p:sp>
      <p:sp>
        <p:nvSpPr>
          <p:cNvPr id="73" name="Text 62"/>
          <p:cNvSpPr txBox="1"/>
          <p:nvPr/>
        </p:nvSpPr>
        <p:spPr>
          <a:xfrm>
            <a:off x="33265872" y="2609698"/>
            <a:ext cx="6483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500" dirty="0"/>
          </a:p>
        </p:txBody>
      </p:sp>
      <p:sp>
        <p:nvSpPr>
          <p:cNvPr id="74" name="Text 63"/>
          <p:cNvSpPr txBox="1"/>
          <p:nvPr/>
        </p:nvSpPr>
        <p:spPr>
          <a:xfrm>
            <a:off x="33914182" y="2667305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500" dirty="0"/>
          </a:p>
        </p:txBody>
      </p:sp>
      <p:sp>
        <p:nvSpPr>
          <p:cNvPr id="75" name="Text 64"/>
          <p:cNvSpPr txBox="1"/>
          <p:nvPr/>
        </p:nvSpPr>
        <p:spPr>
          <a:xfrm>
            <a:off x="34142782" y="2667305"/>
            <a:ext cx="39346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4) 7일간 평균 확진자 수를 계산하라.</a:t>
            </a:r>
            <a:endParaRPr lang="en-US" sz="1500" dirty="0"/>
          </a:p>
        </p:txBody>
      </p:sp>
      <p:sp>
        <p:nvSpPr>
          <p:cNvPr id="76" name="Text 65"/>
          <p:cNvSpPr txBox="1"/>
          <p:nvPr/>
        </p:nvSpPr>
        <p:spPr>
          <a:xfrm>
            <a:off x="37877191" y="2667305"/>
            <a:ext cx="6574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500" dirty="0"/>
          </a:p>
        </p:txBody>
      </p:sp>
      <p:sp>
        <p:nvSpPr>
          <p:cNvPr id="77" name="Text 66"/>
          <p:cNvSpPr txBox="1"/>
          <p:nvPr/>
        </p:nvSpPr>
        <p:spPr>
          <a:xfrm>
            <a:off x="38448691" y="2667305"/>
            <a:ext cx="1838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("평균 확진자:",</a:t>
            </a:r>
            <a:endParaRPr lang="en-US" sz="1500" dirty="0"/>
          </a:p>
        </p:txBody>
      </p:sp>
      <p:sp>
        <p:nvSpPr>
          <p:cNvPr id="78" name="Shape 67"/>
          <p:cNvSpPr/>
          <p:nvPr/>
        </p:nvSpPr>
        <p:spPr>
          <a:xfrm>
            <a:off x="40239086" y="2952598"/>
            <a:ext cx="571500" cy="28346"/>
          </a:xfrm>
          <a:prstGeom prst="rect">
            <a:avLst/>
          </a:prstGeom>
          <a:solidFill>
            <a:srgbClr val="F6A412"/>
          </a:solidFill>
          <a:ln w="12700">
            <a:solidFill>
              <a:srgbClr val="F6A412">
                <a:alpha val="0"/>
              </a:srgbClr>
            </a:solidFill>
            <a:prstDash val="solid"/>
          </a:ln>
        </p:spPr>
      </p:sp>
      <p:sp>
        <p:nvSpPr>
          <p:cNvPr id="79" name="Text 68"/>
          <p:cNvSpPr txBox="1"/>
          <p:nvPr/>
        </p:nvSpPr>
        <p:spPr>
          <a:xfrm>
            <a:off x="40201596" y="2609698"/>
            <a:ext cx="6483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500" dirty="0"/>
          </a:p>
        </p:txBody>
      </p:sp>
      <p:sp>
        <p:nvSpPr>
          <p:cNvPr id="80" name="Text 69"/>
          <p:cNvSpPr txBox="1"/>
          <p:nvPr/>
        </p:nvSpPr>
        <p:spPr>
          <a:xfrm>
            <a:off x="40848991" y="2667305"/>
            <a:ext cx="428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</a:t>
            </a:r>
            <a:endParaRPr lang="en-US" sz="1500" dirty="0"/>
          </a:p>
        </p:txBody>
      </p:sp>
      <p:sp>
        <p:nvSpPr>
          <p:cNvPr id="81" name="Shape 70"/>
          <p:cNvSpPr/>
          <p:nvPr/>
        </p:nvSpPr>
        <p:spPr>
          <a:xfrm>
            <a:off x="41230296" y="2952598"/>
            <a:ext cx="571500" cy="28346"/>
          </a:xfrm>
          <a:prstGeom prst="rect">
            <a:avLst/>
          </a:prstGeom>
          <a:solidFill>
            <a:srgbClr val="F6A412"/>
          </a:solidFill>
          <a:ln w="12700">
            <a:solidFill>
              <a:srgbClr val="F6A412">
                <a:alpha val="0"/>
              </a:srgbClr>
            </a:solidFill>
            <a:prstDash val="solid"/>
          </a:ln>
        </p:spPr>
      </p:sp>
      <p:sp>
        <p:nvSpPr>
          <p:cNvPr id="82" name="Text 71"/>
          <p:cNvSpPr txBox="1"/>
          <p:nvPr/>
        </p:nvSpPr>
        <p:spPr>
          <a:xfrm>
            <a:off x="41191891" y="2609698"/>
            <a:ext cx="6483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500" dirty="0"/>
          </a:p>
        </p:txBody>
      </p:sp>
      <p:sp>
        <p:nvSpPr>
          <p:cNvPr id="83" name="Text 72"/>
          <p:cNvSpPr txBox="1"/>
          <p:nvPr/>
        </p:nvSpPr>
        <p:spPr>
          <a:xfrm>
            <a:off x="41839286" y="2667305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500" dirty="0"/>
          </a:p>
        </p:txBody>
      </p:sp>
      <p:sp>
        <p:nvSpPr>
          <p:cNvPr id="84" name="Text 73"/>
          <p:cNvSpPr txBox="1"/>
          <p:nvPr/>
        </p:nvSpPr>
        <p:spPr>
          <a:xfrm>
            <a:off x="42068801" y="2667305"/>
            <a:ext cx="5000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5) 최다 확진자 수와 최소 확진자 수를 출력하라.</a:t>
            </a:r>
            <a:endParaRPr lang="en-US" sz="1500" dirty="0"/>
          </a:p>
        </p:txBody>
      </p:sp>
      <p:sp>
        <p:nvSpPr>
          <p:cNvPr id="85" name="Text 74"/>
          <p:cNvSpPr txBox="1"/>
          <p:nvPr/>
        </p:nvSpPr>
        <p:spPr>
          <a:xfrm>
            <a:off x="46869401" y="2667305"/>
            <a:ext cx="6574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500" dirty="0"/>
          </a:p>
        </p:txBody>
      </p:sp>
      <p:sp>
        <p:nvSpPr>
          <p:cNvPr id="86" name="Text 75"/>
          <p:cNvSpPr txBox="1"/>
          <p:nvPr/>
        </p:nvSpPr>
        <p:spPr>
          <a:xfrm>
            <a:off x="47440901" y="2667305"/>
            <a:ext cx="11530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("최다:",</a:t>
            </a:r>
            <a:endParaRPr lang="en-US" sz="1500" dirty="0"/>
          </a:p>
        </p:txBody>
      </p:sp>
      <p:sp>
        <p:nvSpPr>
          <p:cNvPr id="87" name="Shape 76"/>
          <p:cNvSpPr/>
          <p:nvPr/>
        </p:nvSpPr>
        <p:spPr>
          <a:xfrm>
            <a:off x="48545496" y="2952598"/>
            <a:ext cx="571500" cy="28346"/>
          </a:xfrm>
          <a:prstGeom prst="rect">
            <a:avLst/>
          </a:prstGeom>
          <a:solidFill>
            <a:srgbClr val="F6A412"/>
          </a:solidFill>
          <a:ln w="12700">
            <a:solidFill>
              <a:srgbClr val="F6A412">
                <a:alpha val="0"/>
              </a:srgbClr>
            </a:solidFill>
            <a:prstDash val="solid"/>
          </a:ln>
        </p:spPr>
      </p:sp>
      <p:sp>
        <p:nvSpPr>
          <p:cNvPr id="88" name="Text 77"/>
          <p:cNvSpPr txBox="1"/>
          <p:nvPr/>
        </p:nvSpPr>
        <p:spPr>
          <a:xfrm>
            <a:off x="48508006" y="2609698"/>
            <a:ext cx="6483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500" dirty="0"/>
          </a:p>
        </p:txBody>
      </p:sp>
      <p:sp>
        <p:nvSpPr>
          <p:cNvPr id="89" name="Text 78"/>
          <p:cNvSpPr txBox="1"/>
          <p:nvPr/>
        </p:nvSpPr>
        <p:spPr>
          <a:xfrm>
            <a:off x="49155401" y="2667305"/>
            <a:ext cx="14959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"/ 최소:",</a:t>
            </a:r>
            <a:endParaRPr lang="en-US" sz="1500" dirty="0"/>
          </a:p>
        </p:txBody>
      </p:sp>
      <p:sp>
        <p:nvSpPr>
          <p:cNvPr id="90" name="Shape 79"/>
          <p:cNvSpPr/>
          <p:nvPr/>
        </p:nvSpPr>
        <p:spPr>
          <a:xfrm>
            <a:off x="50603810" y="2952598"/>
            <a:ext cx="571500" cy="28346"/>
          </a:xfrm>
          <a:prstGeom prst="rect">
            <a:avLst/>
          </a:prstGeom>
          <a:solidFill>
            <a:srgbClr val="F6A412"/>
          </a:solidFill>
          <a:ln w="12700">
            <a:solidFill>
              <a:srgbClr val="F6A412">
                <a:alpha val="0"/>
              </a:srgbClr>
            </a:solidFill>
            <a:prstDash val="solid"/>
          </a:ln>
        </p:spPr>
      </p:sp>
      <p:sp>
        <p:nvSpPr>
          <p:cNvPr id="91" name="Text 80"/>
          <p:cNvSpPr txBox="1"/>
          <p:nvPr/>
        </p:nvSpPr>
        <p:spPr>
          <a:xfrm>
            <a:off x="50565406" y="2609698"/>
            <a:ext cx="6483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500" dirty="0"/>
          </a:p>
        </p:txBody>
      </p:sp>
      <p:sp>
        <p:nvSpPr>
          <p:cNvPr id="92" name="Text 81"/>
          <p:cNvSpPr txBox="1"/>
          <p:nvPr/>
        </p:nvSpPr>
        <p:spPr>
          <a:xfrm>
            <a:off x="51212801" y="2667305"/>
            <a:ext cx="200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500" dirty="0"/>
          </a:p>
        </p:txBody>
      </p:sp>
      <p:sp>
        <p:nvSpPr>
          <p:cNvPr id="93" name="Text 82"/>
          <p:cNvSpPr txBox="1"/>
          <p:nvPr/>
        </p:nvSpPr>
        <p:spPr>
          <a:xfrm>
            <a:off x="11749126" y="64008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571854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304495"/>
            <a:ext cx="1009498" cy="2761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2007" y="304495"/>
            <a:ext cx="6483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Ping ②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724205" y="369418"/>
            <a:ext cx="171907" cy="1335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9905" y="657454"/>
            <a:ext cx="607801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리스트 메서드: 정렬·추가·삭제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609905" y="1076249"/>
            <a:ext cx="416143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 데이터(scores)를 활용한 리스트 조작 실습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10318090" y="737921"/>
            <a:ext cx="171907" cy="1335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372039" y="709574"/>
            <a:ext cx="12134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Instructor Demo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9905" y="1876349"/>
            <a:ext cx="10972800" cy="33147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09905" y="1876349"/>
            <a:ext cx="10972800" cy="448056"/>
          </a:xfrm>
          <a:prstGeom prst="roundRect">
            <a:avLst>
              <a:gd name="adj" fmla="val 52106"/>
            </a:avLst>
          </a:prstGeom>
          <a:solidFill>
            <a:srgbClr val="0F172A"/>
          </a:solidFill>
          <a:ln/>
        </p:spPr>
      </p:sp>
      <p:sp>
        <p:nvSpPr>
          <p:cNvPr id="14" name="Shape 8"/>
          <p:cNvSpPr/>
          <p:nvPr/>
        </p:nvSpPr>
        <p:spPr>
          <a:xfrm>
            <a:off x="609905" y="2315261"/>
            <a:ext cx="10972800" cy="9144"/>
          </a:xfrm>
          <a:prstGeom prst="roundRect">
            <a:avLst>
              <a:gd name="adj" fmla="val 2553191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38505" y="2036369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1028700" y="2036369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1218895" y="2036369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251399" y="1990649"/>
            <a:ext cx="1810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week2_list_methods.py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2672791"/>
            <a:ext cx="905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scores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1814170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951330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08849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85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236281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263713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92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291145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318577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78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346009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373441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95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4009644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4283964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88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4558284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4695444" y="2672791"/>
            <a:ext cx="29818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정렬 후 상위 3개 추출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7484364" y="2672791"/>
            <a:ext cx="18672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scores_sorted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9268358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9405518" y="2672791"/>
            <a:ext cx="905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sorted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10228478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0365638" y="2672791"/>
            <a:ext cx="905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scores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11188598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11462918" y="2672791"/>
            <a:ext cx="10387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reverse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12423953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12561113" y="2672791"/>
            <a:ext cx="629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True</a:t>
            </a:r>
            <a:endParaRPr lang="en-US" sz="1800" dirty="0"/>
          </a:p>
        </p:txBody>
      </p:sp>
      <p:sp>
        <p:nvSpPr>
          <p:cNvPr id="42" name="Text 36"/>
          <p:cNvSpPr txBox="1"/>
          <p:nvPr/>
        </p:nvSpPr>
        <p:spPr>
          <a:xfrm>
            <a:off x="13109753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43" name="Text 37"/>
          <p:cNvSpPr txBox="1"/>
          <p:nvPr/>
        </p:nvSpPr>
        <p:spPr>
          <a:xfrm>
            <a:off x="13246913" y="267279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800" dirty="0"/>
          </a:p>
        </p:txBody>
      </p:sp>
      <p:sp>
        <p:nvSpPr>
          <p:cNvPr id="44" name="Text 38"/>
          <p:cNvSpPr txBox="1"/>
          <p:nvPr/>
        </p:nvSpPr>
        <p:spPr>
          <a:xfrm>
            <a:off x="13932713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45" name="Text 39"/>
          <p:cNvSpPr txBox="1"/>
          <p:nvPr/>
        </p:nvSpPr>
        <p:spPr>
          <a:xfrm>
            <a:off x="14069873" y="2672791"/>
            <a:ext cx="14575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"상위 3개:"</a:t>
            </a:r>
            <a:endParaRPr lang="en-US" sz="1800" dirty="0"/>
          </a:p>
        </p:txBody>
      </p:sp>
      <p:sp>
        <p:nvSpPr>
          <p:cNvPr id="46" name="Text 40"/>
          <p:cNvSpPr txBox="1"/>
          <p:nvPr/>
        </p:nvSpPr>
        <p:spPr>
          <a:xfrm>
            <a:off x="15441473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47" name="Text 41"/>
          <p:cNvSpPr txBox="1"/>
          <p:nvPr/>
        </p:nvSpPr>
        <p:spPr>
          <a:xfrm>
            <a:off x="15715793" y="2672791"/>
            <a:ext cx="18672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scores_sorted</a:t>
            </a:r>
            <a:endParaRPr lang="en-US" sz="1800" dirty="0"/>
          </a:p>
        </p:txBody>
      </p:sp>
      <p:sp>
        <p:nvSpPr>
          <p:cNvPr id="48" name="Text 42"/>
          <p:cNvSpPr txBox="1"/>
          <p:nvPr/>
        </p:nvSpPr>
        <p:spPr>
          <a:xfrm>
            <a:off x="17499787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800" dirty="0"/>
          </a:p>
        </p:txBody>
      </p:sp>
      <p:sp>
        <p:nvSpPr>
          <p:cNvPr id="49" name="Text 43"/>
          <p:cNvSpPr txBox="1"/>
          <p:nvPr/>
        </p:nvSpPr>
        <p:spPr>
          <a:xfrm>
            <a:off x="17636947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800" dirty="0"/>
          </a:p>
        </p:txBody>
      </p:sp>
      <p:sp>
        <p:nvSpPr>
          <p:cNvPr id="50" name="Text 44"/>
          <p:cNvSpPr txBox="1"/>
          <p:nvPr/>
        </p:nvSpPr>
        <p:spPr>
          <a:xfrm>
            <a:off x="17774107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</a:t>
            </a:r>
            <a:endParaRPr lang="en-US" sz="1800" dirty="0"/>
          </a:p>
        </p:txBody>
      </p:sp>
      <p:sp>
        <p:nvSpPr>
          <p:cNvPr id="51" name="Text 45"/>
          <p:cNvSpPr txBox="1"/>
          <p:nvPr/>
        </p:nvSpPr>
        <p:spPr>
          <a:xfrm>
            <a:off x="17911267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800" dirty="0"/>
          </a:p>
        </p:txBody>
      </p:sp>
      <p:sp>
        <p:nvSpPr>
          <p:cNvPr id="52" name="Text 46"/>
          <p:cNvSpPr txBox="1"/>
          <p:nvPr/>
        </p:nvSpPr>
        <p:spPr>
          <a:xfrm>
            <a:off x="18048427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5" y="2991002"/>
            <a:ext cx="10972800" cy="1104595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609905" y="2991002"/>
            <a:ext cx="10972800" cy="1105510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E24A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새 점수 추가 scores . append ( 91 ) print ( "추가 후:" , scores )</a:t>
            </a:r>
            <a:endParaRPr lang="en-US" sz="1800" dirty="0"/>
          </a:p>
        </p:txBody>
      </p:sp>
      <p:sp>
        <p:nvSpPr>
          <p:cNvPr id="55" name="Text 48"/>
          <p:cNvSpPr txBox="1"/>
          <p:nvPr/>
        </p:nvSpPr>
        <p:spPr>
          <a:xfrm>
            <a:off x="990295" y="3038551"/>
            <a:ext cx="18315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새 점수 추가</a:t>
            </a:r>
            <a:endParaRPr lang="en-US" sz="1800" dirty="0"/>
          </a:p>
        </p:txBody>
      </p:sp>
      <p:sp>
        <p:nvSpPr>
          <p:cNvPr id="56" name="Text 49"/>
          <p:cNvSpPr txBox="1"/>
          <p:nvPr/>
        </p:nvSpPr>
        <p:spPr>
          <a:xfrm>
            <a:off x="990295" y="3404311"/>
            <a:ext cx="905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scores</a:t>
            </a:r>
            <a:endParaRPr lang="en-US" sz="1800" dirty="0"/>
          </a:p>
        </p:txBody>
      </p:sp>
      <p:sp>
        <p:nvSpPr>
          <p:cNvPr id="57" name="Text 50"/>
          <p:cNvSpPr txBox="1"/>
          <p:nvPr/>
        </p:nvSpPr>
        <p:spPr>
          <a:xfrm>
            <a:off x="1951330" y="3404311"/>
            <a:ext cx="905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append</a:t>
            </a:r>
            <a:endParaRPr lang="en-US" sz="1800" dirty="0"/>
          </a:p>
        </p:txBody>
      </p:sp>
      <p:sp>
        <p:nvSpPr>
          <p:cNvPr id="58" name="Text 51"/>
          <p:cNvSpPr txBox="1"/>
          <p:nvPr/>
        </p:nvSpPr>
        <p:spPr>
          <a:xfrm>
            <a:off x="2774290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59" name="Text 52"/>
          <p:cNvSpPr txBox="1"/>
          <p:nvPr/>
        </p:nvSpPr>
        <p:spPr>
          <a:xfrm>
            <a:off x="2911450" y="340431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91</a:t>
            </a:r>
            <a:endParaRPr lang="en-US" sz="1800" dirty="0"/>
          </a:p>
        </p:txBody>
      </p:sp>
      <p:sp>
        <p:nvSpPr>
          <p:cNvPr id="60" name="Text 53"/>
          <p:cNvSpPr txBox="1"/>
          <p:nvPr/>
        </p:nvSpPr>
        <p:spPr>
          <a:xfrm>
            <a:off x="3185770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61" name="Text 54"/>
          <p:cNvSpPr txBox="1"/>
          <p:nvPr/>
        </p:nvSpPr>
        <p:spPr>
          <a:xfrm>
            <a:off x="990295" y="377007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800" dirty="0"/>
          </a:p>
        </p:txBody>
      </p:sp>
      <p:sp>
        <p:nvSpPr>
          <p:cNvPr id="62" name="Text 55"/>
          <p:cNvSpPr txBox="1"/>
          <p:nvPr/>
        </p:nvSpPr>
        <p:spPr>
          <a:xfrm>
            <a:off x="1676095" y="377007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63" name="Text 56"/>
          <p:cNvSpPr txBox="1"/>
          <p:nvPr/>
        </p:nvSpPr>
        <p:spPr>
          <a:xfrm>
            <a:off x="1814170" y="3770071"/>
            <a:ext cx="1314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"추가 후:"</a:t>
            </a:r>
            <a:endParaRPr lang="en-US" sz="1800" dirty="0"/>
          </a:p>
        </p:txBody>
      </p:sp>
      <p:sp>
        <p:nvSpPr>
          <p:cNvPr id="64" name="Text 57"/>
          <p:cNvSpPr txBox="1"/>
          <p:nvPr/>
        </p:nvSpPr>
        <p:spPr>
          <a:xfrm>
            <a:off x="3322930" y="3770071"/>
            <a:ext cx="905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scores</a:t>
            </a:r>
            <a:endParaRPr lang="en-US" sz="1800" dirty="0"/>
          </a:p>
        </p:txBody>
      </p:sp>
      <p:sp>
        <p:nvSpPr>
          <p:cNvPr id="65" name="Text 58"/>
          <p:cNvSpPr txBox="1"/>
          <p:nvPr/>
        </p:nvSpPr>
        <p:spPr>
          <a:xfrm>
            <a:off x="4145890" y="377007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66" name="Text 59"/>
          <p:cNvSpPr txBox="1"/>
          <p:nvPr/>
        </p:nvSpPr>
        <p:spPr>
          <a:xfrm>
            <a:off x="990295" y="4135831"/>
            <a:ext cx="16870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최저점 제거</a:t>
            </a:r>
            <a:endParaRPr lang="en-US" sz="1800" dirty="0"/>
          </a:p>
        </p:txBody>
      </p:sp>
      <p:sp>
        <p:nvSpPr>
          <p:cNvPr id="67" name="Text 60"/>
          <p:cNvSpPr txBox="1"/>
          <p:nvPr/>
        </p:nvSpPr>
        <p:spPr>
          <a:xfrm>
            <a:off x="2545690" y="4135831"/>
            <a:ext cx="905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scores</a:t>
            </a:r>
            <a:endParaRPr lang="en-US" sz="1800" dirty="0"/>
          </a:p>
        </p:txBody>
      </p:sp>
      <p:sp>
        <p:nvSpPr>
          <p:cNvPr id="68" name="Text 61"/>
          <p:cNvSpPr txBox="1"/>
          <p:nvPr/>
        </p:nvSpPr>
        <p:spPr>
          <a:xfrm>
            <a:off x="3368650" y="413583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800" dirty="0"/>
          </a:p>
        </p:txBody>
      </p:sp>
      <p:sp>
        <p:nvSpPr>
          <p:cNvPr id="69" name="Text 62"/>
          <p:cNvSpPr txBox="1"/>
          <p:nvPr/>
        </p:nvSpPr>
        <p:spPr>
          <a:xfrm>
            <a:off x="3505810" y="4135831"/>
            <a:ext cx="905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remove</a:t>
            </a:r>
            <a:endParaRPr lang="en-US" sz="1800" dirty="0"/>
          </a:p>
        </p:txBody>
      </p:sp>
      <p:sp>
        <p:nvSpPr>
          <p:cNvPr id="70" name="Text 63"/>
          <p:cNvSpPr txBox="1"/>
          <p:nvPr/>
        </p:nvSpPr>
        <p:spPr>
          <a:xfrm>
            <a:off x="4328770" y="413583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71" name="Text 64"/>
          <p:cNvSpPr txBox="1"/>
          <p:nvPr/>
        </p:nvSpPr>
        <p:spPr>
          <a:xfrm>
            <a:off x="4465930" y="4135831"/>
            <a:ext cx="495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min</a:t>
            </a:r>
            <a:endParaRPr lang="en-US" sz="1800" dirty="0"/>
          </a:p>
        </p:txBody>
      </p:sp>
      <p:sp>
        <p:nvSpPr>
          <p:cNvPr id="72" name="Text 65"/>
          <p:cNvSpPr txBox="1"/>
          <p:nvPr/>
        </p:nvSpPr>
        <p:spPr>
          <a:xfrm>
            <a:off x="4877410" y="413583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73" name="Text 66"/>
          <p:cNvSpPr txBox="1"/>
          <p:nvPr/>
        </p:nvSpPr>
        <p:spPr>
          <a:xfrm>
            <a:off x="5014570" y="4135831"/>
            <a:ext cx="905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scores</a:t>
            </a:r>
            <a:endParaRPr lang="en-US" sz="1800" dirty="0"/>
          </a:p>
        </p:txBody>
      </p:sp>
      <p:sp>
        <p:nvSpPr>
          <p:cNvPr id="74" name="Text 67"/>
          <p:cNvSpPr txBox="1"/>
          <p:nvPr/>
        </p:nvSpPr>
        <p:spPr>
          <a:xfrm>
            <a:off x="5838444" y="413583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75" name="Text 68"/>
          <p:cNvSpPr txBox="1"/>
          <p:nvPr/>
        </p:nvSpPr>
        <p:spPr>
          <a:xfrm>
            <a:off x="5975604" y="413583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76" name="Text 69"/>
          <p:cNvSpPr txBox="1"/>
          <p:nvPr/>
        </p:nvSpPr>
        <p:spPr>
          <a:xfrm>
            <a:off x="6112764" y="413583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800" dirty="0"/>
          </a:p>
        </p:txBody>
      </p:sp>
      <p:sp>
        <p:nvSpPr>
          <p:cNvPr id="77" name="Text 70"/>
          <p:cNvSpPr txBox="1"/>
          <p:nvPr/>
        </p:nvSpPr>
        <p:spPr>
          <a:xfrm>
            <a:off x="6798564" y="413583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78" name="Text 71"/>
          <p:cNvSpPr txBox="1"/>
          <p:nvPr/>
        </p:nvSpPr>
        <p:spPr>
          <a:xfrm>
            <a:off x="6935724" y="4135831"/>
            <a:ext cx="223296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"최저점 제거 후:"</a:t>
            </a:r>
            <a:endParaRPr lang="en-US" sz="1800" dirty="0"/>
          </a:p>
        </p:txBody>
      </p:sp>
      <p:sp>
        <p:nvSpPr>
          <p:cNvPr id="79" name="Text 72"/>
          <p:cNvSpPr txBox="1"/>
          <p:nvPr/>
        </p:nvSpPr>
        <p:spPr>
          <a:xfrm>
            <a:off x="8993124" y="413583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80" name="Text 73"/>
          <p:cNvSpPr txBox="1"/>
          <p:nvPr/>
        </p:nvSpPr>
        <p:spPr>
          <a:xfrm>
            <a:off x="9267444" y="4135831"/>
            <a:ext cx="905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scores</a:t>
            </a:r>
            <a:endParaRPr lang="en-US" sz="1800" dirty="0"/>
          </a:p>
        </p:txBody>
      </p:sp>
      <p:sp>
        <p:nvSpPr>
          <p:cNvPr id="81" name="Text 74"/>
          <p:cNvSpPr txBox="1"/>
          <p:nvPr/>
        </p:nvSpPr>
        <p:spPr>
          <a:xfrm>
            <a:off x="10090404" y="413583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pic>
        <p:nvPicPr>
          <p:cNvPr id="8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" b="-4"/>
          <a:stretch/>
        </p:blipFill>
        <p:spPr>
          <a:xfrm>
            <a:off x="609905" y="5419649"/>
            <a:ext cx="10972800" cy="981151"/>
          </a:xfrm>
          <a:prstGeom prst="rect">
            <a:avLst/>
          </a:prstGeom>
        </p:spPr>
      </p:pic>
      <p:pic>
        <p:nvPicPr>
          <p:cNvPr id="8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72007" y="5796382"/>
            <a:ext cx="228600" cy="228600"/>
          </a:xfrm>
          <a:prstGeom prst="rect">
            <a:avLst/>
          </a:prstGeom>
        </p:spPr>
      </p:pic>
      <p:sp>
        <p:nvSpPr>
          <p:cNvPr id="84" name="Text 75"/>
          <p:cNvSpPr txBox="1"/>
          <p:nvPr/>
        </p:nvSpPr>
        <p:spPr>
          <a:xfrm>
            <a:off x="1429207" y="5609844"/>
            <a:ext cx="8401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교수자 가이드</a:t>
            </a:r>
            <a:endParaRPr lang="en-US" sz="1500" dirty="0"/>
          </a:p>
        </p:txBody>
      </p:sp>
      <p:sp>
        <p:nvSpPr>
          <p:cNvPr id="85" name="Text 76"/>
          <p:cNvSpPr txBox="1"/>
          <p:nvPr/>
        </p:nvSpPr>
        <p:spPr>
          <a:xfrm>
            <a:off x="2328977" y="5915254"/>
            <a:ext cx="750173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원본을 유지하고 새 리스트를 반환하지만, 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원본을 직접 변경한다는 차이를 강조해주세요. </a:t>
            </a:r>
            <a:endParaRPr lang="en-US" sz="1300" dirty="0"/>
          </a:p>
        </p:txBody>
      </p:sp>
      <p:pic>
        <p:nvPicPr>
          <p:cNvPr id="8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9207" y="5982005"/>
            <a:ext cx="905256" cy="190195"/>
          </a:xfrm>
          <a:prstGeom prst="rect">
            <a:avLst/>
          </a:prstGeom>
        </p:spPr>
      </p:pic>
      <p:sp>
        <p:nvSpPr>
          <p:cNvPr id="87" name="Text 77"/>
          <p:cNvSpPr/>
          <p:nvPr/>
        </p:nvSpPr>
        <p:spPr>
          <a:xfrm>
            <a:off x="1429207" y="5982005"/>
            <a:ext cx="905256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sorted()</a:t>
            </a:r>
            <a:endParaRPr lang="en-US" sz="1300" dirty="0"/>
          </a:p>
        </p:txBody>
      </p:sp>
      <p:pic>
        <p:nvPicPr>
          <p:cNvPr id="8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2859" y="5982005"/>
            <a:ext cx="694944" cy="190195"/>
          </a:xfrm>
          <a:prstGeom prst="rect">
            <a:avLst/>
          </a:prstGeom>
        </p:spPr>
      </p:pic>
      <p:sp>
        <p:nvSpPr>
          <p:cNvPr id="89" name="Text 78"/>
          <p:cNvSpPr/>
          <p:nvPr/>
        </p:nvSpPr>
        <p:spPr>
          <a:xfrm>
            <a:off x="5502859" y="5982005"/>
            <a:ext cx="695858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sort()</a:t>
            </a:r>
            <a:endParaRPr lang="en-US" sz="1300" dirty="0"/>
          </a:p>
        </p:txBody>
      </p:sp>
      <p:sp>
        <p:nvSpPr>
          <p:cNvPr id="90" name="Shape 79"/>
          <p:cNvSpPr/>
          <p:nvPr/>
        </p:nvSpPr>
        <p:spPr>
          <a:xfrm>
            <a:off x="4869180" y="6191402"/>
            <a:ext cx="2457907" cy="362102"/>
          </a:xfrm>
          <a:prstGeom prst="roundRect">
            <a:avLst>
              <a:gd name="adj" fmla="val 26582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Text 80"/>
          <p:cNvSpPr txBox="1"/>
          <p:nvPr/>
        </p:nvSpPr>
        <p:spPr>
          <a:xfrm>
            <a:off x="5021885" y="6271870"/>
            <a:ext cx="409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Press</a:t>
            </a:r>
            <a:endParaRPr lang="en-US" sz="1000" dirty="0"/>
          </a:p>
        </p:txBody>
      </p:sp>
      <p:pic>
        <p:nvPicPr>
          <p:cNvPr id="9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0622" y="6267298"/>
            <a:ext cx="314554" cy="209398"/>
          </a:xfrm>
          <a:prstGeom prst="rect">
            <a:avLst/>
          </a:prstGeom>
        </p:spPr>
      </p:pic>
      <p:sp>
        <p:nvSpPr>
          <p:cNvPr id="93" name="Text 81"/>
          <p:cNvSpPr/>
          <p:nvPr/>
        </p:nvSpPr>
        <p:spPr>
          <a:xfrm>
            <a:off x="5430622" y="6267298"/>
            <a:ext cx="3145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</a:t>
            </a:r>
            <a:endParaRPr lang="en-US" sz="900" dirty="0"/>
          </a:p>
        </p:txBody>
      </p:sp>
      <p:sp>
        <p:nvSpPr>
          <p:cNvPr id="94" name="Text 82"/>
          <p:cNvSpPr txBox="1"/>
          <p:nvPr/>
        </p:nvSpPr>
        <p:spPr>
          <a:xfrm>
            <a:off x="5818327" y="6271870"/>
            <a:ext cx="152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000" dirty="0"/>
          </a:p>
        </p:txBody>
      </p:sp>
      <p:pic>
        <p:nvPicPr>
          <p:cNvPr id="9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8289" y="6267298"/>
            <a:ext cx="409651" cy="209398"/>
          </a:xfrm>
          <a:prstGeom prst="rect">
            <a:avLst/>
          </a:prstGeom>
        </p:spPr>
      </p:pic>
      <p:sp>
        <p:nvSpPr>
          <p:cNvPr id="96" name="Text 83"/>
          <p:cNvSpPr/>
          <p:nvPr/>
        </p:nvSpPr>
        <p:spPr>
          <a:xfrm>
            <a:off x="5968289" y="6267298"/>
            <a:ext cx="409651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</a:t>
            </a:r>
            <a:endParaRPr lang="en-US" sz="900" dirty="0"/>
          </a:p>
        </p:txBody>
      </p:sp>
      <p:sp>
        <p:nvSpPr>
          <p:cNvPr id="97" name="Text 84"/>
          <p:cNvSpPr txBox="1"/>
          <p:nvPr/>
        </p:nvSpPr>
        <p:spPr>
          <a:xfrm>
            <a:off x="6451092" y="6271870"/>
            <a:ext cx="8622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 run code</a:t>
            </a:r>
            <a:endParaRPr lang="en-US" sz="1000" dirty="0"/>
          </a:p>
        </p:txBody>
      </p:sp>
      <p:sp>
        <p:nvSpPr>
          <p:cNvPr id="98" name="Text 85"/>
          <p:cNvSpPr txBox="1"/>
          <p:nvPr/>
        </p:nvSpPr>
        <p:spPr>
          <a:xfrm>
            <a:off x="11747297" y="64008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571854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304495"/>
            <a:ext cx="1076249" cy="2761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2007" y="304495"/>
            <a:ext cx="7150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Pong ②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724205" y="369418"/>
            <a:ext cx="171907" cy="1335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9905" y="657454"/>
            <a:ext cx="40672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리스트 메서드 활용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609905" y="1076249"/>
            <a:ext cx="46552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Ping에서 배운 정렬, 추가, 삭제 메서드를 실습합니다.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2914" y="662026"/>
            <a:ext cx="1533449" cy="286207"/>
          </a:xfrm>
          <a:prstGeom prst="roundRect">
            <a:avLst>
              <a:gd name="adj" fmla="val 319489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10176358" y="737921"/>
            <a:ext cx="171907" cy="1335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367467" y="662026"/>
            <a:ext cx="10954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Student Exercise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09905" y="1876349"/>
            <a:ext cx="3733495" cy="2829154"/>
          </a:xfrm>
          <a:prstGeom prst="roundRect">
            <a:avLst>
              <a:gd name="adj" fmla="val 1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09905" y="1876349"/>
            <a:ext cx="57607" cy="2829154"/>
          </a:xfrm>
          <a:prstGeom prst="roundRect">
            <a:avLst>
              <a:gd name="adj" fmla="val 64134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276502" y="2180844"/>
            <a:ext cx="287761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Mission </a:t>
            </a:r>
            <a:endParaRPr lang="en-US" sz="1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2007" y="2219249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72007" y="2638044"/>
            <a:ext cx="31437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14일간의 확진자 데이터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분석하기 위해 리스트를 조작해보세요. 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331366" y="3424428"/>
            <a:ext cx="20528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내림차순 정렬 (새 리스트)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07" y="3461918"/>
            <a:ext cx="286207" cy="20939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72007" y="3461918"/>
            <a:ext cx="286207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Q1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356055" y="3786530"/>
            <a:ext cx="16440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 5개 데이터 추출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07" y="3824021"/>
            <a:ext cx="314554" cy="20939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72007" y="3824021"/>
            <a:ext cx="3145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Q2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1358798" y="4147718"/>
            <a:ext cx="154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추가 및 삭제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07" y="4186123"/>
            <a:ext cx="314554" cy="20939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72007" y="4186123"/>
            <a:ext cx="3145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Q3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609905" y="4929530"/>
            <a:ext cx="3733495" cy="1657807"/>
          </a:xfrm>
          <a:prstGeom prst="roundRect">
            <a:avLst>
              <a:gd name="adj" fmla="val 25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999439" y="5128870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Hint 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0" b="-100"/>
          <a:stretch/>
        </p:blipFill>
        <p:spPr>
          <a:xfrm>
            <a:off x="809244" y="5167274"/>
            <a:ext cx="114300" cy="15270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09244" y="5434279"/>
            <a:ext cx="3448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유지 정렬: </a:t>
            </a:r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sorted(리스트, reverse=True)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809244" y="5682082"/>
            <a:ext cx="3448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 추가: </a:t>
            </a:r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.append(값)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809244" y="5928970"/>
            <a:ext cx="3448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 삭제: </a:t>
            </a:r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.remove(값)</a:t>
            </a:r>
            <a:endParaRPr lang="en-US" sz="1000" dirty="0"/>
          </a:p>
        </p:txBody>
      </p:sp>
      <p:sp>
        <p:nvSpPr>
          <p:cNvPr id="33" name="Text 23"/>
          <p:cNvSpPr txBox="1"/>
          <p:nvPr/>
        </p:nvSpPr>
        <p:spPr>
          <a:xfrm>
            <a:off x="809244" y="6176772"/>
            <a:ext cx="3448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최솟값 찾기: </a:t>
            </a:r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min(리스트)</a:t>
            </a:r>
            <a:endParaRPr lang="en-US" sz="10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2" b="-2"/>
          <a:stretch/>
        </p:blipFill>
        <p:spPr>
          <a:xfrm>
            <a:off x="4647895" y="1876349"/>
            <a:ext cx="6933895" cy="4710074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4647895" y="1876349"/>
            <a:ext cx="6933895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/>
        </p:spPr>
      </p:sp>
      <p:sp>
        <p:nvSpPr>
          <p:cNvPr id="36" name="Shape 25"/>
          <p:cNvSpPr/>
          <p:nvPr/>
        </p:nvSpPr>
        <p:spPr>
          <a:xfrm>
            <a:off x="4647895" y="2296058"/>
            <a:ext cx="6933895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4876495" y="2029054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5067605" y="2029054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5257800" y="2029054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7573975" y="1990649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exercise_02.py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4953305" y="2648102"/>
            <a:ext cx="23975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14일간 확진자 수 데이터</a:t>
            </a:r>
            <a:endParaRPr lang="en-US" sz="1300" dirty="0"/>
          </a:p>
        </p:txBody>
      </p:sp>
      <p:sp>
        <p:nvSpPr>
          <p:cNvPr id="42" name="Text 31"/>
          <p:cNvSpPr txBox="1"/>
          <p:nvPr/>
        </p:nvSpPr>
        <p:spPr>
          <a:xfrm>
            <a:off x="7165238" y="2648102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cases_14days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8372246" y="2648102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[</a:t>
            </a:r>
            <a:endParaRPr lang="en-US" sz="1300" dirty="0"/>
          </a:p>
        </p:txBody>
      </p:sp>
      <p:sp>
        <p:nvSpPr>
          <p:cNvPr id="44" name="Text 33"/>
          <p:cNvSpPr txBox="1"/>
          <p:nvPr/>
        </p:nvSpPr>
        <p:spPr>
          <a:xfrm>
            <a:off x="8774582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523</a:t>
            </a:r>
            <a:endParaRPr lang="en-US" sz="1300" dirty="0"/>
          </a:p>
        </p:txBody>
      </p:sp>
      <p:sp>
        <p:nvSpPr>
          <p:cNvPr id="45" name="Text 34"/>
          <p:cNvSpPr txBox="1"/>
          <p:nvPr/>
        </p:nvSpPr>
        <p:spPr>
          <a:xfrm>
            <a:off x="9076334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46" name="Text 35"/>
          <p:cNvSpPr txBox="1"/>
          <p:nvPr/>
        </p:nvSpPr>
        <p:spPr>
          <a:xfrm>
            <a:off x="9277502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681</a:t>
            </a:r>
            <a:endParaRPr lang="en-US" sz="1300" dirty="0"/>
          </a:p>
        </p:txBody>
      </p:sp>
      <p:sp>
        <p:nvSpPr>
          <p:cNvPr id="47" name="Text 36"/>
          <p:cNvSpPr txBox="1"/>
          <p:nvPr/>
        </p:nvSpPr>
        <p:spPr>
          <a:xfrm>
            <a:off x="9579254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48" name="Text 37"/>
          <p:cNvSpPr txBox="1"/>
          <p:nvPr/>
        </p:nvSpPr>
        <p:spPr>
          <a:xfrm>
            <a:off x="9780422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445</a:t>
            </a:r>
            <a:endParaRPr lang="en-US" sz="1300" dirty="0"/>
          </a:p>
        </p:txBody>
      </p:sp>
      <p:sp>
        <p:nvSpPr>
          <p:cNvPr id="49" name="Text 38"/>
          <p:cNvSpPr txBox="1"/>
          <p:nvPr/>
        </p:nvSpPr>
        <p:spPr>
          <a:xfrm>
            <a:off x="10082174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50" name="Text 39"/>
          <p:cNvSpPr txBox="1"/>
          <p:nvPr/>
        </p:nvSpPr>
        <p:spPr>
          <a:xfrm>
            <a:off x="10283342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892</a:t>
            </a:r>
            <a:endParaRPr lang="en-US" sz="1300" dirty="0"/>
          </a:p>
        </p:txBody>
      </p:sp>
      <p:sp>
        <p:nvSpPr>
          <p:cNvPr id="51" name="Text 40"/>
          <p:cNvSpPr txBox="1"/>
          <p:nvPr/>
        </p:nvSpPr>
        <p:spPr>
          <a:xfrm>
            <a:off x="10585094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52" name="Text 41"/>
          <p:cNvSpPr txBox="1"/>
          <p:nvPr/>
        </p:nvSpPr>
        <p:spPr>
          <a:xfrm>
            <a:off x="10786262" y="2648102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1023</a:t>
            </a:r>
            <a:endParaRPr lang="en-US" sz="1300" dirty="0"/>
          </a:p>
        </p:txBody>
      </p:sp>
      <p:sp>
        <p:nvSpPr>
          <p:cNvPr id="53" name="Text 42"/>
          <p:cNvSpPr txBox="1"/>
          <p:nvPr/>
        </p:nvSpPr>
        <p:spPr>
          <a:xfrm>
            <a:off x="11188598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54" name="Text 43"/>
          <p:cNvSpPr txBox="1"/>
          <p:nvPr/>
        </p:nvSpPr>
        <p:spPr>
          <a:xfrm>
            <a:off x="11389766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756</a:t>
            </a:r>
            <a:endParaRPr lang="en-US" sz="1300" dirty="0"/>
          </a:p>
        </p:txBody>
      </p:sp>
      <p:sp>
        <p:nvSpPr>
          <p:cNvPr id="55" name="Text 44"/>
          <p:cNvSpPr txBox="1"/>
          <p:nvPr/>
        </p:nvSpPr>
        <p:spPr>
          <a:xfrm>
            <a:off x="11691518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56" name="Text 45"/>
          <p:cNvSpPr txBox="1"/>
          <p:nvPr/>
        </p:nvSpPr>
        <p:spPr>
          <a:xfrm>
            <a:off x="11892686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634</a:t>
            </a:r>
            <a:endParaRPr lang="en-US" sz="1300" dirty="0"/>
          </a:p>
        </p:txBody>
      </p:sp>
      <p:sp>
        <p:nvSpPr>
          <p:cNvPr id="57" name="Text 46"/>
          <p:cNvSpPr txBox="1"/>
          <p:nvPr/>
        </p:nvSpPr>
        <p:spPr>
          <a:xfrm>
            <a:off x="12194438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58" name="Text 47"/>
          <p:cNvSpPr txBox="1"/>
          <p:nvPr/>
        </p:nvSpPr>
        <p:spPr>
          <a:xfrm>
            <a:off x="12395606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812</a:t>
            </a:r>
            <a:endParaRPr lang="en-US" sz="1300" dirty="0"/>
          </a:p>
        </p:txBody>
      </p:sp>
      <p:sp>
        <p:nvSpPr>
          <p:cNvPr id="59" name="Text 48"/>
          <p:cNvSpPr txBox="1"/>
          <p:nvPr/>
        </p:nvSpPr>
        <p:spPr>
          <a:xfrm>
            <a:off x="12698273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60" name="Text 49"/>
          <p:cNvSpPr txBox="1"/>
          <p:nvPr/>
        </p:nvSpPr>
        <p:spPr>
          <a:xfrm>
            <a:off x="12899441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567</a:t>
            </a:r>
            <a:endParaRPr lang="en-US" sz="1300" dirty="0"/>
          </a:p>
        </p:txBody>
      </p:sp>
      <p:sp>
        <p:nvSpPr>
          <p:cNvPr id="61" name="Text 50"/>
          <p:cNvSpPr txBox="1"/>
          <p:nvPr/>
        </p:nvSpPr>
        <p:spPr>
          <a:xfrm>
            <a:off x="13201193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62" name="Text 51"/>
          <p:cNvSpPr txBox="1"/>
          <p:nvPr/>
        </p:nvSpPr>
        <p:spPr>
          <a:xfrm>
            <a:off x="13402361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934</a:t>
            </a:r>
            <a:endParaRPr lang="en-US" sz="1300" dirty="0"/>
          </a:p>
        </p:txBody>
      </p:sp>
      <p:sp>
        <p:nvSpPr>
          <p:cNvPr id="63" name="Text 52"/>
          <p:cNvSpPr txBox="1"/>
          <p:nvPr/>
        </p:nvSpPr>
        <p:spPr>
          <a:xfrm>
            <a:off x="13704113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64" name="Text 53"/>
          <p:cNvSpPr txBox="1"/>
          <p:nvPr/>
        </p:nvSpPr>
        <p:spPr>
          <a:xfrm>
            <a:off x="13905281" y="2648102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1105</a:t>
            </a:r>
            <a:endParaRPr lang="en-US" sz="1300" dirty="0"/>
          </a:p>
        </p:txBody>
      </p:sp>
      <p:sp>
        <p:nvSpPr>
          <p:cNvPr id="65" name="Text 54"/>
          <p:cNvSpPr txBox="1"/>
          <p:nvPr/>
        </p:nvSpPr>
        <p:spPr>
          <a:xfrm>
            <a:off x="14307617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66" name="Text 55"/>
          <p:cNvSpPr txBox="1"/>
          <p:nvPr/>
        </p:nvSpPr>
        <p:spPr>
          <a:xfrm>
            <a:off x="14508785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678</a:t>
            </a:r>
            <a:endParaRPr lang="en-US" sz="1300" dirty="0"/>
          </a:p>
        </p:txBody>
      </p:sp>
      <p:sp>
        <p:nvSpPr>
          <p:cNvPr id="67" name="Text 56"/>
          <p:cNvSpPr txBox="1"/>
          <p:nvPr/>
        </p:nvSpPr>
        <p:spPr>
          <a:xfrm>
            <a:off x="14810537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68" name="Text 57"/>
          <p:cNvSpPr txBox="1"/>
          <p:nvPr/>
        </p:nvSpPr>
        <p:spPr>
          <a:xfrm>
            <a:off x="15011705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489</a:t>
            </a:r>
            <a:endParaRPr lang="en-US" sz="1300" dirty="0"/>
          </a:p>
        </p:txBody>
      </p:sp>
      <p:sp>
        <p:nvSpPr>
          <p:cNvPr id="69" name="Text 58"/>
          <p:cNvSpPr txBox="1"/>
          <p:nvPr/>
        </p:nvSpPr>
        <p:spPr>
          <a:xfrm>
            <a:off x="15313457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70" name="Text 59"/>
          <p:cNvSpPr txBox="1"/>
          <p:nvPr/>
        </p:nvSpPr>
        <p:spPr>
          <a:xfrm>
            <a:off x="15514625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723</a:t>
            </a:r>
            <a:endParaRPr lang="en-US" sz="1300" dirty="0"/>
          </a:p>
        </p:txBody>
      </p:sp>
      <p:sp>
        <p:nvSpPr>
          <p:cNvPr id="71" name="Text 60"/>
          <p:cNvSpPr txBox="1"/>
          <p:nvPr/>
        </p:nvSpPr>
        <p:spPr>
          <a:xfrm>
            <a:off x="15816377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300" dirty="0"/>
          </a:p>
        </p:txBody>
      </p:sp>
      <p:sp>
        <p:nvSpPr>
          <p:cNvPr id="72" name="Text 61"/>
          <p:cNvSpPr txBox="1"/>
          <p:nvPr/>
        </p:nvSpPr>
        <p:spPr>
          <a:xfrm>
            <a:off x="16017545" y="2648102"/>
            <a:ext cx="4219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1) 내림차순으로 정렬한 새 리스트를 생성하라.</a:t>
            </a:r>
            <a:endParaRPr lang="en-US" sz="1300" dirty="0"/>
          </a:p>
        </p:txBody>
      </p:sp>
      <p:sp>
        <p:nvSpPr>
          <p:cNvPr id="73" name="Text 62"/>
          <p:cNvSpPr txBox="1"/>
          <p:nvPr/>
        </p:nvSpPr>
        <p:spPr>
          <a:xfrm>
            <a:off x="20039990" y="2648102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cases_sorted</a:t>
            </a:r>
            <a:endParaRPr lang="en-US" sz="1300" dirty="0"/>
          </a:p>
        </p:txBody>
      </p:sp>
      <p:sp>
        <p:nvSpPr>
          <p:cNvPr id="74" name="Text 63"/>
          <p:cNvSpPr txBox="1"/>
          <p:nvPr/>
        </p:nvSpPr>
        <p:spPr>
          <a:xfrm>
            <a:off x="21246998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300" dirty="0"/>
          </a:p>
        </p:txBody>
      </p:sp>
      <p:sp>
        <p:nvSpPr>
          <p:cNvPr id="75" name="Text 64"/>
          <p:cNvSpPr txBox="1"/>
          <p:nvPr/>
        </p:nvSpPr>
        <p:spPr>
          <a:xfrm>
            <a:off x="21548750" y="2648102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sorted</a:t>
            </a:r>
            <a:endParaRPr lang="en-US" sz="1300" dirty="0"/>
          </a:p>
        </p:txBody>
      </p:sp>
      <p:sp>
        <p:nvSpPr>
          <p:cNvPr id="76" name="Text 65"/>
          <p:cNvSpPr txBox="1"/>
          <p:nvPr/>
        </p:nvSpPr>
        <p:spPr>
          <a:xfrm>
            <a:off x="22152254" y="2648102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77" name="Text 66"/>
          <p:cNvSpPr txBox="1"/>
          <p:nvPr/>
        </p:nvSpPr>
        <p:spPr>
          <a:xfrm>
            <a:off x="22252838" y="2648102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cases_14days</a:t>
            </a:r>
            <a:endParaRPr lang="en-US" sz="1300" dirty="0"/>
          </a:p>
        </p:txBody>
      </p:sp>
      <p:sp>
        <p:nvSpPr>
          <p:cNvPr id="78" name="Text 67"/>
          <p:cNvSpPr txBox="1"/>
          <p:nvPr/>
        </p:nvSpPr>
        <p:spPr>
          <a:xfrm>
            <a:off x="23459846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79" name="Text 68"/>
          <p:cNvSpPr txBox="1"/>
          <p:nvPr/>
        </p:nvSpPr>
        <p:spPr>
          <a:xfrm>
            <a:off x="23661014" y="2648102"/>
            <a:ext cx="781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reverse</a:t>
            </a:r>
            <a:endParaRPr lang="en-US" sz="1300" dirty="0"/>
          </a:p>
        </p:txBody>
      </p:sp>
      <p:sp>
        <p:nvSpPr>
          <p:cNvPr id="80" name="Text 69"/>
          <p:cNvSpPr txBox="1"/>
          <p:nvPr/>
        </p:nvSpPr>
        <p:spPr>
          <a:xfrm>
            <a:off x="24365102" y="2648102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300" dirty="0"/>
          </a:p>
        </p:txBody>
      </p:sp>
      <p:sp>
        <p:nvSpPr>
          <p:cNvPr id="81" name="Shape 70"/>
          <p:cNvSpPr/>
          <p:nvPr/>
        </p:nvSpPr>
        <p:spPr>
          <a:xfrm>
            <a:off x="24503177" y="2885846"/>
            <a:ext cx="571500" cy="28346"/>
          </a:xfrm>
          <a:prstGeom prst="rect">
            <a:avLst/>
          </a:prstGeom>
          <a:solidFill>
            <a:srgbClr val="F6A513"/>
          </a:solidFill>
          <a:ln w="12700">
            <a:solidFill>
              <a:srgbClr val="F6A513">
                <a:alpha val="0"/>
              </a:srgbClr>
            </a:solidFill>
            <a:prstDash val="solid"/>
          </a:ln>
        </p:spPr>
      </p:sp>
      <p:sp>
        <p:nvSpPr>
          <p:cNvPr id="82" name="Text 71"/>
          <p:cNvSpPr txBox="1"/>
          <p:nvPr/>
        </p:nvSpPr>
        <p:spPr>
          <a:xfrm>
            <a:off x="24465686" y="2609698"/>
            <a:ext cx="6483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True</a:t>
            </a:r>
            <a:endParaRPr lang="en-US" sz="1300" dirty="0"/>
          </a:p>
        </p:txBody>
      </p:sp>
      <p:sp>
        <p:nvSpPr>
          <p:cNvPr id="83" name="Text 72"/>
          <p:cNvSpPr txBox="1"/>
          <p:nvPr/>
        </p:nvSpPr>
        <p:spPr>
          <a:xfrm>
            <a:off x="25113082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84" name="Text 73"/>
          <p:cNvSpPr txBox="1"/>
          <p:nvPr/>
        </p:nvSpPr>
        <p:spPr>
          <a:xfrm>
            <a:off x="25314250" y="2648102"/>
            <a:ext cx="3820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2) 상위 5일의 확진자 수를 슬라이싱하라.</a:t>
            </a:r>
            <a:endParaRPr lang="en-US" sz="1300" dirty="0"/>
          </a:p>
        </p:txBody>
      </p:sp>
      <p:sp>
        <p:nvSpPr>
          <p:cNvPr id="85" name="Text 74"/>
          <p:cNvSpPr txBox="1"/>
          <p:nvPr/>
        </p:nvSpPr>
        <p:spPr>
          <a:xfrm>
            <a:off x="28934359" y="2648102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top5</a:t>
            </a:r>
            <a:endParaRPr lang="en-US" sz="1300" dirty="0"/>
          </a:p>
        </p:txBody>
      </p:sp>
      <p:sp>
        <p:nvSpPr>
          <p:cNvPr id="86" name="Text 75"/>
          <p:cNvSpPr txBox="1"/>
          <p:nvPr/>
        </p:nvSpPr>
        <p:spPr>
          <a:xfrm>
            <a:off x="29336695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300" dirty="0"/>
          </a:p>
        </p:txBody>
      </p:sp>
      <p:sp>
        <p:nvSpPr>
          <p:cNvPr id="87" name="Text 76"/>
          <p:cNvSpPr txBox="1"/>
          <p:nvPr/>
        </p:nvSpPr>
        <p:spPr>
          <a:xfrm>
            <a:off x="29638447" y="2648102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cases_sorted</a:t>
            </a:r>
            <a:endParaRPr lang="en-US" sz="1300" dirty="0"/>
          </a:p>
        </p:txBody>
      </p:sp>
      <p:sp>
        <p:nvSpPr>
          <p:cNvPr id="88" name="Text 77"/>
          <p:cNvSpPr txBox="1"/>
          <p:nvPr/>
        </p:nvSpPr>
        <p:spPr>
          <a:xfrm>
            <a:off x="30845455" y="2648102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300" dirty="0"/>
          </a:p>
        </p:txBody>
      </p:sp>
      <p:sp>
        <p:nvSpPr>
          <p:cNvPr id="89" name="Shape 78"/>
          <p:cNvSpPr/>
          <p:nvPr/>
        </p:nvSpPr>
        <p:spPr>
          <a:xfrm>
            <a:off x="30983530" y="2885846"/>
            <a:ext cx="571500" cy="28346"/>
          </a:xfrm>
          <a:prstGeom prst="rect">
            <a:avLst/>
          </a:prstGeom>
          <a:solidFill>
            <a:srgbClr val="F6A513"/>
          </a:solidFill>
          <a:ln w="12700">
            <a:solidFill>
              <a:srgbClr val="F6A513">
                <a:alpha val="0"/>
              </a:srgbClr>
            </a:solidFill>
            <a:prstDash val="solid"/>
          </a:ln>
        </p:spPr>
      </p:sp>
      <p:sp>
        <p:nvSpPr>
          <p:cNvPr id="90" name="Text 79"/>
          <p:cNvSpPr txBox="1"/>
          <p:nvPr/>
        </p:nvSpPr>
        <p:spPr>
          <a:xfrm>
            <a:off x="30946039" y="2609698"/>
            <a:ext cx="6483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:5</a:t>
            </a:r>
            <a:endParaRPr lang="en-US" sz="1300" dirty="0"/>
          </a:p>
        </p:txBody>
      </p:sp>
      <p:sp>
        <p:nvSpPr>
          <p:cNvPr id="91" name="Text 80"/>
          <p:cNvSpPr txBox="1"/>
          <p:nvPr/>
        </p:nvSpPr>
        <p:spPr>
          <a:xfrm>
            <a:off x="31593434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300" dirty="0"/>
          </a:p>
        </p:txBody>
      </p:sp>
      <p:sp>
        <p:nvSpPr>
          <p:cNvPr id="92" name="Text 81"/>
          <p:cNvSpPr txBox="1"/>
          <p:nvPr/>
        </p:nvSpPr>
        <p:spPr>
          <a:xfrm>
            <a:off x="31794602" y="2648102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93" name="Text 82"/>
          <p:cNvSpPr txBox="1"/>
          <p:nvPr/>
        </p:nvSpPr>
        <p:spPr>
          <a:xfrm>
            <a:off x="32297522" y="2648102"/>
            <a:ext cx="1991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("확진자 상위 5일:",</a:t>
            </a:r>
            <a:endParaRPr lang="en-US" sz="1300" dirty="0"/>
          </a:p>
        </p:txBody>
      </p:sp>
      <p:sp>
        <p:nvSpPr>
          <p:cNvPr id="94" name="Text 83"/>
          <p:cNvSpPr txBox="1"/>
          <p:nvPr/>
        </p:nvSpPr>
        <p:spPr>
          <a:xfrm>
            <a:off x="34208618" y="2648102"/>
            <a:ext cx="486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top5</a:t>
            </a:r>
            <a:endParaRPr lang="en-US" sz="1300" dirty="0"/>
          </a:p>
        </p:txBody>
      </p:sp>
      <p:sp>
        <p:nvSpPr>
          <p:cNvPr id="95" name="Text 84"/>
          <p:cNvSpPr txBox="1"/>
          <p:nvPr/>
        </p:nvSpPr>
        <p:spPr>
          <a:xfrm>
            <a:off x="34610954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96" name="Text 85"/>
          <p:cNvSpPr txBox="1"/>
          <p:nvPr/>
        </p:nvSpPr>
        <p:spPr>
          <a:xfrm>
            <a:off x="34812122" y="2648102"/>
            <a:ext cx="4506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3) 15일차 확진자 수 850을 리스트 끝에 추가하라.</a:t>
            </a:r>
            <a:endParaRPr lang="en-US" sz="1300" dirty="0"/>
          </a:p>
        </p:txBody>
      </p:sp>
      <p:sp>
        <p:nvSpPr>
          <p:cNvPr id="97" name="Text 86"/>
          <p:cNvSpPr txBox="1"/>
          <p:nvPr/>
        </p:nvSpPr>
        <p:spPr>
          <a:xfrm>
            <a:off x="39203071" y="2648102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cases_14days</a:t>
            </a:r>
            <a:endParaRPr lang="en-US" sz="1300" dirty="0"/>
          </a:p>
        </p:txBody>
      </p:sp>
      <p:sp>
        <p:nvSpPr>
          <p:cNvPr id="98" name="Text 87"/>
          <p:cNvSpPr txBox="1"/>
          <p:nvPr/>
        </p:nvSpPr>
        <p:spPr>
          <a:xfrm>
            <a:off x="40410079" y="2648102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300" dirty="0"/>
          </a:p>
        </p:txBody>
      </p:sp>
      <p:sp>
        <p:nvSpPr>
          <p:cNvPr id="99" name="Text 88"/>
          <p:cNvSpPr txBox="1"/>
          <p:nvPr/>
        </p:nvSpPr>
        <p:spPr>
          <a:xfrm>
            <a:off x="40510663" y="2648102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append</a:t>
            </a:r>
            <a:endParaRPr lang="en-US" sz="1300" dirty="0"/>
          </a:p>
        </p:txBody>
      </p:sp>
      <p:sp>
        <p:nvSpPr>
          <p:cNvPr id="100" name="Text 89"/>
          <p:cNvSpPr txBox="1"/>
          <p:nvPr/>
        </p:nvSpPr>
        <p:spPr>
          <a:xfrm>
            <a:off x="41114167" y="2648102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101" name="Text 90"/>
          <p:cNvSpPr txBox="1"/>
          <p:nvPr/>
        </p:nvSpPr>
        <p:spPr>
          <a:xfrm>
            <a:off x="41214751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850</a:t>
            </a:r>
            <a:endParaRPr lang="en-US" sz="1300" dirty="0"/>
          </a:p>
        </p:txBody>
      </p:sp>
      <p:sp>
        <p:nvSpPr>
          <p:cNvPr id="102" name="Text 91"/>
          <p:cNvSpPr txBox="1"/>
          <p:nvPr/>
        </p:nvSpPr>
        <p:spPr>
          <a:xfrm>
            <a:off x="41516503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103" name="Text 92"/>
          <p:cNvSpPr txBox="1"/>
          <p:nvPr/>
        </p:nvSpPr>
        <p:spPr>
          <a:xfrm>
            <a:off x="41717671" y="2648102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104" name="Text 93"/>
          <p:cNvSpPr txBox="1"/>
          <p:nvPr/>
        </p:nvSpPr>
        <p:spPr>
          <a:xfrm>
            <a:off x="42220591" y="2648102"/>
            <a:ext cx="1724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("추가 후 길이:",</a:t>
            </a:r>
            <a:endParaRPr lang="en-US" sz="1300" dirty="0"/>
          </a:p>
        </p:txBody>
      </p:sp>
      <p:sp>
        <p:nvSpPr>
          <p:cNvPr id="105" name="Text 94"/>
          <p:cNvSpPr txBox="1"/>
          <p:nvPr/>
        </p:nvSpPr>
        <p:spPr>
          <a:xfrm>
            <a:off x="43862854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len</a:t>
            </a:r>
            <a:endParaRPr lang="en-US" sz="1300" dirty="0"/>
          </a:p>
        </p:txBody>
      </p:sp>
      <p:sp>
        <p:nvSpPr>
          <p:cNvPr id="106" name="Text 95"/>
          <p:cNvSpPr txBox="1"/>
          <p:nvPr/>
        </p:nvSpPr>
        <p:spPr>
          <a:xfrm>
            <a:off x="44164606" y="2648102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107" name="Text 96"/>
          <p:cNvSpPr txBox="1"/>
          <p:nvPr/>
        </p:nvSpPr>
        <p:spPr>
          <a:xfrm>
            <a:off x="44265190" y="2648102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cases_14days</a:t>
            </a:r>
            <a:endParaRPr lang="en-US" sz="1300" dirty="0"/>
          </a:p>
        </p:txBody>
      </p:sp>
      <p:sp>
        <p:nvSpPr>
          <p:cNvPr id="108" name="Text 97"/>
          <p:cNvSpPr txBox="1"/>
          <p:nvPr/>
        </p:nvSpPr>
        <p:spPr>
          <a:xfrm>
            <a:off x="45472198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))</a:t>
            </a:r>
            <a:endParaRPr lang="en-US" sz="1300" dirty="0"/>
          </a:p>
        </p:txBody>
      </p:sp>
      <p:sp>
        <p:nvSpPr>
          <p:cNvPr id="109" name="Text 98"/>
          <p:cNvSpPr txBox="1"/>
          <p:nvPr/>
        </p:nvSpPr>
        <p:spPr>
          <a:xfrm>
            <a:off x="45773950" y="2648102"/>
            <a:ext cx="3381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4) 최소 확진자 수를 찾아 제거하라.</a:t>
            </a:r>
            <a:endParaRPr lang="en-US" sz="1300" dirty="0"/>
          </a:p>
        </p:txBody>
      </p:sp>
      <p:sp>
        <p:nvSpPr>
          <p:cNvPr id="110" name="Text 99"/>
          <p:cNvSpPr txBox="1"/>
          <p:nvPr/>
        </p:nvSpPr>
        <p:spPr>
          <a:xfrm>
            <a:off x="48957890" y="2648102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min_case</a:t>
            </a:r>
            <a:endParaRPr lang="en-US" sz="1300" dirty="0"/>
          </a:p>
        </p:txBody>
      </p:sp>
      <p:sp>
        <p:nvSpPr>
          <p:cNvPr id="111" name="Text 100"/>
          <p:cNvSpPr txBox="1"/>
          <p:nvPr/>
        </p:nvSpPr>
        <p:spPr>
          <a:xfrm>
            <a:off x="49762562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300" dirty="0"/>
          </a:p>
        </p:txBody>
      </p:sp>
      <p:sp>
        <p:nvSpPr>
          <p:cNvPr id="112" name="Text 101"/>
          <p:cNvSpPr txBox="1"/>
          <p:nvPr/>
        </p:nvSpPr>
        <p:spPr>
          <a:xfrm>
            <a:off x="50064314" y="2648102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min</a:t>
            </a:r>
            <a:endParaRPr lang="en-US" sz="1300" dirty="0"/>
          </a:p>
        </p:txBody>
      </p:sp>
      <p:sp>
        <p:nvSpPr>
          <p:cNvPr id="113" name="Text 102"/>
          <p:cNvSpPr txBox="1"/>
          <p:nvPr/>
        </p:nvSpPr>
        <p:spPr>
          <a:xfrm>
            <a:off x="50366066" y="2648102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114" name="Text 103"/>
          <p:cNvSpPr txBox="1"/>
          <p:nvPr/>
        </p:nvSpPr>
        <p:spPr>
          <a:xfrm>
            <a:off x="50466650" y="2648102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cases_14days</a:t>
            </a:r>
            <a:endParaRPr lang="en-US" sz="1300" dirty="0"/>
          </a:p>
        </p:txBody>
      </p:sp>
      <p:sp>
        <p:nvSpPr>
          <p:cNvPr id="115" name="Text 104"/>
          <p:cNvSpPr txBox="1"/>
          <p:nvPr/>
        </p:nvSpPr>
        <p:spPr>
          <a:xfrm>
            <a:off x="51673658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116" name="Text 105"/>
          <p:cNvSpPr txBox="1"/>
          <p:nvPr/>
        </p:nvSpPr>
        <p:spPr>
          <a:xfrm>
            <a:off x="51874826" y="2648102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cases_14days</a:t>
            </a:r>
            <a:endParaRPr lang="en-US" sz="1300" dirty="0"/>
          </a:p>
        </p:txBody>
      </p:sp>
      <p:sp>
        <p:nvSpPr>
          <p:cNvPr id="117" name="Text 106"/>
          <p:cNvSpPr txBox="1"/>
          <p:nvPr/>
        </p:nvSpPr>
        <p:spPr>
          <a:xfrm>
            <a:off x="53081834" y="2648102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300" dirty="0"/>
          </a:p>
        </p:txBody>
      </p:sp>
      <p:sp>
        <p:nvSpPr>
          <p:cNvPr id="118" name="Text 107"/>
          <p:cNvSpPr txBox="1"/>
          <p:nvPr/>
        </p:nvSpPr>
        <p:spPr>
          <a:xfrm>
            <a:off x="53182418" y="2648102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remove</a:t>
            </a:r>
            <a:endParaRPr lang="en-US" sz="1300" dirty="0"/>
          </a:p>
        </p:txBody>
      </p:sp>
      <p:sp>
        <p:nvSpPr>
          <p:cNvPr id="119" name="Text 108"/>
          <p:cNvSpPr txBox="1"/>
          <p:nvPr/>
        </p:nvSpPr>
        <p:spPr>
          <a:xfrm>
            <a:off x="53785922" y="2648102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120" name="Shape 109"/>
          <p:cNvSpPr/>
          <p:nvPr/>
        </p:nvSpPr>
        <p:spPr>
          <a:xfrm>
            <a:off x="53924911" y="2885846"/>
            <a:ext cx="809244" cy="28346"/>
          </a:xfrm>
          <a:prstGeom prst="rect">
            <a:avLst/>
          </a:prstGeom>
          <a:solidFill>
            <a:srgbClr val="F6A513"/>
          </a:solidFill>
          <a:ln w="12700">
            <a:solidFill>
              <a:srgbClr val="F6A513">
                <a:alpha val="0"/>
              </a:srgbClr>
            </a:solidFill>
            <a:prstDash val="solid"/>
          </a:ln>
        </p:spPr>
      </p:sp>
      <p:sp>
        <p:nvSpPr>
          <p:cNvPr id="121" name="Text 110"/>
          <p:cNvSpPr txBox="1"/>
          <p:nvPr/>
        </p:nvSpPr>
        <p:spPr>
          <a:xfrm>
            <a:off x="53886506" y="2609698"/>
            <a:ext cx="88605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min_case</a:t>
            </a:r>
            <a:endParaRPr lang="en-US" sz="1300" dirty="0"/>
          </a:p>
        </p:txBody>
      </p:sp>
      <p:sp>
        <p:nvSpPr>
          <p:cNvPr id="122" name="Text 111"/>
          <p:cNvSpPr txBox="1"/>
          <p:nvPr/>
        </p:nvSpPr>
        <p:spPr>
          <a:xfrm>
            <a:off x="54767074" y="2648102"/>
            <a:ext cx="286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123" name="Text 112"/>
          <p:cNvSpPr txBox="1"/>
          <p:nvPr/>
        </p:nvSpPr>
        <p:spPr>
          <a:xfrm>
            <a:off x="54968242" y="2648102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124" name="Text 113"/>
          <p:cNvSpPr txBox="1"/>
          <p:nvPr/>
        </p:nvSpPr>
        <p:spPr>
          <a:xfrm>
            <a:off x="55471162" y="2648102"/>
            <a:ext cx="1895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("최소값 제거 후:",</a:t>
            </a:r>
            <a:endParaRPr lang="en-US" sz="1300" dirty="0"/>
          </a:p>
        </p:txBody>
      </p:sp>
      <p:sp>
        <p:nvSpPr>
          <p:cNvPr id="125" name="Text 114"/>
          <p:cNvSpPr txBox="1"/>
          <p:nvPr/>
        </p:nvSpPr>
        <p:spPr>
          <a:xfrm>
            <a:off x="57281674" y="2648102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cases_14days</a:t>
            </a:r>
            <a:endParaRPr lang="en-US" sz="1300" dirty="0"/>
          </a:p>
        </p:txBody>
      </p:sp>
      <p:sp>
        <p:nvSpPr>
          <p:cNvPr id="126" name="Text 115"/>
          <p:cNvSpPr txBox="1"/>
          <p:nvPr/>
        </p:nvSpPr>
        <p:spPr>
          <a:xfrm>
            <a:off x="58488682" y="2648102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127" name="Text 116"/>
          <p:cNvSpPr txBox="1"/>
          <p:nvPr/>
        </p:nvSpPr>
        <p:spPr>
          <a:xfrm>
            <a:off x="11746382" y="64008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571854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304495"/>
            <a:ext cx="1009498" cy="2761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2007" y="304495"/>
            <a:ext cx="6483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Ping ③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724205" y="369418"/>
            <a:ext cx="171907" cy="1335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9905" y="657454"/>
            <a:ext cx="50831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딕셔너리: 생성·접근·순회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609905" y="1076249"/>
            <a:ext cx="393557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과일 가격 데이터를 활용한 딕셔너리 기초 실습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10318090" y="737921"/>
            <a:ext cx="171907" cy="1335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372039" y="709574"/>
            <a:ext cx="12134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Instructor Demo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-5" r="-5" t="0" b="0"/>
          <a:stretch/>
        </p:blipFill>
        <p:spPr>
          <a:xfrm>
            <a:off x="609905" y="1876349"/>
            <a:ext cx="10972800" cy="304769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09905" y="1876349"/>
            <a:ext cx="10972800" cy="448056"/>
          </a:xfrm>
          <a:prstGeom prst="roundRect">
            <a:avLst>
              <a:gd name="adj" fmla="val 52106"/>
            </a:avLst>
          </a:prstGeom>
          <a:solidFill>
            <a:srgbClr val="0F172A"/>
          </a:solidFill>
          <a:ln/>
        </p:spPr>
      </p:sp>
      <p:sp>
        <p:nvSpPr>
          <p:cNvPr id="14" name="Shape 8"/>
          <p:cNvSpPr/>
          <p:nvPr/>
        </p:nvSpPr>
        <p:spPr>
          <a:xfrm>
            <a:off x="609905" y="2315261"/>
            <a:ext cx="10972800" cy="9144"/>
          </a:xfrm>
          <a:prstGeom prst="roundRect">
            <a:avLst>
              <a:gd name="adj" fmla="val 2553191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38505" y="2036369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1028700" y="2036369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1218895" y="2036369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333695" y="1990649"/>
            <a:ext cx="16486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week2_dict_basic.py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2672791"/>
            <a:ext cx="1591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fruit_price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2499970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2637130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774290" y="2672791"/>
            <a:ext cx="810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"사과"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350581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3780130" y="2672791"/>
            <a:ext cx="629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3000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432877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4603090" y="2672791"/>
            <a:ext cx="10396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"바나나"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556321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5838444" y="2672791"/>
            <a:ext cx="629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1500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6387084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6661404" y="2672791"/>
            <a:ext cx="810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"포도"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7392924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7667244" y="2672791"/>
            <a:ext cx="629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5000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8215884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8353044" y="267279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9038844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9176004" y="2672791"/>
            <a:ext cx="1543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"사과 가격:"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0639958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10914278" y="2672791"/>
            <a:ext cx="1591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fruit_price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12423038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12560198" y="2672791"/>
            <a:ext cx="810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"사과"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13291718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800" dirty="0"/>
          </a:p>
        </p:txBody>
      </p:sp>
      <p:sp>
        <p:nvSpPr>
          <p:cNvPr id="42" name="Text 36"/>
          <p:cNvSpPr txBox="1"/>
          <p:nvPr/>
        </p:nvSpPr>
        <p:spPr>
          <a:xfrm>
            <a:off x="13428878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43" name="Text 37"/>
          <p:cNvSpPr txBox="1"/>
          <p:nvPr/>
        </p:nvSpPr>
        <p:spPr>
          <a:xfrm>
            <a:off x="13566038" y="267279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800" dirty="0"/>
          </a:p>
        </p:txBody>
      </p:sp>
      <p:sp>
        <p:nvSpPr>
          <p:cNvPr id="44" name="Text 38"/>
          <p:cNvSpPr txBox="1"/>
          <p:nvPr/>
        </p:nvSpPr>
        <p:spPr>
          <a:xfrm>
            <a:off x="14252753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45" name="Text 39"/>
          <p:cNvSpPr txBox="1"/>
          <p:nvPr/>
        </p:nvSpPr>
        <p:spPr>
          <a:xfrm>
            <a:off x="14389913" y="2672791"/>
            <a:ext cx="1543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"모든 과일:"</a:t>
            </a:r>
            <a:endParaRPr lang="en-US" sz="1800" dirty="0"/>
          </a:p>
        </p:txBody>
      </p:sp>
      <p:sp>
        <p:nvSpPr>
          <p:cNvPr id="46" name="Text 40"/>
          <p:cNvSpPr txBox="1"/>
          <p:nvPr/>
        </p:nvSpPr>
        <p:spPr>
          <a:xfrm>
            <a:off x="15852953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47" name="Text 41"/>
          <p:cNvSpPr txBox="1"/>
          <p:nvPr/>
        </p:nvSpPr>
        <p:spPr>
          <a:xfrm>
            <a:off x="16127273" y="2672791"/>
            <a:ext cx="629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list</a:t>
            </a:r>
            <a:endParaRPr lang="en-US" sz="1800" dirty="0"/>
          </a:p>
        </p:txBody>
      </p:sp>
      <p:sp>
        <p:nvSpPr>
          <p:cNvPr id="48" name="Text 42"/>
          <p:cNvSpPr txBox="1"/>
          <p:nvPr/>
        </p:nvSpPr>
        <p:spPr>
          <a:xfrm>
            <a:off x="16675913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49" name="Text 43"/>
          <p:cNvSpPr txBox="1"/>
          <p:nvPr/>
        </p:nvSpPr>
        <p:spPr>
          <a:xfrm>
            <a:off x="16813073" y="2672791"/>
            <a:ext cx="1591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fruit_price</a:t>
            </a:r>
            <a:endParaRPr lang="en-US" sz="1800" dirty="0"/>
          </a:p>
        </p:txBody>
      </p:sp>
      <p:sp>
        <p:nvSpPr>
          <p:cNvPr id="50" name="Text 44"/>
          <p:cNvSpPr txBox="1"/>
          <p:nvPr/>
        </p:nvSpPr>
        <p:spPr>
          <a:xfrm>
            <a:off x="18321833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800" dirty="0"/>
          </a:p>
        </p:txBody>
      </p:sp>
      <p:sp>
        <p:nvSpPr>
          <p:cNvPr id="51" name="Text 45"/>
          <p:cNvSpPr txBox="1"/>
          <p:nvPr/>
        </p:nvSpPr>
        <p:spPr>
          <a:xfrm>
            <a:off x="18459907" y="2672791"/>
            <a:ext cx="629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keys</a:t>
            </a:r>
            <a:endParaRPr lang="en-US" sz="1800" dirty="0"/>
          </a:p>
        </p:txBody>
      </p:sp>
      <p:sp>
        <p:nvSpPr>
          <p:cNvPr id="52" name="Text 46"/>
          <p:cNvSpPr txBox="1"/>
          <p:nvPr/>
        </p:nvSpPr>
        <p:spPr>
          <a:xfrm>
            <a:off x="19008547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800" dirty="0"/>
          </a:p>
        </p:txBody>
      </p:sp>
      <p:sp>
        <p:nvSpPr>
          <p:cNvPr id="53" name="Text 47"/>
          <p:cNvSpPr txBox="1"/>
          <p:nvPr/>
        </p:nvSpPr>
        <p:spPr>
          <a:xfrm>
            <a:off x="19282867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54" name="Text 48"/>
          <p:cNvSpPr txBox="1"/>
          <p:nvPr/>
        </p:nvSpPr>
        <p:spPr>
          <a:xfrm>
            <a:off x="19420027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55" name="Text 49"/>
          <p:cNvSpPr txBox="1"/>
          <p:nvPr/>
        </p:nvSpPr>
        <p:spPr>
          <a:xfrm>
            <a:off x="19557187" y="2672791"/>
            <a:ext cx="1591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fruit_price</a:t>
            </a:r>
            <a:endParaRPr lang="en-US" sz="1800" dirty="0"/>
          </a:p>
        </p:txBody>
      </p:sp>
      <p:sp>
        <p:nvSpPr>
          <p:cNvPr id="56" name="Text 50"/>
          <p:cNvSpPr txBox="1"/>
          <p:nvPr/>
        </p:nvSpPr>
        <p:spPr>
          <a:xfrm>
            <a:off x="21065947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800" dirty="0"/>
          </a:p>
        </p:txBody>
      </p:sp>
      <p:sp>
        <p:nvSpPr>
          <p:cNvPr id="57" name="Text 51"/>
          <p:cNvSpPr txBox="1"/>
          <p:nvPr/>
        </p:nvSpPr>
        <p:spPr>
          <a:xfrm>
            <a:off x="21203107" y="2672791"/>
            <a:ext cx="810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"딸기"</a:t>
            </a:r>
            <a:endParaRPr lang="en-US" sz="1800" dirty="0"/>
          </a:p>
        </p:txBody>
      </p:sp>
      <p:sp>
        <p:nvSpPr>
          <p:cNvPr id="58" name="Text 52"/>
          <p:cNvSpPr txBox="1"/>
          <p:nvPr/>
        </p:nvSpPr>
        <p:spPr>
          <a:xfrm>
            <a:off x="21934627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800" dirty="0"/>
          </a:p>
        </p:txBody>
      </p:sp>
      <p:sp>
        <p:nvSpPr>
          <p:cNvPr id="59" name="Text 53"/>
          <p:cNvSpPr txBox="1"/>
          <p:nvPr/>
        </p:nvSpPr>
        <p:spPr>
          <a:xfrm>
            <a:off x="22072702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800" dirty="0"/>
          </a:p>
        </p:txBody>
      </p:sp>
      <p:sp>
        <p:nvSpPr>
          <p:cNvPr id="60" name="Text 54"/>
          <p:cNvSpPr txBox="1"/>
          <p:nvPr/>
        </p:nvSpPr>
        <p:spPr>
          <a:xfrm>
            <a:off x="22209862" y="2672791"/>
            <a:ext cx="629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4000</a:t>
            </a:r>
            <a:endParaRPr lang="en-US" sz="1800" dirty="0"/>
          </a:p>
        </p:txBody>
      </p:sp>
      <p:sp>
        <p:nvSpPr>
          <p:cNvPr id="61" name="Text 55"/>
          <p:cNvSpPr txBox="1"/>
          <p:nvPr/>
        </p:nvSpPr>
        <p:spPr>
          <a:xfrm>
            <a:off x="22758502" y="267279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800" dirty="0"/>
          </a:p>
        </p:txBody>
      </p:sp>
      <p:sp>
        <p:nvSpPr>
          <p:cNvPr id="62" name="Text 56"/>
          <p:cNvSpPr txBox="1"/>
          <p:nvPr/>
        </p:nvSpPr>
        <p:spPr>
          <a:xfrm>
            <a:off x="23444302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63" name="Text 57"/>
          <p:cNvSpPr txBox="1"/>
          <p:nvPr/>
        </p:nvSpPr>
        <p:spPr>
          <a:xfrm>
            <a:off x="23581462" y="2672791"/>
            <a:ext cx="1314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"추가 후:"</a:t>
            </a:r>
            <a:endParaRPr lang="en-US" sz="1800" dirty="0"/>
          </a:p>
        </p:txBody>
      </p:sp>
      <p:sp>
        <p:nvSpPr>
          <p:cNvPr id="64" name="Text 58"/>
          <p:cNvSpPr txBox="1"/>
          <p:nvPr/>
        </p:nvSpPr>
        <p:spPr>
          <a:xfrm>
            <a:off x="24815902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65" name="Text 59"/>
          <p:cNvSpPr txBox="1"/>
          <p:nvPr/>
        </p:nvSpPr>
        <p:spPr>
          <a:xfrm>
            <a:off x="25090222" y="2672791"/>
            <a:ext cx="1591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fruit_price</a:t>
            </a:r>
            <a:endParaRPr lang="en-US" sz="1800" dirty="0"/>
          </a:p>
        </p:txBody>
      </p:sp>
      <p:sp>
        <p:nvSpPr>
          <p:cNvPr id="66" name="Text 60"/>
          <p:cNvSpPr txBox="1"/>
          <p:nvPr/>
        </p:nvSpPr>
        <p:spPr>
          <a:xfrm>
            <a:off x="26599896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pic>
        <p:nvPicPr>
          <p:cNvPr id="6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5" y="2991002"/>
            <a:ext cx="10972800" cy="371246"/>
          </a:xfrm>
          <a:prstGeom prst="rect">
            <a:avLst/>
          </a:prstGeom>
        </p:spPr>
      </p:pic>
      <p:sp>
        <p:nvSpPr>
          <p:cNvPr id="68" name="Text 61"/>
          <p:cNvSpPr/>
          <p:nvPr/>
        </p:nvSpPr>
        <p:spPr>
          <a:xfrm>
            <a:off x="609905" y="2991002"/>
            <a:ext cx="10972800" cy="372161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E24A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 fruit , price in fruit_price . items () :</a:t>
            </a:r>
            <a:endParaRPr lang="en-US" sz="1800" dirty="0"/>
          </a:p>
        </p:txBody>
      </p:sp>
      <p:sp>
        <p:nvSpPr>
          <p:cNvPr id="69" name="Text 62"/>
          <p:cNvSpPr txBox="1"/>
          <p:nvPr/>
        </p:nvSpPr>
        <p:spPr>
          <a:xfrm>
            <a:off x="990295" y="3038551"/>
            <a:ext cx="495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</a:t>
            </a:r>
            <a:endParaRPr lang="en-US" sz="1800" dirty="0"/>
          </a:p>
        </p:txBody>
      </p:sp>
      <p:sp>
        <p:nvSpPr>
          <p:cNvPr id="70" name="Text 63"/>
          <p:cNvSpPr txBox="1"/>
          <p:nvPr/>
        </p:nvSpPr>
        <p:spPr>
          <a:xfrm>
            <a:off x="1539850" y="303855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fruit</a:t>
            </a:r>
            <a:endParaRPr lang="en-US" sz="1800" dirty="0"/>
          </a:p>
        </p:txBody>
      </p:sp>
      <p:sp>
        <p:nvSpPr>
          <p:cNvPr id="71" name="Text 64"/>
          <p:cNvSpPr txBox="1"/>
          <p:nvPr/>
        </p:nvSpPr>
        <p:spPr>
          <a:xfrm>
            <a:off x="2499970" y="303855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price</a:t>
            </a:r>
            <a:endParaRPr lang="en-US" sz="1800" dirty="0"/>
          </a:p>
        </p:txBody>
      </p:sp>
      <p:sp>
        <p:nvSpPr>
          <p:cNvPr id="72" name="Text 65"/>
          <p:cNvSpPr txBox="1"/>
          <p:nvPr/>
        </p:nvSpPr>
        <p:spPr>
          <a:xfrm>
            <a:off x="3322930" y="303855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endParaRPr lang="en-US" sz="1800" dirty="0"/>
          </a:p>
        </p:txBody>
      </p:sp>
      <p:sp>
        <p:nvSpPr>
          <p:cNvPr id="73" name="Text 66"/>
          <p:cNvSpPr txBox="1"/>
          <p:nvPr/>
        </p:nvSpPr>
        <p:spPr>
          <a:xfrm>
            <a:off x="3734410" y="3038551"/>
            <a:ext cx="1591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fruit_price</a:t>
            </a:r>
            <a:endParaRPr lang="en-US" sz="1800" dirty="0"/>
          </a:p>
        </p:txBody>
      </p:sp>
      <p:sp>
        <p:nvSpPr>
          <p:cNvPr id="74" name="Text 67"/>
          <p:cNvSpPr txBox="1"/>
          <p:nvPr/>
        </p:nvSpPr>
        <p:spPr>
          <a:xfrm>
            <a:off x="5381244" y="303855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items</a:t>
            </a:r>
            <a:endParaRPr lang="en-US" sz="1800" dirty="0"/>
          </a:p>
        </p:txBody>
      </p:sp>
      <p:sp>
        <p:nvSpPr>
          <p:cNvPr id="75" name="Text 68"/>
          <p:cNvSpPr txBox="1"/>
          <p:nvPr/>
        </p:nvSpPr>
        <p:spPr>
          <a:xfrm>
            <a:off x="6067044" y="303855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800" dirty="0"/>
          </a:p>
        </p:txBody>
      </p:sp>
      <p:pic>
        <p:nvPicPr>
          <p:cNvPr id="7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5" y="3356762"/>
            <a:ext cx="10972800" cy="371246"/>
          </a:xfrm>
          <a:prstGeom prst="rect">
            <a:avLst/>
          </a:prstGeom>
        </p:spPr>
      </p:pic>
      <p:sp>
        <p:nvSpPr>
          <p:cNvPr id="77" name="Text 69"/>
          <p:cNvSpPr/>
          <p:nvPr/>
        </p:nvSpPr>
        <p:spPr>
          <a:xfrm>
            <a:off x="609905" y="3356762"/>
            <a:ext cx="10972800" cy="372161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E24A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 ( f" {fruit}: {price}원" )</a:t>
            </a:r>
            <a:endParaRPr lang="en-US" sz="1800" dirty="0"/>
          </a:p>
        </p:txBody>
      </p:sp>
      <p:sp>
        <p:nvSpPr>
          <p:cNvPr id="78" name="Text 70"/>
          <p:cNvSpPr txBox="1"/>
          <p:nvPr/>
        </p:nvSpPr>
        <p:spPr>
          <a:xfrm>
            <a:off x="1538935" y="340431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800" dirty="0"/>
          </a:p>
        </p:txBody>
      </p:sp>
      <p:sp>
        <p:nvSpPr>
          <p:cNvPr id="79" name="Text 71"/>
          <p:cNvSpPr txBox="1"/>
          <p:nvPr/>
        </p:nvSpPr>
        <p:spPr>
          <a:xfrm>
            <a:off x="2225650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80" name="Text 72"/>
          <p:cNvSpPr txBox="1"/>
          <p:nvPr/>
        </p:nvSpPr>
        <p:spPr>
          <a:xfrm>
            <a:off x="2362810" y="3404311"/>
            <a:ext cx="3543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 </a:t>
            </a:r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fruit</a:t>
            </a:r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</a:t>
            </a:r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price</a:t>
            </a:r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원"</a:t>
            </a:r>
            <a:endParaRPr lang="en-US" sz="1800" dirty="0"/>
          </a:p>
        </p:txBody>
      </p:sp>
      <p:sp>
        <p:nvSpPr>
          <p:cNvPr id="81" name="Text 73"/>
          <p:cNvSpPr txBox="1"/>
          <p:nvPr/>
        </p:nvSpPr>
        <p:spPr>
          <a:xfrm>
            <a:off x="2774290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800" dirty="0"/>
          </a:p>
        </p:txBody>
      </p:sp>
      <p:sp>
        <p:nvSpPr>
          <p:cNvPr id="82" name="Text 74"/>
          <p:cNvSpPr txBox="1"/>
          <p:nvPr/>
        </p:nvSpPr>
        <p:spPr>
          <a:xfrm>
            <a:off x="2911450" y="340431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fruit</a:t>
            </a:r>
            <a:endParaRPr lang="en-US" sz="1800" dirty="0"/>
          </a:p>
        </p:txBody>
      </p:sp>
      <p:sp>
        <p:nvSpPr>
          <p:cNvPr id="83" name="Text 75"/>
          <p:cNvSpPr txBox="1"/>
          <p:nvPr/>
        </p:nvSpPr>
        <p:spPr>
          <a:xfrm>
            <a:off x="3597250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800" dirty="0"/>
          </a:p>
        </p:txBody>
      </p:sp>
      <p:sp>
        <p:nvSpPr>
          <p:cNvPr id="84" name="Text 76"/>
          <p:cNvSpPr txBox="1"/>
          <p:nvPr/>
        </p:nvSpPr>
        <p:spPr>
          <a:xfrm>
            <a:off x="4008730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800" dirty="0"/>
          </a:p>
        </p:txBody>
      </p:sp>
      <p:sp>
        <p:nvSpPr>
          <p:cNvPr id="85" name="Text 77"/>
          <p:cNvSpPr txBox="1"/>
          <p:nvPr/>
        </p:nvSpPr>
        <p:spPr>
          <a:xfrm>
            <a:off x="4145890" y="340431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price</a:t>
            </a:r>
            <a:endParaRPr lang="en-US" sz="1800" dirty="0"/>
          </a:p>
        </p:txBody>
      </p:sp>
      <p:sp>
        <p:nvSpPr>
          <p:cNvPr id="86" name="Text 78"/>
          <p:cNvSpPr txBox="1"/>
          <p:nvPr/>
        </p:nvSpPr>
        <p:spPr>
          <a:xfrm>
            <a:off x="4832604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800" dirty="0"/>
          </a:p>
        </p:txBody>
      </p:sp>
      <p:sp>
        <p:nvSpPr>
          <p:cNvPr id="87" name="Text 79"/>
          <p:cNvSpPr txBox="1"/>
          <p:nvPr/>
        </p:nvSpPr>
        <p:spPr>
          <a:xfrm>
            <a:off x="5335524" y="340431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pic>
        <p:nvPicPr>
          <p:cNvPr id="8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5" b="-15"/>
          <a:stretch/>
        </p:blipFill>
        <p:spPr>
          <a:xfrm>
            <a:off x="609905" y="5152644"/>
            <a:ext cx="10972800" cy="1248156"/>
          </a:xfrm>
          <a:prstGeom prst="rect">
            <a:avLst/>
          </a:prstGeom>
        </p:spPr>
      </p:pic>
      <p:pic>
        <p:nvPicPr>
          <p:cNvPr id="8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72007" y="5662879"/>
            <a:ext cx="228600" cy="228600"/>
          </a:xfrm>
          <a:prstGeom prst="rect">
            <a:avLst/>
          </a:prstGeom>
        </p:spPr>
      </p:pic>
      <p:sp>
        <p:nvSpPr>
          <p:cNvPr id="90" name="Text 80"/>
          <p:cNvSpPr txBox="1"/>
          <p:nvPr/>
        </p:nvSpPr>
        <p:spPr>
          <a:xfrm>
            <a:off x="1429207" y="5343754"/>
            <a:ext cx="100401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교수자 가이드</a:t>
            </a:r>
            <a:endParaRPr lang="en-US" sz="1500" dirty="0"/>
          </a:p>
        </p:txBody>
      </p:sp>
      <p:sp>
        <p:nvSpPr>
          <p:cNvPr id="91" name="Text 81"/>
          <p:cNvSpPr txBox="1"/>
          <p:nvPr/>
        </p:nvSpPr>
        <p:spPr>
          <a:xfrm>
            <a:off x="1429207" y="5648249"/>
            <a:ext cx="99258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리스트는 </a:t>
            </a:r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인덱스(0, 1)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찾지만, 딕셔너리는 </a:t>
            </a:r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키(이름)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값을 찾음을 비교해주세요. 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사용하면 키와 값을 동시에 꺼낼 수 있습니다. </a:t>
            </a:r>
            <a:endParaRPr lang="en-US" sz="1300" dirty="0"/>
          </a:p>
        </p:txBody>
      </p:sp>
      <p:pic>
        <p:nvPicPr>
          <p:cNvPr id="9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3663" y="5715000"/>
            <a:ext cx="800100" cy="190195"/>
          </a:xfrm>
          <a:prstGeom prst="rect">
            <a:avLst/>
          </a:prstGeom>
        </p:spPr>
      </p:pic>
      <p:sp>
        <p:nvSpPr>
          <p:cNvPr id="93" name="Text 82"/>
          <p:cNvSpPr/>
          <p:nvPr/>
        </p:nvSpPr>
        <p:spPr>
          <a:xfrm>
            <a:off x="7363663" y="5715000"/>
            <a:ext cx="80010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items()</a:t>
            </a:r>
            <a:endParaRPr lang="en-US" sz="1300" dirty="0"/>
          </a:p>
        </p:txBody>
      </p:sp>
      <p:sp>
        <p:nvSpPr>
          <p:cNvPr id="94" name="Shape 83"/>
          <p:cNvSpPr/>
          <p:nvPr/>
        </p:nvSpPr>
        <p:spPr>
          <a:xfrm>
            <a:off x="4869180" y="6191402"/>
            <a:ext cx="2457907" cy="362102"/>
          </a:xfrm>
          <a:prstGeom prst="roundRect">
            <a:avLst>
              <a:gd name="adj" fmla="val 26582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Text 84"/>
          <p:cNvSpPr txBox="1"/>
          <p:nvPr/>
        </p:nvSpPr>
        <p:spPr>
          <a:xfrm>
            <a:off x="5021885" y="6271870"/>
            <a:ext cx="409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Press</a:t>
            </a:r>
            <a:endParaRPr lang="en-US" sz="1000" dirty="0"/>
          </a:p>
        </p:txBody>
      </p:sp>
      <p:pic>
        <p:nvPicPr>
          <p:cNvPr id="9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0622" y="6267298"/>
            <a:ext cx="314554" cy="209398"/>
          </a:xfrm>
          <a:prstGeom prst="rect">
            <a:avLst/>
          </a:prstGeom>
        </p:spPr>
      </p:pic>
      <p:sp>
        <p:nvSpPr>
          <p:cNvPr id="97" name="Text 85"/>
          <p:cNvSpPr/>
          <p:nvPr/>
        </p:nvSpPr>
        <p:spPr>
          <a:xfrm>
            <a:off x="5430622" y="6267298"/>
            <a:ext cx="3145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</a:t>
            </a:r>
            <a:endParaRPr lang="en-US" sz="900" dirty="0"/>
          </a:p>
        </p:txBody>
      </p:sp>
      <p:sp>
        <p:nvSpPr>
          <p:cNvPr id="98" name="Text 86"/>
          <p:cNvSpPr txBox="1"/>
          <p:nvPr/>
        </p:nvSpPr>
        <p:spPr>
          <a:xfrm>
            <a:off x="5818327" y="6271870"/>
            <a:ext cx="152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000" dirty="0"/>
          </a:p>
        </p:txBody>
      </p:sp>
      <p:pic>
        <p:nvPicPr>
          <p:cNvPr id="9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8289" y="6267298"/>
            <a:ext cx="409651" cy="209398"/>
          </a:xfrm>
          <a:prstGeom prst="rect">
            <a:avLst/>
          </a:prstGeom>
        </p:spPr>
      </p:pic>
      <p:sp>
        <p:nvSpPr>
          <p:cNvPr id="100" name="Text 87"/>
          <p:cNvSpPr/>
          <p:nvPr/>
        </p:nvSpPr>
        <p:spPr>
          <a:xfrm>
            <a:off x="5968289" y="6267298"/>
            <a:ext cx="409651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</a:t>
            </a:r>
            <a:endParaRPr lang="en-US" sz="900" dirty="0"/>
          </a:p>
        </p:txBody>
      </p:sp>
      <p:sp>
        <p:nvSpPr>
          <p:cNvPr id="101" name="Text 88"/>
          <p:cNvSpPr txBox="1"/>
          <p:nvPr/>
        </p:nvSpPr>
        <p:spPr>
          <a:xfrm>
            <a:off x="6451092" y="6271870"/>
            <a:ext cx="8622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 run code</a:t>
            </a:r>
            <a:endParaRPr lang="en-US" sz="1000" dirty="0"/>
          </a:p>
        </p:txBody>
      </p:sp>
      <p:sp>
        <p:nvSpPr>
          <p:cNvPr id="102" name="Text 89"/>
          <p:cNvSpPr txBox="1"/>
          <p:nvPr/>
        </p:nvSpPr>
        <p:spPr>
          <a:xfrm>
            <a:off x="11743639" y="6400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571854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304495"/>
            <a:ext cx="1076249" cy="2761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2007" y="304495"/>
            <a:ext cx="7150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Pong ③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724205" y="369418"/>
            <a:ext cx="171907" cy="1335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9905" y="657454"/>
            <a:ext cx="40105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딕셔너리 활용 과제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609905" y="1076249"/>
            <a:ext cx="43260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국가별 데이터를 딕셔너리로 관리하고 분석해보세요.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2914" y="662026"/>
            <a:ext cx="1533449" cy="286207"/>
          </a:xfrm>
          <a:prstGeom prst="roundRect">
            <a:avLst>
              <a:gd name="adj" fmla="val 319489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10176358" y="737921"/>
            <a:ext cx="171907" cy="1335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367467" y="662026"/>
            <a:ext cx="10954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Student Exercise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09905" y="1624889"/>
            <a:ext cx="3733495" cy="3390595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09905" y="1624889"/>
            <a:ext cx="57607" cy="3390595"/>
          </a:xfrm>
          <a:prstGeom prst="roundRect">
            <a:avLst>
              <a:gd name="adj" fmla="val 53505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276502" y="1930298"/>
            <a:ext cx="287761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Mission </a:t>
            </a:r>
            <a:endParaRPr lang="en-US" sz="1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2007" y="1967789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72007" y="2387498"/>
            <a:ext cx="3143707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국가별 확진자 수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딕셔너리가 준비되었습니다. 데이터를 조회, 추가, 집계하는 코드를 완성하세요. 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374343" y="3451860"/>
            <a:ext cx="157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키(Key)로 특정 값 찾기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07" y="3499409"/>
            <a:ext cx="286207" cy="19019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72007" y="3499409"/>
            <a:ext cx="286207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Q1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399032" y="379476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국가(키) 추가하기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07" y="3842309"/>
            <a:ext cx="314554" cy="19019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72007" y="3842309"/>
            <a:ext cx="314554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Q2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1401775" y="413766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값의 합계 구하기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07" y="4185209"/>
            <a:ext cx="314554" cy="19019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72007" y="4185209"/>
            <a:ext cx="314554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Q3</a:t>
            </a:r>
            <a:endParaRPr lang="en-US" sz="900" dirty="0"/>
          </a:p>
        </p:txBody>
      </p:sp>
      <p:sp>
        <p:nvSpPr>
          <p:cNvPr id="27" name="Text 18"/>
          <p:cNvSpPr txBox="1"/>
          <p:nvPr/>
        </p:nvSpPr>
        <p:spPr>
          <a:xfrm>
            <a:off x="1407262" y="4480560"/>
            <a:ext cx="1848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키와 값을 동시에 순회하기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007" y="4528109"/>
            <a:ext cx="323698" cy="19019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72007" y="4528109"/>
            <a:ext cx="32461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Q4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609905" y="5242255"/>
            <a:ext cx="3733495" cy="1410005"/>
          </a:xfrm>
          <a:prstGeom prst="roundRect">
            <a:avLst>
              <a:gd name="adj" fmla="val 3505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1" name="Text 21"/>
          <p:cNvSpPr txBox="1"/>
          <p:nvPr/>
        </p:nvSpPr>
        <p:spPr>
          <a:xfrm>
            <a:off x="999439" y="5442509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Hint 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00" b="-100"/>
          <a:stretch/>
        </p:blipFill>
        <p:spPr>
          <a:xfrm>
            <a:off x="809244" y="5479999"/>
            <a:ext cx="114300" cy="15270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09244" y="5747004"/>
            <a:ext cx="3448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 접근은 </a:t>
            </a:r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dict["키"]</a:t>
            </a:r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형식을 사용합니다.</a:t>
            </a:r>
            <a:endParaRPr lang="en-US" sz="1000" dirty="0"/>
          </a:p>
        </p:txBody>
      </p:sp>
      <p:sp>
        <p:nvSpPr>
          <p:cNvPr id="34" name="Text 23"/>
          <p:cNvSpPr txBox="1"/>
          <p:nvPr/>
        </p:nvSpPr>
        <p:spPr>
          <a:xfrm>
            <a:off x="809244" y="5994806"/>
            <a:ext cx="3448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값은 </a:t>
            </a:r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.values()</a:t>
            </a:r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키-값 쌍은 </a:t>
            </a:r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.items()</a:t>
            </a:r>
            <a:endParaRPr lang="en-US" sz="1000" dirty="0"/>
          </a:p>
        </p:txBody>
      </p:sp>
      <p:sp>
        <p:nvSpPr>
          <p:cNvPr id="35" name="Text 24"/>
          <p:cNvSpPr txBox="1"/>
          <p:nvPr/>
        </p:nvSpPr>
        <p:spPr>
          <a:xfrm>
            <a:off x="809244" y="6242609"/>
            <a:ext cx="3448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항목 추가는 </a:t>
            </a:r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dict["새키"] = 값</a:t>
            </a:r>
            <a:endParaRPr lang="en-US" sz="10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3" b="-3"/>
          <a:stretch/>
        </p:blipFill>
        <p:spPr>
          <a:xfrm>
            <a:off x="4647895" y="1876349"/>
            <a:ext cx="6933895" cy="4524451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4647895" y="1876349"/>
            <a:ext cx="6933895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/>
        </p:spPr>
      </p:sp>
      <p:sp>
        <p:nvSpPr>
          <p:cNvPr id="38" name="Shape 26"/>
          <p:cNvSpPr/>
          <p:nvPr/>
        </p:nvSpPr>
        <p:spPr>
          <a:xfrm>
            <a:off x="4647895" y="2296058"/>
            <a:ext cx="6933895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4876495" y="2029054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5067605" y="2029054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5257800" y="2029054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0"/>
          <p:cNvSpPr txBox="1"/>
          <p:nvPr/>
        </p:nvSpPr>
        <p:spPr>
          <a:xfrm>
            <a:off x="7573975" y="1990649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exercise_03.py</a:t>
            </a:r>
            <a:endParaRPr lang="en-US" sz="1000" dirty="0"/>
          </a:p>
        </p:txBody>
      </p:sp>
      <p:sp>
        <p:nvSpPr>
          <p:cNvPr id="43" name="Text 31"/>
          <p:cNvSpPr txBox="1"/>
          <p:nvPr/>
        </p:nvSpPr>
        <p:spPr>
          <a:xfrm>
            <a:off x="4953305" y="2648102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covid_by_country</a:t>
            </a:r>
            <a:endParaRPr lang="en-US" sz="1300" dirty="0"/>
          </a:p>
        </p:txBody>
      </p:sp>
      <p:sp>
        <p:nvSpPr>
          <p:cNvPr id="44" name="Text 32"/>
          <p:cNvSpPr txBox="1"/>
          <p:nvPr/>
        </p:nvSpPr>
        <p:spPr>
          <a:xfrm>
            <a:off x="6634886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{</a:t>
            </a:r>
            <a:endParaRPr lang="en-US" sz="1300" dirty="0"/>
          </a:p>
        </p:txBody>
      </p:sp>
      <p:sp>
        <p:nvSpPr>
          <p:cNvPr id="45" name="Text 33"/>
          <p:cNvSpPr txBox="1"/>
          <p:nvPr/>
        </p:nvSpPr>
        <p:spPr>
          <a:xfrm>
            <a:off x="7160666" y="2648102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"한국"</a:t>
            </a:r>
            <a:endParaRPr lang="en-US" sz="1300" dirty="0"/>
          </a:p>
        </p:txBody>
      </p:sp>
      <p:sp>
        <p:nvSpPr>
          <p:cNvPr id="46" name="Text 34"/>
          <p:cNvSpPr txBox="1"/>
          <p:nvPr/>
        </p:nvSpPr>
        <p:spPr>
          <a:xfrm>
            <a:off x="7721194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300" dirty="0"/>
          </a:p>
        </p:txBody>
      </p:sp>
      <p:sp>
        <p:nvSpPr>
          <p:cNvPr id="47" name="Text 35"/>
          <p:cNvSpPr txBox="1"/>
          <p:nvPr/>
        </p:nvSpPr>
        <p:spPr>
          <a:xfrm>
            <a:off x="7931506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34571</a:t>
            </a:r>
            <a:endParaRPr lang="en-US" sz="1300" dirty="0"/>
          </a:p>
        </p:txBody>
      </p:sp>
      <p:sp>
        <p:nvSpPr>
          <p:cNvPr id="48" name="Text 36"/>
          <p:cNvSpPr txBox="1"/>
          <p:nvPr/>
        </p:nvSpPr>
        <p:spPr>
          <a:xfrm>
            <a:off x="8457286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49" name="Text 37"/>
          <p:cNvSpPr txBox="1"/>
          <p:nvPr/>
        </p:nvSpPr>
        <p:spPr>
          <a:xfrm>
            <a:off x="8667598" y="2648102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"미국"</a:t>
            </a:r>
            <a:endParaRPr lang="en-US" sz="1300" dirty="0"/>
          </a:p>
        </p:txBody>
      </p:sp>
      <p:sp>
        <p:nvSpPr>
          <p:cNvPr id="50" name="Text 38"/>
          <p:cNvSpPr txBox="1"/>
          <p:nvPr/>
        </p:nvSpPr>
        <p:spPr>
          <a:xfrm>
            <a:off x="9228125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300" dirty="0"/>
          </a:p>
        </p:txBody>
      </p:sp>
      <p:sp>
        <p:nvSpPr>
          <p:cNvPr id="51" name="Text 39"/>
          <p:cNvSpPr txBox="1"/>
          <p:nvPr/>
        </p:nvSpPr>
        <p:spPr>
          <a:xfrm>
            <a:off x="9438437" y="2648102"/>
            <a:ext cx="819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1850000</a:t>
            </a:r>
            <a:endParaRPr lang="en-US" sz="1300" dirty="0"/>
          </a:p>
        </p:txBody>
      </p:sp>
      <p:sp>
        <p:nvSpPr>
          <p:cNvPr id="52" name="Text 40"/>
          <p:cNvSpPr txBox="1"/>
          <p:nvPr/>
        </p:nvSpPr>
        <p:spPr>
          <a:xfrm>
            <a:off x="10174529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53" name="Text 41"/>
          <p:cNvSpPr txBox="1"/>
          <p:nvPr/>
        </p:nvSpPr>
        <p:spPr>
          <a:xfrm>
            <a:off x="10384841" y="2648102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"일본"</a:t>
            </a:r>
            <a:endParaRPr lang="en-US" sz="1300" dirty="0"/>
          </a:p>
        </p:txBody>
      </p:sp>
      <p:sp>
        <p:nvSpPr>
          <p:cNvPr id="54" name="Text 42"/>
          <p:cNvSpPr txBox="1"/>
          <p:nvPr/>
        </p:nvSpPr>
        <p:spPr>
          <a:xfrm>
            <a:off x="10945368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300" dirty="0"/>
          </a:p>
        </p:txBody>
      </p:sp>
      <p:sp>
        <p:nvSpPr>
          <p:cNvPr id="55" name="Text 43"/>
          <p:cNvSpPr txBox="1"/>
          <p:nvPr/>
        </p:nvSpPr>
        <p:spPr>
          <a:xfrm>
            <a:off x="11155680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18723</a:t>
            </a:r>
            <a:endParaRPr lang="en-US" sz="1300" dirty="0"/>
          </a:p>
        </p:txBody>
      </p:sp>
      <p:sp>
        <p:nvSpPr>
          <p:cNvPr id="56" name="Text 44"/>
          <p:cNvSpPr txBox="1"/>
          <p:nvPr/>
        </p:nvSpPr>
        <p:spPr>
          <a:xfrm>
            <a:off x="11681460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57" name="Text 45"/>
          <p:cNvSpPr txBox="1"/>
          <p:nvPr/>
        </p:nvSpPr>
        <p:spPr>
          <a:xfrm>
            <a:off x="11891772" y="2648102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"영국"</a:t>
            </a:r>
            <a:endParaRPr lang="en-US" sz="1300" dirty="0"/>
          </a:p>
        </p:txBody>
      </p:sp>
      <p:sp>
        <p:nvSpPr>
          <p:cNvPr id="58" name="Text 46"/>
          <p:cNvSpPr txBox="1"/>
          <p:nvPr/>
        </p:nvSpPr>
        <p:spPr>
          <a:xfrm>
            <a:off x="12452299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300" dirty="0"/>
          </a:p>
        </p:txBody>
      </p:sp>
      <p:sp>
        <p:nvSpPr>
          <p:cNvPr id="59" name="Text 47"/>
          <p:cNvSpPr txBox="1"/>
          <p:nvPr/>
        </p:nvSpPr>
        <p:spPr>
          <a:xfrm>
            <a:off x="12662611" y="2648102"/>
            <a:ext cx="715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312654</a:t>
            </a:r>
            <a:endParaRPr lang="en-US" sz="1300" dirty="0"/>
          </a:p>
        </p:txBody>
      </p:sp>
      <p:sp>
        <p:nvSpPr>
          <p:cNvPr id="60" name="Text 48"/>
          <p:cNvSpPr txBox="1"/>
          <p:nvPr/>
        </p:nvSpPr>
        <p:spPr>
          <a:xfrm>
            <a:off x="13293547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61" name="Text 49"/>
          <p:cNvSpPr txBox="1"/>
          <p:nvPr/>
        </p:nvSpPr>
        <p:spPr>
          <a:xfrm>
            <a:off x="13503859" y="2648102"/>
            <a:ext cx="819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"브라질"</a:t>
            </a:r>
            <a:endParaRPr lang="en-US" sz="1300" dirty="0"/>
          </a:p>
        </p:txBody>
      </p:sp>
      <p:sp>
        <p:nvSpPr>
          <p:cNvPr id="62" name="Text 50"/>
          <p:cNvSpPr txBox="1"/>
          <p:nvPr/>
        </p:nvSpPr>
        <p:spPr>
          <a:xfrm>
            <a:off x="14239037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300" dirty="0"/>
          </a:p>
        </p:txBody>
      </p:sp>
      <p:sp>
        <p:nvSpPr>
          <p:cNvPr id="63" name="Text 51"/>
          <p:cNvSpPr txBox="1"/>
          <p:nvPr/>
        </p:nvSpPr>
        <p:spPr>
          <a:xfrm>
            <a:off x="14449349" y="2648102"/>
            <a:ext cx="715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923189</a:t>
            </a:r>
            <a:endParaRPr lang="en-US" sz="1300" dirty="0"/>
          </a:p>
        </p:txBody>
      </p:sp>
      <p:sp>
        <p:nvSpPr>
          <p:cNvPr id="64" name="Text 52"/>
          <p:cNvSpPr txBox="1"/>
          <p:nvPr/>
        </p:nvSpPr>
        <p:spPr>
          <a:xfrm>
            <a:off x="15080285" y="2648102"/>
            <a:ext cx="4005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300" dirty="0"/>
          </a:p>
        </p:txBody>
      </p:sp>
      <p:sp>
        <p:nvSpPr>
          <p:cNvPr id="65" name="Text 53"/>
          <p:cNvSpPr txBox="1"/>
          <p:nvPr/>
        </p:nvSpPr>
        <p:spPr>
          <a:xfrm>
            <a:off x="15395753" y="2648102"/>
            <a:ext cx="32488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1) 한국의 확진자 수를 출력하라.</a:t>
            </a:r>
            <a:endParaRPr lang="en-US" sz="1300" dirty="0"/>
          </a:p>
        </p:txBody>
      </p:sp>
      <p:sp>
        <p:nvSpPr>
          <p:cNvPr id="66" name="Text 54"/>
          <p:cNvSpPr txBox="1"/>
          <p:nvPr/>
        </p:nvSpPr>
        <p:spPr>
          <a:xfrm>
            <a:off x="18444362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67" name="Text 55"/>
          <p:cNvSpPr txBox="1"/>
          <p:nvPr/>
        </p:nvSpPr>
        <p:spPr>
          <a:xfrm>
            <a:off x="18969228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68" name="Text 56"/>
          <p:cNvSpPr txBox="1"/>
          <p:nvPr/>
        </p:nvSpPr>
        <p:spPr>
          <a:xfrm>
            <a:off x="19075298" y="2648102"/>
            <a:ext cx="743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"한국:"</a:t>
            </a:r>
            <a:endParaRPr lang="en-US" sz="1300" dirty="0"/>
          </a:p>
        </p:txBody>
      </p:sp>
      <p:sp>
        <p:nvSpPr>
          <p:cNvPr id="69" name="Text 57"/>
          <p:cNvSpPr txBox="1"/>
          <p:nvPr/>
        </p:nvSpPr>
        <p:spPr>
          <a:xfrm>
            <a:off x="19740982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70" name="Text 58"/>
          <p:cNvSpPr txBox="1"/>
          <p:nvPr/>
        </p:nvSpPr>
        <p:spPr>
          <a:xfrm>
            <a:off x="19951294" y="2648102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covid_by_country</a:t>
            </a:r>
            <a:endParaRPr lang="en-US" sz="1300" dirty="0"/>
          </a:p>
        </p:txBody>
      </p:sp>
      <p:sp>
        <p:nvSpPr>
          <p:cNvPr id="71" name="Text 59"/>
          <p:cNvSpPr txBox="1"/>
          <p:nvPr/>
        </p:nvSpPr>
        <p:spPr>
          <a:xfrm>
            <a:off x="21632875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300" dirty="0"/>
          </a:p>
        </p:txBody>
      </p:sp>
      <p:sp>
        <p:nvSpPr>
          <p:cNvPr id="72" name="Shape 60"/>
          <p:cNvSpPr/>
          <p:nvPr/>
        </p:nvSpPr>
        <p:spPr>
          <a:xfrm>
            <a:off x="21757234" y="2895905"/>
            <a:ext cx="476402" cy="28346"/>
          </a:xfrm>
          <a:prstGeom prst="rect">
            <a:avLst/>
          </a:prstGeom>
          <a:solidFill>
            <a:srgbClr val="F6A615"/>
          </a:solidFill>
          <a:ln w="12700">
            <a:solidFill>
              <a:srgbClr val="F6A615">
                <a:alpha val="0"/>
              </a:srgbClr>
            </a:solidFill>
            <a:prstDash val="solid"/>
          </a:ln>
        </p:spPr>
      </p:sp>
      <p:sp>
        <p:nvSpPr>
          <p:cNvPr id="73" name="Text 61"/>
          <p:cNvSpPr txBox="1"/>
          <p:nvPr/>
        </p:nvSpPr>
        <p:spPr>
          <a:xfrm>
            <a:off x="21718829" y="2609698"/>
            <a:ext cx="5532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300" dirty="0"/>
          </a:p>
        </p:txBody>
      </p:sp>
      <p:sp>
        <p:nvSpPr>
          <p:cNvPr id="74" name="Text 62"/>
          <p:cNvSpPr txBox="1"/>
          <p:nvPr/>
        </p:nvSpPr>
        <p:spPr>
          <a:xfrm>
            <a:off x="22252838" y="2648102"/>
            <a:ext cx="4005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])</a:t>
            </a:r>
            <a:endParaRPr lang="en-US" sz="1300" dirty="0"/>
          </a:p>
        </p:txBody>
      </p:sp>
      <p:sp>
        <p:nvSpPr>
          <p:cNvPr id="75" name="Text 63"/>
          <p:cNvSpPr txBox="1"/>
          <p:nvPr/>
        </p:nvSpPr>
        <p:spPr>
          <a:xfrm>
            <a:off x="22568306" y="2648102"/>
            <a:ext cx="3591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2) 모든 국가명을 리스트로 출력하라.</a:t>
            </a:r>
            <a:endParaRPr lang="en-US" sz="1300" dirty="0"/>
          </a:p>
        </p:txBody>
      </p:sp>
      <p:sp>
        <p:nvSpPr>
          <p:cNvPr id="76" name="Text 64"/>
          <p:cNvSpPr txBox="1"/>
          <p:nvPr/>
        </p:nvSpPr>
        <p:spPr>
          <a:xfrm>
            <a:off x="25966217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77" name="Text 65"/>
          <p:cNvSpPr txBox="1"/>
          <p:nvPr/>
        </p:nvSpPr>
        <p:spPr>
          <a:xfrm>
            <a:off x="26491997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78" name="Text 66"/>
          <p:cNvSpPr txBox="1"/>
          <p:nvPr/>
        </p:nvSpPr>
        <p:spPr>
          <a:xfrm>
            <a:off x="26597153" y="2648102"/>
            <a:ext cx="12006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"국가 목록:"</a:t>
            </a:r>
            <a:endParaRPr lang="en-US" sz="1300" dirty="0"/>
          </a:p>
        </p:txBody>
      </p:sp>
      <p:sp>
        <p:nvSpPr>
          <p:cNvPr id="79" name="Text 67"/>
          <p:cNvSpPr txBox="1"/>
          <p:nvPr/>
        </p:nvSpPr>
        <p:spPr>
          <a:xfrm>
            <a:off x="27718207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80" name="Text 68"/>
          <p:cNvSpPr txBox="1"/>
          <p:nvPr/>
        </p:nvSpPr>
        <p:spPr>
          <a:xfrm>
            <a:off x="27928519" y="2648102"/>
            <a:ext cx="505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list</a:t>
            </a:r>
            <a:endParaRPr lang="en-US" sz="1300" dirty="0"/>
          </a:p>
        </p:txBody>
      </p:sp>
      <p:sp>
        <p:nvSpPr>
          <p:cNvPr id="81" name="Text 69"/>
          <p:cNvSpPr txBox="1"/>
          <p:nvPr/>
        </p:nvSpPr>
        <p:spPr>
          <a:xfrm>
            <a:off x="28349143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82" name="Text 70"/>
          <p:cNvSpPr txBox="1"/>
          <p:nvPr/>
        </p:nvSpPr>
        <p:spPr>
          <a:xfrm>
            <a:off x="28454299" y="2648102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covid_by_country</a:t>
            </a:r>
            <a:endParaRPr lang="en-US" sz="1300" dirty="0"/>
          </a:p>
        </p:txBody>
      </p:sp>
      <p:sp>
        <p:nvSpPr>
          <p:cNvPr id="83" name="Text 71"/>
          <p:cNvSpPr txBox="1"/>
          <p:nvPr/>
        </p:nvSpPr>
        <p:spPr>
          <a:xfrm>
            <a:off x="30136795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300" dirty="0"/>
          </a:p>
        </p:txBody>
      </p:sp>
      <p:sp>
        <p:nvSpPr>
          <p:cNvPr id="84" name="Text 72"/>
          <p:cNvSpPr txBox="1"/>
          <p:nvPr/>
        </p:nvSpPr>
        <p:spPr>
          <a:xfrm>
            <a:off x="30241951" y="2648102"/>
            <a:ext cx="505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keys</a:t>
            </a:r>
            <a:endParaRPr lang="en-US" sz="1300" dirty="0"/>
          </a:p>
        </p:txBody>
      </p:sp>
      <p:sp>
        <p:nvSpPr>
          <p:cNvPr id="85" name="Text 73"/>
          <p:cNvSpPr txBox="1"/>
          <p:nvPr/>
        </p:nvSpPr>
        <p:spPr>
          <a:xfrm>
            <a:off x="30662575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()))</a:t>
            </a:r>
            <a:endParaRPr lang="en-US" sz="1300" dirty="0"/>
          </a:p>
        </p:txBody>
      </p:sp>
      <p:sp>
        <p:nvSpPr>
          <p:cNvPr id="86" name="Text 74"/>
          <p:cNvSpPr txBox="1"/>
          <p:nvPr/>
        </p:nvSpPr>
        <p:spPr>
          <a:xfrm>
            <a:off x="31188355" y="2648102"/>
            <a:ext cx="4114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3) "독일"의 확진자 수 195042를 추가하라.</a:t>
            </a:r>
            <a:endParaRPr lang="en-US" sz="1300" dirty="0"/>
          </a:p>
        </p:txBody>
      </p:sp>
      <p:sp>
        <p:nvSpPr>
          <p:cNvPr id="87" name="Text 75"/>
          <p:cNvSpPr txBox="1"/>
          <p:nvPr/>
        </p:nvSpPr>
        <p:spPr>
          <a:xfrm>
            <a:off x="35182454" y="2648102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covid_by_country</a:t>
            </a:r>
            <a:endParaRPr lang="en-US" sz="1300" dirty="0"/>
          </a:p>
        </p:txBody>
      </p:sp>
      <p:sp>
        <p:nvSpPr>
          <p:cNvPr id="88" name="Text 76"/>
          <p:cNvSpPr txBox="1"/>
          <p:nvPr/>
        </p:nvSpPr>
        <p:spPr>
          <a:xfrm>
            <a:off x="36864036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300" dirty="0"/>
          </a:p>
        </p:txBody>
      </p:sp>
      <p:sp>
        <p:nvSpPr>
          <p:cNvPr id="89" name="Shape 77"/>
          <p:cNvSpPr/>
          <p:nvPr/>
        </p:nvSpPr>
        <p:spPr>
          <a:xfrm>
            <a:off x="36988394" y="2895905"/>
            <a:ext cx="476402" cy="28346"/>
          </a:xfrm>
          <a:prstGeom prst="rect">
            <a:avLst/>
          </a:prstGeom>
          <a:solidFill>
            <a:srgbClr val="F6A615"/>
          </a:solidFill>
          <a:ln w="12700">
            <a:solidFill>
              <a:srgbClr val="F6A615">
                <a:alpha val="0"/>
              </a:srgbClr>
            </a:solidFill>
            <a:prstDash val="solid"/>
          </a:ln>
        </p:spPr>
      </p:sp>
      <p:sp>
        <p:nvSpPr>
          <p:cNvPr id="90" name="Text 78"/>
          <p:cNvSpPr txBox="1"/>
          <p:nvPr/>
        </p:nvSpPr>
        <p:spPr>
          <a:xfrm>
            <a:off x="36950904" y="2609698"/>
            <a:ext cx="5532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300" dirty="0"/>
          </a:p>
        </p:txBody>
      </p:sp>
      <p:sp>
        <p:nvSpPr>
          <p:cNvPr id="91" name="Text 79"/>
          <p:cNvSpPr txBox="1"/>
          <p:nvPr/>
        </p:nvSpPr>
        <p:spPr>
          <a:xfrm>
            <a:off x="37483999" y="2648102"/>
            <a:ext cx="505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=</a:t>
            </a:r>
            <a:endParaRPr lang="en-US" sz="1300" dirty="0"/>
          </a:p>
        </p:txBody>
      </p:sp>
      <p:sp>
        <p:nvSpPr>
          <p:cNvPr id="92" name="Text 80"/>
          <p:cNvSpPr txBox="1"/>
          <p:nvPr/>
        </p:nvSpPr>
        <p:spPr>
          <a:xfrm>
            <a:off x="37904623" y="2648102"/>
            <a:ext cx="715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195042</a:t>
            </a:r>
            <a:endParaRPr lang="en-US" sz="1300" dirty="0"/>
          </a:p>
        </p:txBody>
      </p:sp>
      <p:sp>
        <p:nvSpPr>
          <p:cNvPr id="93" name="Text 81"/>
          <p:cNvSpPr txBox="1"/>
          <p:nvPr/>
        </p:nvSpPr>
        <p:spPr>
          <a:xfrm>
            <a:off x="38535559" y="2648102"/>
            <a:ext cx="4153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4) 전체 국가의 확진자 수 합계를 계산하라.</a:t>
            </a:r>
            <a:endParaRPr lang="en-US" sz="1300" dirty="0"/>
          </a:p>
        </p:txBody>
      </p:sp>
      <p:sp>
        <p:nvSpPr>
          <p:cNvPr id="94" name="Text 82"/>
          <p:cNvSpPr txBox="1"/>
          <p:nvPr/>
        </p:nvSpPr>
        <p:spPr>
          <a:xfrm>
            <a:off x="42493997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total</a:t>
            </a:r>
            <a:endParaRPr lang="en-US" sz="1300" dirty="0"/>
          </a:p>
        </p:txBody>
      </p:sp>
      <p:sp>
        <p:nvSpPr>
          <p:cNvPr id="95" name="Text 83"/>
          <p:cNvSpPr txBox="1"/>
          <p:nvPr/>
        </p:nvSpPr>
        <p:spPr>
          <a:xfrm>
            <a:off x="43019777" y="2648102"/>
            <a:ext cx="4005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300" dirty="0"/>
          </a:p>
        </p:txBody>
      </p:sp>
      <p:sp>
        <p:nvSpPr>
          <p:cNvPr id="96" name="Text 84"/>
          <p:cNvSpPr txBox="1"/>
          <p:nvPr/>
        </p:nvSpPr>
        <p:spPr>
          <a:xfrm>
            <a:off x="43335245" y="2648102"/>
            <a:ext cx="4005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sum</a:t>
            </a:r>
            <a:endParaRPr lang="en-US" sz="1300" dirty="0"/>
          </a:p>
        </p:txBody>
      </p:sp>
      <p:sp>
        <p:nvSpPr>
          <p:cNvPr id="97" name="Text 85"/>
          <p:cNvSpPr txBox="1"/>
          <p:nvPr/>
        </p:nvSpPr>
        <p:spPr>
          <a:xfrm>
            <a:off x="43650713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98" name="Text 86"/>
          <p:cNvSpPr txBox="1"/>
          <p:nvPr/>
        </p:nvSpPr>
        <p:spPr>
          <a:xfrm>
            <a:off x="43755869" y="2648102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covid_by_country</a:t>
            </a:r>
            <a:endParaRPr lang="en-US" sz="1300" dirty="0"/>
          </a:p>
        </p:txBody>
      </p:sp>
      <p:sp>
        <p:nvSpPr>
          <p:cNvPr id="99" name="Text 87"/>
          <p:cNvSpPr txBox="1"/>
          <p:nvPr/>
        </p:nvSpPr>
        <p:spPr>
          <a:xfrm>
            <a:off x="45438365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300" dirty="0"/>
          </a:p>
        </p:txBody>
      </p:sp>
      <p:sp>
        <p:nvSpPr>
          <p:cNvPr id="100" name="Shape 88"/>
          <p:cNvSpPr/>
          <p:nvPr/>
        </p:nvSpPr>
        <p:spPr>
          <a:xfrm>
            <a:off x="45562723" y="2895905"/>
            <a:ext cx="476402" cy="28346"/>
          </a:xfrm>
          <a:prstGeom prst="rect">
            <a:avLst/>
          </a:prstGeom>
          <a:solidFill>
            <a:srgbClr val="F6A615"/>
          </a:solidFill>
          <a:ln w="12700">
            <a:solidFill>
              <a:srgbClr val="F6A615">
                <a:alpha val="0"/>
              </a:srgbClr>
            </a:solidFill>
            <a:prstDash val="solid"/>
          </a:ln>
        </p:spPr>
      </p:sp>
      <p:sp>
        <p:nvSpPr>
          <p:cNvPr id="101" name="Text 89"/>
          <p:cNvSpPr txBox="1"/>
          <p:nvPr/>
        </p:nvSpPr>
        <p:spPr>
          <a:xfrm>
            <a:off x="45524318" y="2609698"/>
            <a:ext cx="5532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300" dirty="0"/>
          </a:p>
        </p:txBody>
      </p:sp>
      <p:sp>
        <p:nvSpPr>
          <p:cNvPr id="102" name="Text 90"/>
          <p:cNvSpPr txBox="1"/>
          <p:nvPr/>
        </p:nvSpPr>
        <p:spPr>
          <a:xfrm>
            <a:off x="46057414" y="2648102"/>
            <a:ext cx="505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())</a:t>
            </a:r>
            <a:endParaRPr lang="en-US" sz="1300" dirty="0"/>
          </a:p>
        </p:txBody>
      </p:sp>
      <p:sp>
        <p:nvSpPr>
          <p:cNvPr id="103" name="Text 91"/>
          <p:cNvSpPr txBox="1"/>
          <p:nvPr/>
        </p:nvSpPr>
        <p:spPr>
          <a:xfrm>
            <a:off x="46478038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104" name="Text 92"/>
          <p:cNvSpPr txBox="1"/>
          <p:nvPr/>
        </p:nvSpPr>
        <p:spPr>
          <a:xfrm>
            <a:off x="47003818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105" name="Text 93"/>
          <p:cNvSpPr txBox="1"/>
          <p:nvPr/>
        </p:nvSpPr>
        <p:spPr>
          <a:xfrm>
            <a:off x="47108974" y="2648102"/>
            <a:ext cx="14859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"전 세계 합계:"</a:t>
            </a:r>
            <a:endParaRPr lang="en-US" sz="1300" dirty="0"/>
          </a:p>
        </p:txBody>
      </p:sp>
      <p:sp>
        <p:nvSpPr>
          <p:cNvPr id="106" name="Text 94"/>
          <p:cNvSpPr txBox="1"/>
          <p:nvPr/>
        </p:nvSpPr>
        <p:spPr>
          <a:xfrm>
            <a:off x="48510749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107" name="Text 95"/>
          <p:cNvSpPr txBox="1"/>
          <p:nvPr/>
        </p:nvSpPr>
        <p:spPr>
          <a:xfrm>
            <a:off x="48721061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total</a:t>
            </a:r>
            <a:endParaRPr lang="en-US" sz="1300" dirty="0"/>
          </a:p>
        </p:txBody>
      </p:sp>
      <p:sp>
        <p:nvSpPr>
          <p:cNvPr id="108" name="Text 96"/>
          <p:cNvSpPr txBox="1"/>
          <p:nvPr/>
        </p:nvSpPr>
        <p:spPr>
          <a:xfrm>
            <a:off x="49246841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109" name="Text 97"/>
          <p:cNvSpPr txBox="1"/>
          <p:nvPr/>
        </p:nvSpPr>
        <p:spPr>
          <a:xfrm>
            <a:off x="49457153" y="2648102"/>
            <a:ext cx="4334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5) 각 국가와 확진자 수를 순회하며 출력하라.</a:t>
            </a:r>
            <a:endParaRPr lang="en-US" sz="1300" dirty="0"/>
          </a:p>
        </p:txBody>
      </p:sp>
      <p:sp>
        <p:nvSpPr>
          <p:cNvPr id="110" name="Text 98"/>
          <p:cNvSpPr txBox="1"/>
          <p:nvPr/>
        </p:nvSpPr>
        <p:spPr>
          <a:xfrm>
            <a:off x="53591155" y="2648102"/>
            <a:ext cx="4005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</a:t>
            </a:r>
            <a:endParaRPr lang="en-US" sz="1300" dirty="0"/>
          </a:p>
        </p:txBody>
      </p:sp>
      <p:sp>
        <p:nvSpPr>
          <p:cNvPr id="111" name="Text 99"/>
          <p:cNvSpPr txBox="1"/>
          <p:nvPr/>
        </p:nvSpPr>
        <p:spPr>
          <a:xfrm>
            <a:off x="53906623" y="2648102"/>
            <a:ext cx="819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country</a:t>
            </a:r>
            <a:endParaRPr lang="en-US" sz="1300" dirty="0"/>
          </a:p>
        </p:txBody>
      </p:sp>
      <p:sp>
        <p:nvSpPr>
          <p:cNvPr id="112" name="Text 100"/>
          <p:cNvSpPr txBox="1"/>
          <p:nvPr/>
        </p:nvSpPr>
        <p:spPr>
          <a:xfrm>
            <a:off x="54642715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113" name="Text 101"/>
          <p:cNvSpPr txBox="1"/>
          <p:nvPr/>
        </p:nvSpPr>
        <p:spPr>
          <a:xfrm>
            <a:off x="54853027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cases</a:t>
            </a:r>
            <a:endParaRPr lang="en-US" sz="1300" dirty="0"/>
          </a:p>
        </p:txBody>
      </p:sp>
      <p:sp>
        <p:nvSpPr>
          <p:cNvPr id="114" name="Text 102"/>
          <p:cNvSpPr txBox="1"/>
          <p:nvPr/>
        </p:nvSpPr>
        <p:spPr>
          <a:xfrm>
            <a:off x="55378807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endParaRPr lang="en-US" sz="1300" dirty="0"/>
          </a:p>
        </p:txBody>
      </p:sp>
      <p:sp>
        <p:nvSpPr>
          <p:cNvPr id="115" name="Text 103"/>
          <p:cNvSpPr txBox="1"/>
          <p:nvPr/>
        </p:nvSpPr>
        <p:spPr>
          <a:xfrm>
            <a:off x="55589119" y="2648102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covid_by_country</a:t>
            </a:r>
            <a:endParaRPr lang="en-US" sz="1300" dirty="0"/>
          </a:p>
        </p:txBody>
      </p:sp>
      <p:sp>
        <p:nvSpPr>
          <p:cNvPr id="116" name="Text 104"/>
          <p:cNvSpPr txBox="1"/>
          <p:nvPr/>
        </p:nvSpPr>
        <p:spPr>
          <a:xfrm>
            <a:off x="57270701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300" dirty="0"/>
          </a:p>
        </p:txBody>
      </p:sp>
      <p:sp>
        <p:nvSpPr>
          <p:cNvPr id="117" name="Shape 105"/>
          <p:cNvSpPr/>
          <p:nvPr/>
        </p:nvSpPr>
        <p:spPr>
          <a:xfrm>
            <a:off x="57395059" y="2895905"/>
            <a:ext cx="476402" cy="28346"/>
          </a:xfrm>
          <a:prstGeom prst="rect">
            <a:avLst/>
          </a:prstGeom>
          <a:solidFill>
            <a:srgbClr val="F6A615"/>
          </a:solidFill>
          <a:ln w="12700">
            <a:solidFill>
              <a:srgbClr val="F6A615">
                <a:alpha val="0"/>
              </a:srgbClr>
            </a:solidFill>
            <a:prstDash val="solid"/>
          </a:ln>
        </p:spPr>
      </p:sp>
      <p:sp>
        <p:nvSpPr>
          <p:cNvPr id="118" name="Text 106"/>
          <p:cNvSpPr txBox="1"/>
          <p:nvPr/>
        </p:nvSpPr>
        <p:spPr>
          <a:xfrm>
            <a:off x="57356654" y="2609698"/>
            <a:ext cx="5532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300" dirty="0"/>
          </a:p>
        </p:txBody>
      </p:sp>
      <p:sp>
        <p:nvSpPr>
          <p:cNvPr id="119" name="Text 107"/>
          <p:cNvSpPr txBox="1"/>
          <p:nvPr/>
        </p:nvSpPr>
        <p:spPr>
          <a:xfrm>
            <a:off x="57890664" y="2648102"/>
            <a:ext cx="505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():</a:t>
            </a:r>
            <a:endParaRPr lang="en-US" sz="1300" dirty="0"/>
          </a:p>
        </p:txBody>
      </p:sp>
      <p:sp>
        <p:nvSpPr>
          <p:cNvPr id="120" name="Text 108"/>
          <p:cNvSpPr txBox="1"/>
          <p:nvPr/>
        </p:nvSpPr>
        <p:spPr>
          <a:xfrm>
            <a:off x="58311288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121" name="Text 109"/>
          <p:cNvSpPr txBox="1"/>
          <p:nvPr/>
        </p:nvSpPr>
        <p:spPr>
          <a:xfrm>
            <a:off x="58837068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(f</a:t>
            </a:r>
            <a:endParaRPr lang="en-US" sz="1300" dirty="0"/>
          </a:p>
        </p:txBody>
      </p:sp>
      <p:sp>
        <p:nvSpPr>
          <p:cNvPr id="122" name="Text 110"/>
          <p:cNvSpPr txBox="1"/>
          <p:nvPr/>
        </p:nvSpPr>
        <p:spPr>
          <a:xfrm>
            <a:off x="59047380" y="2648102"/>
            <a:ext cx="27047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 {country}: {cases:,}명"</a:t>
            </a:r>
            <a:endParaRPr lang="en-US" sz="1300" dirty="0"/>
          </a:p>
        </p:txBody>
      </p:sp>
      <p:sp>
        <p:nvSpPr>
          <p:cNvPr id="123" name="Text 111"/>
          <p:cNvSpPr txBox="1"/>
          <p:nvPr/>
        </p:nvSpPr>
        <p:spPr>
          <a:xfrm>
            <a:off x="61639704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124" name="Text 112"/>
          <p:cNvSpPr txBox="1"/>
          <p:nvPr/>
        </p:nvSpPr>
        <p:spPr>
          <a:xfrm>
            <a:off x="11758270" y="6400800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571854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304495"/>
            <a:ext cx="1009498" cy="2761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2007" y="304495"/>
            <a:ext cx="6483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Ping ④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724205" y="369418"/>
            <a:ext cx="171907" cy="1335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9905" y="657454"/>
            <a:ext cx="749350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집합(Set) 연산: 교집합·차집합·합집합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609905" y="1076249"/>
            <a:ext cx="51343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반의 수강 과목 데이터를 활용한 집합 연산 실습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10318090" y="737921"/>
            <a:ext cx="171907" cy="1335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372039" y="709574"/>
            <a:ext cx="12134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Instructor Demo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9905" y="1876349"/>
            <a:ext cx="10972800" cy="33147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09905" y="1876349"/>
            <a:ext cx="10972800" cy="448056"/>
          </a:xfrm>
          <a:prstGeom prst="roundRect">
            <a:avLst>
              <a:gd name="adj" fmla="val 52106"/>
            </a:avLst>
          </a:prstGeom>
          <a:solidFill>
            <a:srgbClr val="0F172A"/>
          </a:solidFill>
          <a:ln/>
        </p:spPr>
      </p:sp>
      <p:sp>
        <p:nvSpPr>
          <p:cNvPr id="14" name="Shape 8"/>
          <p:cNvSpPr/>
          <p:nvPr/>
        </p:nvSpPr>
        <p:spPr>
          <a:xfrm>
            <a:off x="609905" y="2315261"/>
            <a:ext cx="10972800" cy="9144"/>
          </a:xfrm>
          <a:prstGeom prst="roundRect">
            <a:avLst>
              <a:gd name="adj" fmla="val 2553191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38505" y="2036369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1028700" y="2036369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1218895" y="2036369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169103" y="1990649"/>
            <a:ext cx="1972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week2_set_operations.py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2672791"/>
            <a:ext cx="4401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두 반의 수강 과목 (집합으로 생성)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5197450" y="2672791"/>
            <a:ext cx="10387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class_A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157570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294730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31890" y="2672791"/>
            <a:ext cx="810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"수학"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16341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437730" y="2672791"/>
            <a:ext cx="810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"영어"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8169250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8444484" y="2672791"/>
            <a:ext cx="810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"과학"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9176004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9450324" y="2672791"/>
            <a:ext cx="810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"체육"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10181844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10319004" y="2672791"/>
            <a:ext cx="10387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class_B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11279124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11416284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11553444" y="2672791"/>
            <a:ext cx="810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"영어"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12285878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12560198" y="2672791"/>
            <a:ext cx="810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"과학"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3291718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13566038" y="2672791"/>
            <a:ext cx="810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"음악"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14297558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14571878" y="2672791"/>
            <a:ext cx="810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"미술"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15303398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800" dirty="0"/>
          </a:p>
        </p:txBody>
      </p:sp>
      <p:sp>
        <p:nvSpPr>
          <p:cNvPr id="42" name="Text 36"/>
          <p:cNvSpPr txBox="1"/>
          <p:nvPr/>
        </p:nvSpPr>
        <p:spPr>
          <a:xfrm>
            <a:off x="15440558" y="267279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800" dirty="0"/>
          </a:p>
        </p:txBody>
      </p:sp>
      <p:sp>
        <p:nvSpPr>
          <p:cNvPr id="43" name="Text 37"/>
          <p:cNvSpPr txBox="1"/>
          <p:nvPr/>
        </p:nvSpPr>
        <p:spPr>
          <a:xfrm>
            <a:off x="16127273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44" name="Text 38"/>
          <p:cNvSpPr txBox="1"/>
          <p:nvPr/>
        </p:nvSpPr>
        <p:spPr>
          <a:xfrm>
            <a:off x="16264433" y="2672791"/>
            <a:ext cx="1543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"공통 과목:"</a:t>
            </a:r>
            <a:endParaRPr lang="en-US" sz="1800" dirty="0"/>
          </a:p>
        </p:txBody>
      </p:sp>
      <p:sp>
        <p:nvSpPr>
          <p:cNvPr id="45" name="Text 39"/>
          <p:cNvSpPr txBox="1"/>
          <p:nvPr/>
        </p:nvSpPr>
        <p:spPr>
          <a:xfrm>
            <a:off x="17727473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46" name="Text 40"/>
          <p:cNvSpPr txBox="1"/>
          <p:nvPr/>
        </p:nvSpPr>
        <p:spPr>
          <a:xfrm>
            <a:off x="18001793" y="2672791"/>
            <a:ext cx="10387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class_A</a:t>
            </a:r>
            <a:endParaRPr lang="en-US" sz="1800" dirty="0"/>
          </a:p>
        </p:txBody>
      </p:sp>
      <p:sp>
        <p:nvSpPr>
          <p:cNvPr id="47" name="Text 41"/>
          <p:cNvSpPr txBox="1"/>
          <p:nvPr/>
        </p:nvSpPr>
        <p:spPr>
          <a:xfrm>
            <a:off x="18961913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&amp;</a:t>
            </a:r>
            <a:endParaRPr lang="en-US" sz="1800" dirty="0"/>
          </a:p>
        </p:txBody>
      </p:sp>
      <p:sp>
        <p:nvSpPr>
          <p:cNvPr id="48" name="Text 42"/>
          <p:cNvSpPr txBox="1"/>
          <p:nvPr/>
        </p:nvSpPr>
        <p:spPr>
          <a:xfrm>
            <a:off x="19099073" y="2672791"/>
            <a:ext cx="10387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class_B</a:t>
            </a:r>
            <a:endParaRPr lang="en-US" sz="1800" dirty="0"/>
          </a:p>
        </p:txBody>
      </p:sp>
      <p:sp>
        <p:nvSpPr>
          <p:cNvPr id="49" name="Text 43"/>
          <p:cNvSpPr txBox="1"/>
          <p:nvPr/>
        </p:nvSpPr>
        <p:spPr>
          <a:xfrm>
            <a:off x="20060107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50" name="Text 44"/>
          <p:cNvSpPr txBox="1"/>
          <p:nvPr/>
        </p:nvSpPr>
        <p:spPr>
          <a:xfrm>
            <a:off x="20197267" y="2672791"/>
            <a:ext cx="10396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교집합</a:t>
            </a:r>
            <a:endParaRPr lang="en-US" sz="1800" dirty="0"/>
          </a:p>
        </p:txBody>
      </p:sp>
      <p:sp>
        <p:nvSpPr>
          <p:cNvPr id="51" name="Text 45"/>
          <p:cNvSpPr txBox="1"/>
          <p:nvPr/>
        </p:nvSpPr>
        <p:spPr>
          <a:xfrm>
            <a:off x="21157387" y="267279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800" dirty="0"/>
          </a:p>
        </p:txBody>
      </p:sp>
      <p:sp>
        <p:nvSpPr>
          <p:cNvPr id="52" name="Text 46"/>
          <p:cNvSpPr txBox="1"/>
          <p:nvPr/>
        </p:nvSpPr>
        <p:spPr>
          <a:xfrm>
            <a:off x="21843187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53" name="Text 47"/>
          <p:cNvSpPr txBox="1"/>
          <p:nvPr/>
        </p:nvSpPr>
        <p:spPr>
          <a:xfrm>
            <a:off x="21980347" y="2672791"/>
            <a:ext cx="16861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"A만의 과목:"</a:t>
            </a:r>
            <a:endParaRPr lang="en-US" sz="1800" dirty="0"/>
          </a:p>
        </p:txBody>
      </p:sp>
      <p:sp>
        <p:nvSpPr>
          <p:cNvPr id="54" name="Text 48"/>
          <p:cNvSpPr txBox="1"/>
          <p:nvPr/>
        </p:nvSpPr>
        <p:spPr>
          <a:xfrm>
            <a:off x="23580547" y="2672791"/>
            <a:ext cx="352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800" dirty="0"/>
          </a:p>
        </p:txBody>
      </p:sp>
      <p:sp>
        <p:nvSpPr>
          <p:cNvPr id="55" name="Text 49"/>
          <p:cNvSpPr txBox="1"/>
          <p:nvPr/>
        </p:nvSpPr>
        <p:spPr>
          <a:xfrm>
            <a:off x="23854867" y="2672791"/>
            <a:ext cx="10387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class_A</a:t>
            </a:r>
            <a:endParaRPr lang="en-US" sz="1800" dirty="0"/>
          </a:p>
        </p:txBody>
      </p:sp>
      <p:sp>
        <p:nvSpPr>
          <p:cNvPr id="56" name="Text 50"/>
          <p:cNvSpPr txBox="1"/>
          <p:nvPr/>
        </p:nvSpPr>
        <p:spPr>
          <a:xfrm>
            <a:off x="24815902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endParaRPr lang="en-US" sz="1800" dirty="0"/>
          </a:p>
        </p:txBody>
      </p:sp>
      <p:sp>
        <p:nvSpPr>
          <p:cNvPr id="57" name="Text 51"/>
          <p:cNvSpPr txBox="1"/>
          <p:nvPr/>
        </p:nvSpPr>
        <p:spPr>
          <a:xfrm>
            <a:off x="24953062" y="2672791"/>
            <a:ext cx="10387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class_B</a:t>
            </a:r>
            <a:endParaRPr lang="en-US" sz="1800" dirty="0"/>
          </a:p>
        </p:txBody>
      </p:sp>
      <p:sp>
        <p:nvSpPr>
          <p:cNvPr id="58" name="Text 52"/>
          <p:cNvSpPr txBox="1"/>
          <p:nvPr/>
        </p:nvSpPr>
        <p:spPr>
          <a:xfrm>
            <a:off x="25913182" y="267279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59" name="Text 53"/>
          <p:cNvSpPr txBox="1"/>
          <p:nvPr/>
        </p:nvSpPr>
        <p:spPr>
          <a:xfrm>
            <a:off x="26050342" y="2672791"/>
            <a:ext cx="10396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차집합</a:t>
            </a:r>
            <a:endParaRPr lang="en-US" sz="1800" dirty="0"/>
          </a:p>
        </p:txBody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5" y="2991002"/>
            <a:ext cx="10972800" cy="371246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609905" y="2991002"/>
            <a:ext cx="10972800" cy="372161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E24A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 ( "전체 과목:" , class_A | class_B ) # 합집합</a:t>
            </a:r>
            <a:endParaRPr lang="en-US" sz="1800" dirty="0"/>
          </a:p>
        </p:txBody>
      </p:sp>
      <p:sp>
        <p:nvSpPr>
          <p:cNvPr id="62" name="Text 55"/>
          <p:cNvSpPr txBox="1"/>
          <p:nvPr/>
        </p:nvSpPr>
        <p:spPr>
          <a:xfrm>
            <a:off x="990295" y="3038551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800" dirty="0"/>
          </a:p>
        </p:txBody>
      </p:sp>
      <p:sp>
        <p:nvSpPr>
          <p:cNvPr id="63" name="Text 56"/>
          <p:cNvSpPr txBox="1"/>
          <p:nvPr/>
        </p:nvSpPr>
        <p:spPr>
          <a:xfrm>
            <a:off x="1676095" y="303855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800" dirty="0"/>
          </a:p>
        </p:txBody>
      </p:sp>
      <p:sp>
        <p:nvSpPr>
          <p:cNvPr id="64" name="Text 57"/>
          <p:cNvSpPr txBox="1"/>
          <p:nvPr/>
        </p:nvSpPr>
        <p:spPr>
          <a:xfrm>
            <a:off x="1814170" y="3038551"/>
            <a:ext cx="1543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"전체 과목:"</a:t>
            </a:r>
            <a:endParaRPr lang="en-US" sz="1800" dirty="0"/>
          </a:p>
        </p:txBody>
      </p:sp>
      <p:sp>
        <p:nvSpPr>
          <p:cNvPr id="65" name="Text 58"/>
          <p:cNvSpPr txBox="1"/>
          <p:nvPr/>
        </p:nvSpPr>
        <p:spPr>
          <a:xfrm>
            <a:off x="3551530" y="3038551"/>
            <a:ext cx="10387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class_A</a:t>
            </a:r>
            <a:endParaRPr lang="en-US" sz="1800" dirty="0"/>
          </a:p>
        </p:txBody>
      </p:sp>
      <p:sp>
        <p:nvSpPr>
          <p:cNvPr id="66" name="Text 59"/>
          <p:cNvSpPr txBox="1"/>
          <p:nvPr/>
        </p:nvSpPr>
        <p:spPr>
          <a:xfrm>
            <a:off x="4648810" y="303855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B6C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800" dirty="0"/>
          </a:p>
        </p:txBody>
      </p:sp>
      <p:sp>
        <p:nvSpPr>
          <p:cNvPr id="67" name="Text 60"/>
          <p:cNvSpPr txBox="1"/>
          <p:nvPr/>
        </p:nvSpPr>
        <p:spPr>
          <a:xfrm>
            <a:off x="4923130" y="3038551"/>
            <a:ext cx="10387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class_B</a:t>
            </a:r>
            <a:endParaRPr lang="en-US" sz="1800" dirty="0"/>
          </a:p>
        </p:txBody>
      </p:sp>
      <p:sp>
        <p:nvSpPr>
          <p:cNvPr id="68" name="Text 61"/>
          <p:cNvSpPr txBox="1"/>
          <p:nvPr/>
        </p:nvSpPr>
        <p:spPr>
          <a:xfrm>
            <a:off x="5884164" y="3038551"/>
            <a:ext cx="219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69" name="Text 62"/>
          <p:cNvSpPr txBox="1"/>
          <p:nvPr/>
        </p:nvSpPr>
        <p:spPr>
          <a:xfrm>
            <a:off x="6295644" y="3038551"/>
            <a:ext cx="10396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합집합</a:t>
            </a:r>
            <a:endParaRPr lang="en-US" sz="1800" dirty="0"/>
          </a:p>
        </p:txBody>
      </p:sp>
      <p:pic>
        <p:nvPicPr>
          <p:cNvPr id="7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" b="-4"/>
          <a:stretch/>
        </p:blipFill>
        <p:spPr>
          <a:xfrm>
            <a:off x="609905" y="5419649"/>
            <a:ext cx="10972800" cy="981151"/>
          </a:xfrm>
          <a:prstGeom prst="rect">
            <a:avLst/>
          </a:prstGeom>
        </p:spPr>
      </p:pic>
      <p:pic>
        <p:nvPicPr>
          <p:cNvPr id="7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72007" y="5796382"/>
            <a:ext cx="228600" cy="228600"/>
          </a:xfrm>
          <a:prstGeom prst="rect">
            <a:avLst/>
          </a:prstGeom>
        </p:spPr>
      </p:pic>
      <p:sp>
        <p:nvSpPr>
          <p:cNvPr id="72" name="Text 63"/>
          <p:cNvSpPr txBox="1"/>
          <p:nvPr/>
        </p:nvSpPr>
        <p:spPr>
          <a:xfrm>
            <a:off x="1429207" y="5609844"/>
            <a:ext cx="80494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교수자 가이드</a:t>
            </a:r>
            <a:endParaRPr lang="en-US" sz="1500" dirty="0"/>
          </a:p>
        </p:txBody>
      </p:sp>
      <p:sp>
        <p:nvSpPr>
          <p:cNvPr id="73" name="Text 64"/>
          <p:cNvSpPr txBox="1"/>
          <p:nvPr/>
        </p:nvSpPr>
        <p:spPr>
          <a:xfrm>
            <a:off x="1429207" y="5915254"/>
            <a:ext cx="866759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집합 연산자는 직관적입니다. 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(교집합), 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(차집합), 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(합집합) 기호가 수학 기호와 유사함을 설명해주세요. </a:t>
            </a:r>
            <a:endParaRPr lang="en-US" sz="1300" dirty="0"/>
          </a:p>
        </p:txBody>
      </p:sp>
      <p:pic>
        <p:nvPicPr>
          <p:cNvPr id="7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3125" y="5982005"/>
            <a:ext cx="181051" cy="190195"/>
          </a:xfrm>
          <a:prstGeom prst="rect">
            <a:avLst/>
          </a:prstGeom>
        </p:spPr>
      </p:pic>
      <p:sp>
        <p:nvSpPr>
          <p:cNvPr id="75" name="Text 65"/>
          <p:cNvSpPr/>
          <p:nvPr/>
        </p:nvSpPr>
        <p:spPr>
          <a:xfrm>
            <a:off x="3513125" y="5982005"/>
            <a:ext cx="1810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&amp;</a:t>
            </a:r>
            <a:endParaRPr lang="en-US" sz="1300" dirty="0"/>
          </a:p>
        </p:txBody>
      </p:sp>
      <p:pic>
        <p:nvPicPr>
          <p:cNvPr id="7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5696" y="5982005"/>
            <a:ext cx="181051" cy="190195"/>
          </a:xfrm>
          <a:prstGeom prst="rect">
            <a:avLst/>
          </a:prstGeom>
        </p:spPr>
      </p:pic>
      <p:sp>
        <p:nvSpPr>
          <p:cNvPr id="77" name="Text 66"/>
          <p:cNvSpPr/>
          <p:nvPr/>
        </p:nvSpPr>
        <p:spPr>
          <a:xfrm>
            <a:off x="4425696" y="5982005"/>
            <a:ext cx="1810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endParaRPr lang="en-US" sz="1300" dirty="0"/>
          </a:p>
        </p:txBody>
      </p:sp>
      <p:pic>
        <p:nvPicPr>
          <p:cNvPr id="7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8267" y="5982005"/>
            <a:ext cx="181051" cy="190195"/>
          </a:xfrm>
          <a:prstGeom prst="rect">
            <a:avLst/>
          </a:prstGeom>
        </p:spPr>
      </p:pic>
      <p:sp>
        <p:nvSpPr>
          <p:cNvPr id="79" name="Text 67"/>
          <p:cNvSpPr/>
          <p:nvPr/>
        </p:nvSpPr>
        <p:spPr>
          <a:xfrm>
            <a:off x="5338267" y="5982005"/>
            <a:ext cx="1810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300" dirty="0"/>
          </a:p>
        </p:txBody>
      </p:sp>
      <p:sp>
        <p:nvSpPr>
          <p:cNvPr id="80" name="Shape 68"/>
          <p:cNvSpPr/>
          <p:nvPr/>
        </p:nvSpPr>
        <p:spPr>
          <a:xfrm>
            <a:off x="4869180" y="6191402"/>
            <a:ext cx="2457907" cy="362102"/>
          </a:xfrm>
          <a:prstGeom prst="roundRect">
            <a:avLst>
              <a:gd name="adj" fmla="val 26582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69"/>
          <p:cNvSpPr txBox="1"/>
          <p:nvPr/>
        </p:nvSpPr>
        <p:spPr>
          <a:xfrm>
            <a:off x="5021885" y="6271870"/>
            <a:ext cx="409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Press</a:t>
            </a:r>
            <a:endParaRPr lang="en-US" sz="1000" dirty="0"/>
          </a:p>
        </p:txBody>
      </p:sp>
      <p:pic>
        <p:nvPicPr>
          <p:cNvPr id="8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0622" y="6267298"/>
            <a:ext cx="314554" cy="209398"/>
          </a:xfrm>
          <a:prstGeom prst="rect">
            <a:avLst/>
          </a:prstGeom>
        </p:spPr>
      </p:pic>
      <p:sp>
        <p:nvSpPr>
          <p:cNvPr id="83" name="Text 70"/>
          <p:cNvSpPr/>
          <p:nvPr/>
        </p:nvSpPr>
        <p:spPr>
          <a:xfrm>
            <a:off x="5430622" y="6267298"/>
            <a:ext cx="3145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</a:t>
            </a:r>
            <a:endParaRPr lang="en-US" sz="900" dirty="0"/>
          </a:p>
        </p:txBody>
      </p:sp>
      <p:sp>
        <p:nvSpPr>
          <p:cNvPr id="84" name="Text 71"/>
          <p:cNvSpPr txBox="1"/>
          <p:nvPr/>
        </p:nvSpPr>
        <p:spPr>
          <a:xfrm>
            <a:off x="5818327" y="6271870"/>
            <a:ext cx="152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000" dirty="0"/>
          </a:p>
        </p:txBody>
      </p:sp>
      <p:pic>
        <p:nvPicPr>
          <p:cNvPr id="8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8289" y="6267298"/>
            <a:ext cx="409651" cy="209398"/>
          </a:xfrm>
          <a:prstGeom prst="rect">
            <a:avLst/>
          </a:prstGeom>
        </p:spPr>
      </p:pic>
      <p:sp>
        <p:nvSpPr>
          <p:cNvPr id="86" name="Text 72"/>
          <p:cNvSpPr/>
          <p:nvPr/>
        </p:nvSpPr>
        <p:spPr>
          <a:xfrm>
            <a:off x="5968289" y="6267298"/>
            <a:ext cx="409651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</a:t>
            </a:r>
            <a:endParaRPr lang="en-US" sz="900" dirty="0"/>
          </a:p>
        </p:txBody>
      </p:sp>
      <p:sp>
        <p:nvSpPr>
          <p:cNvPr id="87" name="Text 73"/>
          <p:cNvSpPr txBox="1"/>
          <p:nvPr/>
        </p:nvSpPr>
        <p:spPr>
          <a:xfrm>
            <a:off x="6451092" y="6271870"/>
            <a:ext cx="8622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 run code</a:t>
            </a:r>
            <a:endParaRPr lang="en-US" sz="1000" dirty="0"/>
          </a:p>
        </p:txBody>
      </p:sp>
      <p:sp>
        <p:nvSpPr>
          <p:cNvPr id="88" name="Text 74"/>
          <p:cNvSpPr txBox="1"/>
          <p:nvPr/>
        </p:nvSpPr>
        <p:spPr>
          <a:xfrm>
            <a:off x="11747297" y="64008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571854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304495"/>
            <a:ext cx="1076249" cy="2761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2007" y="304495"/>
            <a:ext cx="7150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Pong ④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724205" y="369418"/>
            <a:ext cx="171907" cy="1335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9905" y="657454"/>
            <a:ext cx="43434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집합(Set) 연산 과제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609905" y="1076249"/>
            <a:ext cx="4943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Ping에서 배운 내용을 바탕으로 확진자 집합을 분석하세요.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2914" y="662026"/>
            <a:ext cx="1533449" cy="286207"/>
          </a:xfrm>
          <a:prstGeom prst="roundRect">
            <a:avLst>
              <a:gd name="adj" fmla="val 319489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10176358" y="737921"/>
            <a:ext cx="171907" cy="1335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367467" y="662026"/>
            <a:ext cx="10954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Student Exercise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09905" y="1876349"/>
            <a:ext cx="3733495" cy="2829154"/>
          </a:xfrm>
          <a:prstGeom prst="roundRect">
            <a:avLst>
              <a:gd name="adj" fmla="val 13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09905" y="1876349"/>
            <a:ext cx="57607" cy="2829154"/>
          </a:xfrm>
          <a:prstGeom prst="roundRect">
            <a:avLst>
              <a:gd name="adj" fmla="val 64134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276502" y="2180844"/>
            <a:ext cx="287761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Mission </a:t>
            </a:r>
            <a:endParaRPr lang="en-US" sz="1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2007" y="2219249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72007" y="2638044"/>
            <a:ext cx="31437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급증 국가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 국가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집합이 있습니다. 집합 연산자를 사용해 관계를 파악하세요. 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331366" y="3424428"/>
            <a:ext cx="25566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그룹 모두 속한 국가 (교집합)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07" y="3461918"/>
            <a:ext cx="286207" cy="20939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72007" y="3461918"/>
            <a:ext cx="286207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Q1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356055" y="3786530"/>
            <a:ext cx="2619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급증만 하고 감소는 아닌 (차집합)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07" y="3824021"/>
            <a:ext cx="314554" cy="20939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72007" y="3824021"/>
            <a:ext cx="3145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Q2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1358798" y="4147718"/>
            <a:ext cx="2461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언급된 모든 국가 (합집합)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07" y="4186123"/>
            <a:ext cx="314554" cy="20939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72007" y="4186123"/>
            <a:ext cx="3145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Q3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609905" y="4929530"/>
            <a:ext cx="3733495" cy="1580998"/>
          </a:xfrm>
          <a:prstGeom prst="roundRect">
            <a:avLst>
              <a:gd name="adj" fmla="val 278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999439" y="5128870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Hint 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0" b="-100"/>
          <a:stretch/>
        </p:blipFill>
        <p:spPr>
          <a:xfrm>
            <a:off x="809244" y="5167274"/>
            <a:ext cx="114300" cy="15270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09244" y="5434279"/>
            <a:ext cx="3448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교집합: &amp;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809244" y="5662879"/>
            <a:ext cx="3448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차집합: -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809244" y="5891479"/>
            <a:ext cx="3448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합집합: |</a:t>
            </a:r>
            <a:endParaRPr lang="en-US" sz="1000" dirty="0"/>
          </a:p>
        </p:txBody>
      </p:sp>
      <p:sp>
        <p:nvSpPr>
          <p:cNvPr id="33" name="Text 23"/>
          <p:cNvSpPr txBox="1"/>
          <p:nvPr/>
        </p:nvSpPr>
        <p:spPr>
          <a:xfrm>
            <a:off x="809244" y="6120079"/>
            <a:ext cx="3525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대칭차집합: ^ (한쪽에만 속함)</a:t>
            </a:r>
            <a:endParaRPr lang="en-US" sz="10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5" b="-5"/>
          <a:stretch/>
        </p:blipFill>
        <p:spPr>
          <a:xfrm>
            <a:off x="4647895" y="1876349"/>
            <a:ext cx="6933895" cy="4634179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4647895" y="1876349"/>
            <a:ext cx="6933895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/>
        </p:spPr>
      </p:sp>
      <p:sp>
        <p:nvSpPr>
          <p:cNvPr id="36" name="Shape 25"/>
          <p:cNvSpPr/>
          <p:nvPr/>
        </p:nvSpPr>
        <p:spPr>
          <a:xfrm>
            <a:off x="4647895" y="2296058"/>
            <a:ext cx="6933895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4876495" y="2029054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5067605" y="2029054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5257800" y="2029054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7573975" y="1990649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exercise_04.py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4953305" y="2648102"/>
            <a:ext cx="37719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이번 주 확진자 급증 및 감소 국가 집합</a:t>
            </a:r>
            <a:endParaRPr lang="en-US" sz="1300" dirty="0"/>
          </a:p>
        </p:txBody>
      </p:sp>
      <p:sp>
        <p:nvSpPr>
          <p:cNvPr id="42" name="Text 31"/>
          <p:cNvSpPr txBox="1"/>
          <p:nvPr/>
        </p:nvSpPr>
        <p:spPr>
          <a:xfrm>
            <a:off x="8526780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surge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9052560" y="2648102"/>
            <a:ext cx="505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{</a:t>
            </a:r>
            <a:endParaRPr lang="en-US" sz="1300" dirty="0"/>
          </a:p>
        </p:txBody>
      </p:sp>
      <p:sp>
        <p:nvSpPr>
          <p:cNvPr id="44" name="Text 33"/>
          <p:cNvSpPr txBox="1"/>
          <p:nvPr/>
        </p:nvSpPr>
        <p:spPr>
          <a:xfrm>
            <a:off x="9473184" y="2648102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"한국"</a:t>
            </a:r>
            <a:endParaRPr lang="en-US" sz="1300" dirty="0"/>
          </a:p>
        </p:txBody>
      </p:sp>
      <p:sp>
        <p:nvSpPr>
          <p:cNvPr id="45" name="Text 34"/>
          <p:cNvSpPr txBox="1"/>
          <p:nvPr/>
        </p:nvSpPr>
        <p:spPr>
          <a:xfrm>
            <a:off x="10033711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46" name="Text 35"/>
          <p:cNvSpPr txBox="1"/>
          <p:nvPr/>
        </p:nvSpPr>
        <p:spPr>
          <a:xfrm>
            <a:off x="10244023" y="2648102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"미국"</a:t>
            </a:r>
            <a:endParaRPr lang="en-US" sz="1300" dirty="0"/>
          </a:p>
        </p:txBody>
      </p:sp>
      <p:sp>
        <p:nvSpPr>
          <p:cNvPr id="47" name="Text 36"/>
          <p:cNvSpPr txBox="1"/>
          <p:nvPr/>
        </p:nvSpPr>
        <p:spPr>
          <a:xfrm>
            <a:off x="10804550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48" name="Text 37"/>
          <p:cNvSpPr txBox="1"/>
          <p:nvPr/>
        </p:nvSpPr>
        <p:spPr>
          <a:xfrm>
            <a:off x="11014862" y="2648102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"영국"</a:t>
            </a:r>
            <a:endParaRPr lang="en-US" sz="1300" dirty="0"/>
          </a:p>
        </p:txBody>
      </p:sp>
      <p:sp>
        <p:nvSpPr>
          <p:cNvPr id="49" name="Text 38"/>
          <p:cNvSpPr txBox="1"/>
          <p:nvPr/>
        </p:nvSpPr>
        <p:spPr>
          <a:xfrm>
            <a:off x="11575390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50" name="Text 39"/>
          <p:cNvSpPr txBox="1"/>
          <p:nvPr/>
        </p:nvSpPr>
        <p:spPr>
          <a:xfrm>
            <a:off x="11785702" y="2648102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"인도"</a:t>
            </a:r>
            <a:endParaRPr lang="en-US" sz="1300" dirty="0"/>
          </a:p>
        </p:txBody>
      </p:sp>
      <p:sp>
        <p:nvSpPr>
          <p:cNvPr id="51" name="Text 40"/>
          <p:cNvSpPr txBox="1"/>
          <p:nvPr/>
        </p:nvSpPr>
        <p:spPr>
          <a:xfrm>
            <a:off x="12346229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52" name="Text 41"/>
          <p:cNvSpPr txBox="1"/>
          <p:nvPr/>
        </p:nvSpPr>
        <p:spPr>
          <a:xfrm>
            <a:off x="12556541" y="2648102"/>
            <a:ext cx="819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"브라질"</a:t>
            </a:r>
            <a:endParaRPr lang="en-US" sz="1300" dirty="0"/>
          </a:p>
        </p:txBody>
      </p:sp>
      <p:sp>
        <p:nvSpPr>
          <p:cNvPr id="53" name="Text 42"/>
          <p:cNvSpPr txBox="1"/>
          <p:nvPr/>
        </p:nvSpPr>
        <p:spPr>
          <a:xfrm>
            <a:off x="13292633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300" dirty="0"/>
          </a:p>
        </p:txBody>
      </p:sp>
      <p:sp>
        <p:nvSpPr>
          <p:cNvPr id="54" name="Text 43"/>
          <p:cNvSpPr txBox="1"/>
          <p:nvPr/>
        </p:nvSpPr>
        <p:spPr>
          <a:xfrm>
            <a:off x="13502945" y="2648102"/>
            <a:ext cx="819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decline</a:t>
            </a:r>
            <a:endParaRPr lang="en-US" sz="1300" dirty="0"/>
          </a:p>
        </p:txBody>
      </p:sp>
      <p:sp>
        <p:nvSpPr>
          <p:cNvPr id="55" name="Text 44"/>
          <p:cNvSpPr txBox="1"/>
          <p:nvPr/>
        </p:nvSpPr>
        <p:spPr>
          <a:xfrm>
            <a:off x="14239037" y="2648102"/>
            <a:ext cx="505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{</a:t>
            </a:r>
            <a:endParaRPr lang="en-US" sz="1300" dirty="0"/>
          </a:p>
        </p:txBody>
      </p:sp>
      <p:sp>
        <p:nvSpPr>
          <p:cNvPr id="56" name="Text 45"/>
          <p:cNvSpPr txBox="1"/>
          <p:nvPr/>
        </p:nvSpPr>
        <p:spPr>
          <a:xfrm>
            <a:off x="14659661" y="2648102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"일본"</a:t>
            </a:r>
            <a:endParaRPr lang="en-US" sz="1300" dirty="0"/>
          </a:p>
        </p:txBody>
      </p:sp>
      <p:sp>
        <p:nvSpPr>
          <p:cNvPr id="57" name="Text 46"/>
          <p:cNvSpPr txBox="1"/>
          <p:nvPr/>
        </p:nvSpPr>
        <p:spPr>
          <a:xfrm>
            <a:off x="15220188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58" name="Text 47"/>
          <p:cNvSpPr txBox="1"/>
          <p:nvPr/>
        </p:nvSpPr>
        <p:spPr>
          <a:xfrm>
            <a:off x="15430500" y="2648102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"독일"</a:t>
            </a:r>
            <a:endParaRPr lang="en-US" sz="1300" dirty="0"/>
          </a:p>
        </p:txBody>
      </p:sp>
      <p:sp>
        <p:nvSpPr>
          <p:cNvPr id="59" name="Text 48"/>
          <p:cNvSpPr txBox="1"/>
          <p:nvPr/>
        </p:nvSpPr>
        <p:spPr>
          <a:xfrm>
            <a:off x="15991027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60" name="Text 49"/>
          <p:cNvSpPr txBox="1"/>
          <p:nvPr/>
        </p:nvSpPr>
        <p:spPr>
          <a:xfrm>
            <a:off x="16201339" y="2648102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"미국"</a:t>
            </a:r>
            <a:endParaRPr lang="en-US" sz="1300" dirty="0"/>
          </a:p>
        </p:txBody>
      </p:sp>
      <p:sp>
        <p:nvSpPr>
          <p:cNvPr id="61" name="Text 50"/>
          <p:cNvSpPr txBox="1"/>
          <p:nvPr/>
        </p:nvSpPr>
        <p:spPr>
          <a:xfrm>
            <a:off x="16761866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62" name="Text 51"/>
          <p:cNvSpPr txBox="1"/>
          <p:nvPr/>
        </p:nvSpPr>
        <p:spPr>
          <a:xfrm>
            <a:off x="16972178" y="2648102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"영국"</a:t>
            </a:r>
            <a:endParaRPr lang="en-US" sz="1300" dirty="0"/>
          </a:p>
        </p:txBody>
      </p:sp>
      <p:sp>
        <p:nvSpPr>
          <p:cNvPr id="63" name="Text 52"/>
          <p:cNvSpPr txBox="1"/>
          <p:nvPr/>
        </p:nvSpPr>
        <p:spPr>
          <a:xfrm>
            <a:off x="17532706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64" name="Text 53"/>
          <p:cNvSpPr txBox="1"/>
          <p:nvPr/>
        </p:nvSpPr>
        <p:spPr>
          <a:xfrm>
            <a:off x="17743018" y="2648102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"호주"</a:t>
            </a:r>
            <a:endParaRPr lang="en-US" sz="1300" dirty="0"/>
          </a:p>
        </p:txBody>
      </p:sp>
      <p:sp>
        <p:nvSpPr>
          <p:cNvPr id="65" name="Text 54"/>
          <p:cNvSpPr txBox="1"/>
          <p:nvPr/>
        </p:nvSpPr>
        <p:spPr>
          <a:xfrm>
            <a:off x="18303545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300" dirty="0"/>
          </a:p>
        </p:txBody>
      </p:sp>
      <p:sp>
        <p:nvSpPr>
          <p:cNvPr id="66" name="Text 55"/>
          <p:cNvSpPr txBox="1"/>
          <p:nvPr/>
        </p:nvSpPr>
        <p:spPr>
          <a:xfrm>
            <a:off x="18513857" y="2648102"/>
            <a:ext cx="4153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1) 급증이면서 동시에 감소인 국가 (교집합)</a:t>
            </a:r>
            <a:endParaRPr lang="en-US" sz="1300" dirty="0"/>
          </a:p>
        </p:txBody>
      </p:sp>
      <p:sp>
        <p:nvSpPr>
          <p:cNvPr id="67" name="Text 56"/>
          <p:cNvSpPr txBox="1"/>
          <p:nvPr/>
        </p:nvSpPr>
        <p:spPr>
          <a:xfrm>
            <a:off x="22473209" y="2648102"/>
            <a:ext cx="505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both</a:t>
            </a:r>
            <a:endParaRPr lang="en-US" sz="1300" dirty="0"/>
          </a:p>
        </p:txBody>
      </p:sp>
      <p:sp>
        <p:nvSpPr>
          <p:cNvPr id="68" name="Text 57"/>
          <p:cNvSpPr txBox="1"/>
          <p:nvPr/>
        </p:nvSpPr>
        <p:spPr>
          <a:xfrm>
            <a:off x="22893833" y="2648102"/>
            <a:ext cx="4005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300" dirty="0"/>
          </a:p>
        </p:txBody>
      </p:sp>
      <p:sp>
        <p:nvSpPr>
          <p:cNvPr id="69" name="Text 58"/>
          <p:cNvSpPr txBox="1"/>
          <p:nvPr/>
        </p:nvSpPr>
        <p:spPr>
          <a:xfrm>
            <a:off x="23209301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surge</a:t>
            </a:r>
            <a:endParaRPr lang="en-US" sz="1300" dirty="0"/>
          </a:p>
        </p:txBody>
      </p:sp>
      <p:sp>
        <p:nvSpPr>
          <p:cNvPr id="70" name="Shape 59"/>
          <p:cNvSpPr/>
          <p:nvPr/>
        </p:nvSpPr>
        <p:spPr>
          <a:xfrm>
            <a:off x="23772571" y="2895905"/>
            <a:ext cx="476402" cy="28346"/>
          </a:xfrm>
          <a:prstGeom prst="rect">
            <a:avLst/>
          </a:prstGeom>
          <a:solidFill>
            <a:srgbClr val="F7A919"/>
          </a:solidFill>
          <a:ln w="12700">
            <a:solidFill>
              <a:srgbClr val="F7A919">
                <a:alpha val="0"/>
              </a:srgbClr>
            </a:solidFill>
            <a:prstDash val="solid"/>
          </a:ln>
        </p:spPr>
      </p:sp>
      <p:sp>
        <p:nvSpPr>
          <p:cNvPr id="71" name="Text 60"/>
          <p:cNvSpPr txBox="1"/>
          <p:nvPr/>
        </p:nvSpPr>
        <p:spPr>
          <a:xfrm>
            <a:off x="23735081" y="2609698"/>
            <a:ext cx="5532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&amp;</a:t>
            </a:r>
            <a:endParaRPr lang="en-US" sz="1300" dirty="0"/>
          </a:p>
        </p:txBody>
      </p:sp>
      <p:sp>
        <p:nvSpPr>
          <p:cNvPr id="72" name="Text 61"/>
          <p:cNvSpPr txBox="1"/>
          <p:nvPr/>
        </p:nvSpPr>
        <p:spPr>
          <a:xfrm>
            <a:off x="24287378" y="2648102"/>
            <a:ext cx="819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decline</a:t>
            </a:r>
            <a:endParaRPr lang="en-US" sz="1300" dirty="0"/>
          </a:p>
        </p:txBody>
      </p:sp>
      <p:sp>
        <p:nvSpPr>
          <p:cNvPr id="73" name="Text 62"/>
          <p:cNvSpPr txBox="1"/>
          <p:nvPr/>
        </p:nvSpPr>
        <p:spPr>
          <a:xfrm>
            <a:off x="25023470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74" name="Text 63"/>
          <p:cNvSpPr txBox="1"/>
          <p:nvPr/>
        </p:nvSpPr>
        <p:spPr>
          <a:xfrm>
            <a:off x="25548336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75" name="Text 64"/>
          <p:cNvSpPr txBox="1"/>
          <p:nvPr/>
        </p:nvSpPr>
        <p:spPr>
          <a:xfrm>
            <a:off x="25654406" y="2648102"/>
            <a:ext cx="1867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"급증 &amp; 감소 동시:"</a:t>
            </a:r>
            <a:endParaRPr lang="en-US" sz="1300" dirty="0"/>
          </a:p>
        </p:txBody>
      </p:sp>
      <p:sp>
        <p:nvSpPr>
          <p:cNvPr id="76" name="Text 65"/>
          <p:cNvSpPr txBox="1"/>
          <p:nvPr/>
        </p:nvSpPr>
        <p:spPr>
          <a:xfrm>
            <a:off x="27441144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77" name="Text 66"/>
          <p:cNvSpPr txBox="1"/>
          <p:nvPr/>
        </p:nvSpPr>
        <p:spPr>
          <a:xfrm>
            <a:off x="27651456" y="2648102"/>
            <a:ext cx="5056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both</a:t>
            </a:r>
            <a:endParaRPr lang="en-US" sz="1300" dirty="0"/>
          </a:p>
        </p:txBody>
      </p:sp>
      <p:sp>
        <p:nvSpPr>
          <p:cNvPr id="78" name="Text 67"/>
          <p:cNvSpPr txBox="1"/>
          <p:nvPr/>
        </p:nvSpPr>
        <p:spPr>
          <a:xfrm>
            <a:off x="28072080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79" name="Text 68"/>
          <p:cNvSpPr txBox="1"/>
          <p:nvPr/>
        </p:nvSpPr>
        <p:spPr>
          <a:xfrm>
            <a:off x="28282392" y="2648102"/>
            <a:ext cx="40864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2) 급증만 하고 감소는 아닌 국가 (차집합)</a:t>
            </a:r>
            <a:endParaRPr lang="en-US" sz="1300" dirty="0"/>
          </a:p>
        </p:txBody>
      </p:sp>
      <p:sp>
        <p:nvSpPr>
          <p:cNvPr id="80" name="Text 69"/>
          <p:cNvSpPr txBox="1"/>
          <p:nvPr/>
        </p:nvSpPr>
        <p:spPr>
          <a:xfrm>
            <a:off x="32171335" y="2648102"/>
            <a:ext cx="1133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surge_only</a:t>
            </a:r>
            <a:endParaRPr lang="en-US" sz="1300" dirty="0"/>
          </a:p>
        </p:txBody>
      </p:sp>
      <p:sp>
        <p:nvSpPr>
          <p:cNvPr id="81" name="Text 70"/>
          <p:cNvSpPr txBox="1"/>
          <p:nvPr/>
        </p:nvSpPr>
        <p:spPr>
          <a:xfrm>
            <a:off x="33222895" y="2648102"/>
            <a:ext cx="4005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300" dirty="0"/>
          </a:p>
        </p:txBody>
      </p:sp>
      <p:sp>
        <p:nvSpPr>
          <p:cNvPr id="82" name="Text 71"/>
          <p:cNvSpPr txBox="1"/>
          <p:nvPr/>
        </p:nvSpPr>
        <p:spPr>
          <a:xfrm>
            <a:off x="33537449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surge</a:t>
            </a:r>
            <a:endParaRPr lang="en-US" sz="1300" dirty="0"/>
          </a:p>
        </p:txBody>
      </p:sp>
      <p:sp>
        <p:nvSpPr>
          <p:cNvPr id="83" name="Shape 72"/>
          <p:cNvSpPr/>
          <p:nvPr/>
        </p:nvSpPr>
        <p:spPr>
          <a:xfrm>
            <a:off x="34101634" y="2895905"/>
            <a:ext cx="476402" cy="28346"/>
          </a:xfrm>
          <a:prstGeom prst="rect">
            <a:avLst/>
          </a:prstGeom>
          <a:solidFill>
            <a:srgbClr val="F7A919"/>
          </a:solidFill>
          <a:ln w="12700">
            <a:solidFill>
              <a:srgbClr val="F7A919">
                <a:alpha val="0"/>
              </a:srgbClr>
            </a:solidFill>
            <a:prstDash val="solid"/>
          </a:ln>
        </p:spPr>
      </p:sp>
      <p:sp>
        <p:nvSpPr>
          <p:cNvPr id="84" name="Text 73"/>
          <p:cNvSpPr txBox="1"/>
          <p:nvPr/>
        </p:nvSpPr>
        <p:spPr>
          <a:xfrm>
            <a:off x="34063229" y="2609698"/>
            <a:ext cx="5532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endParaRPr lang="en-US" sz="1300" dirty="0"/>
          </a:p>
        </p:txBody>
      </p:sp>
      <p:sp>
        <p:nvSpPr>
          <p:cNvPr id="85" name="Text 74"/>
          <p:cNvSpPr txBox="1"/>
          <p:nvPr/>
        </p:nvSpPr>
        <p:spPr>
          <a:xfrm>
            <a:off x="34615526" y="2648102"/>
            <a:ext cx="819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decline</a:t>
            </a:r>
            <a:endParaRPr lang="en-US" sz="1300" dirty="0"/>
          </a:p>
        </p:txBody>
      </p:sp>
      <p:sp>
        <p:nvSpPr>
          <p:cNvPr id="86" name="Text 75"/>
          <p:cNvSpPr txBox="1"/>
          <p:nvPr/>
        </p:nvSpPr>
        <p:spPr>
          <a:xfrm>
            <a:off x="35351618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87" name="Text 76"/>
          <p:cNvSpPr txBox="1"/>
          <p:nvPr/>
        </p:nvSpPr>
        <p:spPr>
          <a:xfrm>
            <a:off x="35877398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88" name="Text 77"/>
          <p:cNvSpPr txBox="1"/>
          <p:nvPr/>
        </p:nvSpPr>
        <p:spPr>
          <a:xfrm>
            <a:off x="35982554" y="2648102"/>
            <a:ext cx="9244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"급증만:"</a:t>
            </a:r>
            <a:endParaRPr lang="en-US" sz="1300" dirty="0"/>
          </a:p>
        </p:txBody>
      </p:sp>
      <p:sp>
        <p:nvSpPr>
          <p:cNvPr id="89" name="Text 78"/>
          <p:cNvSpPr txBox="1"/>
          <p:nvPr/>
        </p:nvSpPr>
        <p:spPr>
          <a:xfrm>
            <a:off x="36823802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90" name="Text 79"/>
          <p:cNvSpPr txBox="1"/>
          <p:nvPr/>
        </p:nvSpPr>
        <p:spPr>
          <a:xfrm>
            <a:off x="37034114" y="2648102"/>
            <a:ext cx="1133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surge_only</a:t>
            </a:r>
            <a:endParaRPr lang="en-US" sz="1300" dirty="0"/>
          </a:p>
        </p:txBody>
      </p:sp>
      <p:sp>
        <p:nvSpPr>
          <p:cNvPr id="91" name="Text 80"/>
          <p:cNvSpPr txBox="1"/>
          <p:nvPr/>
        </p:nvSpPr>
        <p:spPr>
          <a:xfrm>
            <a:off x="38085674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92" name="Text 81"/>
          <p:cNvSpPr txBox="1"/>
          <p:nvPr/>
        </p:nvSpPr>
        <p:spPr>
          <a:xfrm>
            <a:off x="38295986" y="2648102"/>
            <a:ext cx="3905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3) 두 그룹에 언급된 모든 국가 (합집합)</a:t>
            </a:r>
            <a:endParaRPr lang="en-US" sz="1300" dirty="0"/>
          </a:p>
        </p:txBody>
      </p:sp>
      <p:sp>
        <p:nvSpPr>
          <p:cNvPr id="93" name="Text 82"/>
          <p:cNvSpPr txBox="1"/>
          <p:nvPr/>
        </p:nvSpPr>
        <p:spPr>
          <a:xfrm>
            <a:off x="42009365" y="2648102"/>
            <a:ext cx="1448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all_countries</a:t>
            </a:r>
            <a:endParaRPr lang="en-US" sz="1300" dirty="0"/>
          </a:p>
        </p:txBody>
      </p:sp>
      <p:sp>
        <p:nvSpPr>
          <p:cNvPr id="94" name="Text 83"/>
          <p:cNvSpPr txBox="1"/>
          <p:nvPr/>
        </p:nvSpPr>
        <p:spPr>
          <a:xfrm>
            <a:off x="43376393" y="2648102"/>
            <a:ext cx="4005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300" dirty="0"/>
          </a:p>
        </p:txBody>
      </p:sp>
      <p:sp>
        <p:nvSpPr>
          <p:cNvPr id="95" name="Text 84"/>
          <p:cNvSpPr txBox="1"/>
          <p:nvPr/>
        </p:nvSpPr>
        <p:spPr>
          <a:xfrm>
            <a:off x="43691861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surge</a:t>
            </a:r>
            <a:endParaRPr lang="en-US" sz="1300" dirty="0"/>
          </a:p>
        </p:txBody>
      </p:sp>
      <p:sp>
        <p:nvSpPr>
          <p:cNvPr id="96" name="Shape 85"/>
          <p:cNvSpPr/>
          <p:nvPr/>
        </p:nvSpPr>
        <p:spPr>
          <a:xfrm>
            <a:off x="44255131" y="2895905"/>
            <a:ext cx="476402" cy="28346"/>
          </a:xfrm>
          <a:prstGeom prst="rect">
            <a:avLst/>
          </a:prstGeom>
          <a:solidFill>
            <a:srgbClr val="F7A919"/>
          </a:solidFill>
          <a:ln w="12700">
            <a:solidFill>
              <a:srgbClr val="F7A919">
                <a:alpha val="0"/>
              </a:srgbClr>
            </a:solidFill>
            <a:prstDash val="solid"/>
          </a:ln>
        </p:spPr>
      </p:sp>
      <p:sp>
        <p:nvSpPr>
          <p:cNvPr id="97" name="Text 86"/>
          <p:cNvSpPr txBox="1"/>
          <p:nvPr/>
        </p:nvSpPr>
        <p:spPr>
          <a:xfrm>
            <a:off x="44216726" y="2609698"/>
            <a:ext cx="5532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300" dirty="0"/>
          </a:p>
        </p:txBody>
      </p:sp>
      <p:sp>
        <p:nvSpPr>
          <p:cNvPr id="98" name="Text 87"/>
          <p:cNvSpPr txBox="1"/>
          <p:nvPr/>
        </p:nvSpPr>
        <p:spPr>
          <a:xfrm>
            <a:off x="44769938" y="2648102"/>
            <a:ext cx="819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decline</a:t>
            </a:r>
            <a:endParaRPr lang="en-US" sz="1300" dirty="0"/>
          </a:p>
        </p:txBody>
      </p:sp>
      <p:sp>
        <p:nvSpPr>
          <p:cNvPr id="99" name="Text 88"/>
          <p:cNvSpPr txBox="1"/>
          <p:nvPr/>
        </p:nvSpPr>
        <p:spPr>
          <a:xfrm>
            <a:off x="45505116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100" name="Text 89"/>
          <p:cNvSpPr txBox="1"/>
          <p:nvPr/>
        </p:nvSpPr>
        <p:spPr>
          <a:xfrm>
            <a:off x="46030896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101" name="Text 90"/>
          <p:cNvSpPr txBox="1"/>
          <p:nvPr/>
        </p:nvSpPr>
        <p:spPr>
          <a:xfrm>
            <a:off x="46136052" y="2648102"/>
            <a:ext cx="12006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"전체 국가:"</a:t>
            </a:r>
            <a:endParaRPr lang="en-US" sz="1300" dirty="0"/>
          </a:p>
        </p:txBody>
      </p:sp>
      <p:sp>
        <p:nvSpPr>
          <p:cNvPr id="102" name="Text 91"/>
          <p:cNvSpPr txBox="1"/>
          <p:nvPr/>
        </p:nvSpPr>
        <p:spPr>
          <a:xfrm>
            <a:off x="47258021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103" name="Text 92"/>
          <p:cNvSpPr txBox="1"/>
          <p:nvPr/>
        </p:nvSpPr>
        <p:spPr>
          <a:xfrm>
            <a:off x="47468333" y="2648102"/>
            <a:ext cx="1448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all_countries</a:t>
            </a:r>
            <a:endParaRPr lang="en-US" sz="1300" dirty="0"/>
          </a:p>
        </p:txBody>
      </p:sp>
      <p:sp>
        <p:nvSpPr>
          <p:cNvPr id="104" name="Text 93"/>
          <p:cNvSpPr txBox="1"/>
          <p:nvPr/>
        </p:nvSpPr>
        <p:spPr>
          <a:xfrm>
            <a:off x="48834446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105" name="Text 94"/>
          <p:cNvSpPr txBox="1"/>
          <p:nvPr/>
        </p:nvSpPr>
        <p:spPr>
          <a:xfrm>
            <a:off x="49044758" y="2648102"/>
            <a:ext cx="3696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48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4) 한쪽에만 속하는 국가 (대칭차집합)</a:t>
            </a:r>
            <a:endParaRPr lang="en-US" sz="1300" dirty="0"/>
          </a:p>
        </p:txBody>
      </p:sp>
      <p:sp>
        <p:nvSpPr>
          <p:cNvPr id="106" name="Text 95"/>
          <p:cNvSpPr txBox="1"/>
          <p:nvPr/>
        </p:nvSpPr>
        <p:spPr>
          <a:xfrm>
            <a:off x="52548739" y="2648102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exclusive</a:t>
            </a:r>
            <a:endParaRPr lang="en-US" sz="1300" dirty="0"/>
          </a:p>
        </p:txBody>
      </p:sp>
      <p:sp>
        <p:nvSpPr>
          <p:cNvPr id="107" name="Text 96"/>
          <p:cNvSpPr txBox="1"/>
          <p:nvPr/>
        </p:nvSpPr>
        <p:spPr>
          <a:xfrm>
            <a:off x="53495143" y="2648102"/>
            <a:ext cx="4005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300" dirty="0"/>
          </a:p>
        </p:txBody>
      </p:sp>
      <p:sp>
        <p:nvSpPr>
          <p:cNvPr id="108" name="Text 97"/>
          <p:cNvSpPr txBox="1"/>
          <p:nvPr/>
        </p:nvSpPr>
        <p:spPr>
          <a:xfrm>
            <a:off x="53809697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surge</a:t>
            </a:r>
            <a:endParaRPr lang="en-US" sz="1300" dirty="0"/>
          </a:p>
        </p:txBody>
      </p:sp>
      <p:sp>
        <p:nvSpPr>
          <p:cNvPr id="109" name="Shape 98"/>
          <p:cNvSpPr/>
          <p:nvPr/>
        </p:nvSpPr>
        <p:spPr>
          <a:xfrm>
            <a:off x="54373882" y="2895905"/>
            <a:ext cx="476402" cy="28346"/>
          </a:xfrm>
          <a:prstGeom prst="rect">
            <a:avLst/>
          </a:prstGeom>
          <a:solidFill>
            <a:srgbClr val="F7A919"/>
          </a:solidFill>
          <a:ln w="12700">
            <a:solidFill>
              <a:srgbClr val="F7A919">
                <a:alpha val="0"/>
              </a:srgbClr>
            </a:solidFill>
            <a:prstDash val="solid"/>
          </a:ln>
        </p:spPr>
      </p:sp>
      <p:sp>
        <p:nvSpPr>
          <p:cNvPr id="110" name="Text 99"/>
          <p:cNvSpPr txBox="1"/>
          <p:nvPr/>
        </p:nvSpPr>
        <p:spPr>
          <a:xfrm>
            <a:off x="54335477" y="2609698"/>
            <a:ext cx="5532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^</a:t>
            </a:r>
            <a:endParaRPr lang="en-US" sz="1300" dirty="0"/>
          </a:p>
        </p:txBody>
      </p:sp>
      <p:sp>
        <p:nvSpPr>
          <p:cNvPr id="111" name="Text 100"/>
          <p:cNvSpPr txBox="1"/>
          <p:nvPr/>
        </p:nvSpPr>
        <p:spPr>
          <a:xfrm>
            <a:off x="54888689" y="2648102"/>
            <a:ext cx="819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decline</a:t>
            </a:r>
            <a:endParaRPr lang="en-US" sz="1300" dirty="0"/>
          </a:p>
        </p:txBody>
      </p:sp>
      <p:sp>
        <p:nvSpPr>
          <p:cNvPr id="112" name="Text 101"/>
          <p:cNvSpPr txBox="1"/>
          <p:nvPr/>
        </p:nvSpPr>
        <p:spPr>
          <a:xfrm>
            <a:off x="55623866" y="2648102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300" dirty="0"/>
          </a:p>
        </p:txBody>
      </p:sp>
      <p:sp>
        <p:nvSpPr>
          <p:cNvPr id="113" name="Text 102"/>
          <p:cNvSpPr txBox="1"/>
          <p:nvPr/>
        </p:nvSpPr>
        <p:spPr>
          <a:xfrm>
            <a:off x="56149646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300" dirty="0"/>
          </a:p>
        </p:txBody>
      </p:sp>
      <p:sp>
        <p:nvSpPr>
          <p:cNvPr id="114" name="Text 103"/>
          <p:cNvSpPr txBox="1"/>
          <p:nvPr/>
        </p:nvSpPr>
        <p:spPr>
          <a:xfrm>
            <a:off x="56254802" y="2648102"/>
            <a:ext cx="9244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"한쪽만:"</a:t>
            </a:r>
            <a:endParaRPr lang="en-US" sz="1300" dirty="0"/>
          </a:p>
        </p:txBody>
      </p:sp>
      <p:sp>
        <p:nvSpPr>
          <p:cNvPr id="115" name="Text 104"/>
          <p:cNvSpPr txBox="1"/>
          <p:nvPr/>
        </p:nvSpPr>
        <p:spPr>
          <a:xfrm>
            <a:off x="57096050" y="2648102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300" dirty="0"/>
          </a:p>
        </p:txBody>
      </p:sp>
      <p:sp>
        <p:nvSpPr>
          <p:cNvPr id="116" name="Text 105"/>
          <p:cNvSpPr txBox="1"/>
          <p:nvPr/>
        </p:nvSpPr>
        <p:spPr>
          <a:xfrm>
            <a:off x="57306362" y="2648102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exclusive</a:t>
            </a:r>
            <a:endParaRPr lang="en-US" sz="1300" dirty="0"/>
          </a:p>
        </p:txBody>
      </p:sp>
      <p:sp>
        <p:nvSpPr>
          <p:cNvPr id="117" name="Text 106"/>
          <p:cNvSpPr txBox="1"/>
          <p:nvPr/>
        </p:nvSpPr>
        <p:spPr>
          <a:xfrm>
            <a:off x="58252766" y="2648102"/>
            <a:ext cx="191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300" dirty="0"/>
          </a:p>
        </p:txBody>
      </p:sp>
      <p:sp>
        <p:nvSpPr>
          <p:cNvPr id="118" name="Text 107"/>
          <p:cNvSpPr txBox="1"/>
          <p:nvPr/>
        </p:nvSpPr>
        <p:spPr>
          <a:xfrm>
            <a:off x="11743639" y="6400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4950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456639"/>
            <a:ext cx="12191695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1591056" cy="3145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244" y="228600"/>
            <a:ext cx="123901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4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 01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2838" r="-2838" t="0" b="0"/>
          <a:stretch/>
        </p:blipFill>
        <p:spPr>
          <a:xfrm>
            <a:off x="609905" y="308153"/>
            <a:ext cx="123444" cy="1335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617220"/>
            <a:ext cx="56701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국가별 확진자 관리 프로그램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1036015"/>
            <a:ext cx="47512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딕셔너리를 활용하여 코로나19 데이터를 종합적으로 분석하는 실습입니다.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9963302" y="555955"/>
            <a:ext cx="1781251" cy="342900"/>
          </a:xfrm>
          <a:prstGeom prst="roundRect">
            <a:avLst>
              <a:gd name="adj" fmla="val 59259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10115093" y="651053"/>
            <a:ext cx="19019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382098" y="555955"/>
            <a:ext cx="12673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challenge_01.py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7200" y="1798625"/>
            <a:ext cx="3847795" cy="4724705"/>
          </a:xfrm>
          <a:prstGeom prst="roundRect">
            <a:avLst>
              <a:gd name="adj" fmla="val 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57200" y="1798625"/>
            <a:ext cx="47549" cy="4724705"/>
          </a:xfrm>
          <a:prstGeom prst="roundRect">
            <a:avLst>
              <a:gd name="adj" fmla="val 57121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52805" y="2027225"/>
            <a:ext cx="3314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 사항 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3349" y="2064715"/>
            <a:ext cx="142646" cy="190195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9" y="2426818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3349" y="2426818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057046" y="2407615"/>
            <a:ext cx="35789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아래 표를 참고하여 초기 </a:t>
            </a:r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딕셔너리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생성하세요.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349" y="2853842"/>
          <a:ext cx="3343961" cy="1696212"/>
        </p:xfrm>
        <a:graphic>
          <a:graphicData uri="http://schemas.openxmlformats.org/drawingml/2006/table">
            <a:tbl>
              <a:tblPr/>
              <a:tblGrid>
                <a:gridCol w="1374343"/>
                <a:gridCol w="1951330"/>
              </a:tblGrid>
              <a:tr h="282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37415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국가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37415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확진자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82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한국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34,571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미국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1,850,000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일본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18,723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영국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312,654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브라질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923,189</a:t>
                      </a:r>
                      <a:endParaRPr lang="en-US" sz="10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49" y="4761281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33349" y="4761281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1057046" y="4742078"/>
            <a:ext cx="30961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독일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(195,042)과 </a:t>
            </a:r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프랑스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(245,673) 데이터를 추가하세요.</a:t>
            </a:r>
            <a:endParaRPr lang="en-US" sz="11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349" y="5317236"/>
            <a:ext cx="228600" cy="228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33349" y="5317236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17"/>
          <p:cNvSpPr txBox="1"/>
          <p:nvPr/>
        </p:nvSpPr>
        <p:spPr>
          <a:xfrm>
            <a:off x="1057046" y="5298034"/>
            <a:ext cx="30751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확진자가 가장 많은/적은 국가를 찾으세요.</a:t>
            </a:r>
            <a:endParaRPr lang="en-US" sz="11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349" y="5686654"/>
            <a:ext cx="228600" cy="2286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33349" y="5686654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19"/>
          <p:cNvSpPr txBox="1"/>
          <p:nvPr/>
        </p:nvSpPr>
        <p:spPr>
          <a:xfrm>
            <a:off x="1057046" y="5667451"/>
            <a:ext cx="35789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평균을 구하고, 평균 이상인 국가를 필터링하세요.</a:t>
            </a:r>
            <a:endParaRPr lang="en-US" sz="11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349" y="6056071"/>
            <a:ext cx="228600" cy="22860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33349" y="6056071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21"/>
          <p:cNvSpPr txBox="1"/>
          <p:nvPr/>
        </p:nvSpPr>
        <p:spPr>
          <a:xfrm>
            <a:off x="1057046" y="6036869"/>
            <a:ext cx="28794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f-string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사용하여 결과를 출력하세요.</a:t>
            </a:r>
            <a:endParaRPr lang="en-US" sz="1100" dirty="0"/>
          </a:p>
        </p:txBody>
      </p:sp>
      <p:sp>
        <p:nvSpPr>
          <p:cNvPr id="34" name="Shape 22"/>
          <p:cNvSpPr/>
          <p:nvPr/>
        </p:nvSpPr>
        <p:spPr>
          <a:xfrm>
            <a:off x="457200" y="6741871"/>
            <a:ext cx="3847795" cy="875995"/>
          </a:xfrm>
          <a:prstGeom prst="roundRect">
            <a:avLst>
              <a:gd name="adj" fmla="val 907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19049" y="6942125"/>
            <a:ext cx="152705" cy="152705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886054" y="6903720"/>
            <a:ext cx="3372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Point</a:t>
            </a:r>
            <a:endParaRPr lang="en-US" sz="1000" dirty="0"/>
          </a:p>
        </p:txBody>
      </p:sp>
      <p:sp>
        <p:nvSpPr>
          <p:cNvPr id="37" name="Text 24"/>
          <p:cNvSpPr txBox="1"/>
          <p:nvPr/>
        </p:nvSpPr>
        <p:spPr>
          <a:xfrm>
            <a:off x="886054" y="7132320"/>
            <a:ext cx="33339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딕셔너리의 </a:t>
            </a:r>
            <a:pPr algn="l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pPr algn="l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적절히 활용하는 것이 핵심입니다. </a:t>
            </a:r>
            <a:endParaRPr lang="en-US" sz="9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3838" y="7160666"/>
            <a:ext cx="629107" cy="133502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1443838" y="7160666"/>
            <a:ext cx="629107" cy="1335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.items()</a:t>
            </a:r>
            <a:endParaRPr lang="en-US" sz="9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5533" y="7160666"/>
            <a:ext cx="905256" cy="133502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2205533" y="7160666"/>
            <a:ext cx="905256" cy="1335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max(key=...)</a:t>
            </a:r>
            <a:endParaRPr lang="en-US" sz="90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rcRect l="-1" r="-1" t="0" b="0"/>
          <a:stretch/>
        </p:blipFill>
        <p:spPr>
          <a:xfrm>
            <a:off x="4602175" y="1798625"/>
            <a:ext cx="7132320" cy="4754880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4602175" y="1798625"/>
            <a:ext cx="7134149" cy="352044"/>
          </a:xfrm>
          <a:prstGeom prst="roundRect">
            <a:avLst>
              <a:gd name="adj" fmla="val 84240"/>
            </a:avLst>
          </a:prstGeom>
          <a:solidFill>
            <a:srgbClr val="252526"/>
          </a:solidFill>
          <a:ln/>
        </p:spPr>
      </p:sp>
      <p:sp>
        <p:nvSpPr>
          <p:cNvPr id="44" name="Shape 28"/>
          <p:cNvSpPr/>
          <p:nvPr/>
        </p:nvSpPr>
        <p:spPr>
          <a:xfrm>
            <a:off x="4602175" y="2141525"/>
            <a:ext cx="7134149" cy="9144"/>
          </a:xfrm>
          <a:prstGeom prst="roundRect">
            <a:avLst>
              <a:gd name="adj" fmla="val 3243243"/>
            </a:avLst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Shape 29"/>
          <p:cNvSpPr/>
          <p:nvPr/>
        </p:nvSpPr>
        <p:spPr>
          <a:xfrm>
            <a:off x="4754880" y="1918411"/>
            <a:ext cx="95098" cy="9509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0"/>
          <p:cNvSpPr/>
          <p:nvPr/>
        </p:nvSpPr>
        <p:spPr>
          <a:xfrm>
            <a:off x="4926787" y="1918411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1"/>
          <p:cNvSpPr/>
          <p:nvPr/>
        </p:nvSpPr>
        <p:spPr>
          <a:xfrm>
            <a:off x="5097780" y="1918411"/>
            <a:ext cx="95098" cy="9509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2"/>
          <p:cNvSpPr txBox="1"/>
          <p:nvPr/>
        </p:nvSpPr>
        <p:spPr>
          <a:xfrm>
            <a:off x="5345582" y="1890065"/>
            <a:ext cx="838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solution.py</a:t>
            </a:r>
            <a:endParaRPr lang="en-US" sz="900" dirty="0"/>
          </a:p>
        </p:txBody>
      </p:sp>
      <p:sp>
        <p:nvSpPr>
          <p:cNvPr id="49" name="Text 33"/>
          <p:cNvSpPr txBox="1"/>
          <p:nvPr/>
        </p:nvSpPr>
        <p:spPr>
          <a:xfrm>
            <a:off x="4830775" y="2400300"/>
            <a:ext cx="21817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1단계: 초기 데이터 생성</a:t>
            </a:r>
            <a:endParaRPr lang="en-US" sz="1200" dirty="0"/>
          </a:p>
        </p:txBody>
      </p:sp>
      <p:sp>
        <p:nvSpPr>
          <p:cNvPr id="50" name="Text 34"/>
          <p:cNvSpPr txBox="1"/>
          <p:nvPr/>
        </p:nvSpPr>
        <p:spPr>
          <a:xfrm>
            <a:off x="6843370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200" dirty="0"/>
          </a:p>
        </p:txBody>
      </p:sp>
      <p:sp>
        <p:nvSpPr>
          <p:cNvPr id="51" name="Text 35"/>
          <p:cNvSpPr txBox="1"/>
          <p:nvPr/>
        </p:nvSpPr>
        <p:spPr>
          <a:xfrm>
            <a:off x="7300570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200" dirty="0"/>
          </a:p>
        </p:txBody>
      </p:sp>
      <p:sp>
        <p:nvSpPr>
          <p:cNvPr id="52" name="Shape 36"/>
          <p:cNvSpPr/>
          <p:nvPr/>
        </p:nvSpPr>
        <p:spPr>
          <a:xfrm>
            <a:off x="7594092" y="2619756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3" name="Text 37"/>
          <p:cNvSpPr txBox="1"/>
          <p:nvPr/>
        </p:nvSpPr>
        <p:spPr>
          <a:xfrm>
            <a:off x="7555687" y="237195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54" name="Text 38"/>
          <p:cNvSpPr txBox="1"/>
          <p:nvPr/>
        </p:nvSpPr>
        <p:spPr>
          <a:xfrm>
            <a:off x="7993685" y="2400300"/>
            <a:ext cx="15435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2단계: 국가 추가</a:t>
            </a:r>
            <a:endParaRPr lang="en-US" sz="1200" dirty="0"/>
          </a:p>
        </p:txBody>
      </p:sp>
      <p:sp>
        <p:nvSpPr>
          <p:cNvPr id="55" name="Text 39"/>
          <p:cNvSpPr txBox="1"/>
          <p:nvPr/>
        </p:nvSpPr>
        <p:spPr>
          <a:xfrm>
            <a:off x="9456725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200" dirty="0"/>
          </a:p>
        </p:txBody>
      </p:sp>
      <p:sp>
        <p:nvSpPr>
          <p:cNvPr id="56" name="Text 40"/>
          <p:cNvSpPr txBox="1"/>
          <p:nvPr/>
        </p:nvSpPr>
        <p:spPr>
          <a:xfrm>
            <a:off x="9913925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200" dirty="0"/>
          </a:p>
        </p:txBody>
      </p:sp>
      <p:sp>
        <p:nvSpPr>
          <p:cNvPr id="57" name="Text 41"/>
          <p:cNvSpPr txBox="1"/>
          <p:nvPr/>
        </p:nvSpPr>
        <p:spPr>
          <a:xfrm>
            <a:off x="10006279" y="2400300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"독일"</a:t>
            </a:r>
            <a:endParaRPr lang="en-US" sz="1200" dirty="0"/>
          </a:p>
        </p:txBody>
      </p:sp>
      <p:sp>
        <p:nvSpPr>
          <p:cNvPr id="58" name="Text 42"/>
          <p:cNvSpPr txBox="1"/>
          <p:nvPr/>
        </p:nvSpPr>
        <p:spPr>
          <a:xfrm>
            <a:off x="10493654" y="2400300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=</a:t>
            </a:r>
            <a:endParaRPr lang="en-US" sz="1200" dirty="0"/>
          </a:p>
        </p:txBody>
      </p:sp>
      <p:sp>
        <p:nvSpPr>
          <p:cNvPr id="59" name="Text 43"/>
          <p:cNvSpPr txBox="1"/>
          <p:nvPr/>
        </p:nvSpPr>
        <p:spPr>
          <a:xfrm>
            <a:off x="10859414" y="2400300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195042</a:t>
            </a:r>
            <a:endParaRPr lang="en-US" sz="1200" dirty="0"/>
          </a:p>
        </p:txBody>
      </p:sp>
      <p:sp>
        <p:nvSpPr>
          <p:cNvPr id="60" name="Shape 44"/>
          <p:cNvSpPr/>
          <p:nvPr/>
        </p:nvSpPr>
        <p:spPr>
          <a:xfrm>
            <a:off x="11427257" y="2619756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1" name="Text 45"/>
          <p:cNvSpPr txBox="1"/>
          <p:nvPr/>
        </p:nvSpPr>
        <p:spPr>
          <a:xfrm>
            <a:off x="11388852" y="237195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62" name="Text 46"/>
          <p:cNvSpPr txBox="1"/>
          <p:nvPr/>
        </p:nvSpPr>
        <p:spPr>
          <a:xfrm>
            <a:off x="11826850" y="2400300"/>
            <a:ext cx="41724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3단계: 최다·최소 국가 찾기 (Tip: key 인자 활용)</a:t>
            </a:r>
            <a:endParaRPr lang="en-US" sz="1200" dirty="0"/>
          </a:p>
        </p:txBody>
      </p:sp>
      <p:sp>
        <p:nvSpPr>
          <p:cNvPr id="63" name="Text 47"/>
          <p:cNvSpPr txBox="1"/>
          <p:nvPr/>
        </p:nvSpPr>
        <p:spPr>
          <a:xfrm>
            <a:off x="15881299" y="2400300"/>
            <a:ext cx="1086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max_country</a:t>
            </a:r>
            <a:endParaRPr lang="en-US" sz="1200" dirty="0"/>
          </a:p>
        </p:txBody>
      </p:sp>
      <p:sp>
        <p:nvSpPr>
          <p:cNvPr id="64" name="Text 48"/>
          <p:cNvSpPr txBox="1"/>
          <p:nvPr/>
        </p:nvSpPr>
        <p:spPr>
          <a:xfrm>
            <a:off x="16887139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200" dirty="0"/>
          </a:p>
        </p:txBody>
      </p:sp>
      <p:sp>
        <p:nvSpPr>
          <p:cNvPr id="65" name="Text 49"/>
          <p:cNvSpPr txBox="1"/>
          <p:nvPr/>
        </p:nvSpPr>
        <p:spPr>
          <a:xfrm>
            <a:off x="17162374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</a:t>
            </a:r>
            <a:endParaRPr lang="en-US" sz="1200" dirty="0"/>
          </a:p>
        </p:txBody>
      </p:sp>
      <p:sp>
        <p:nvSpPr>
          <p:cNvPr id="66" name="Text 50"/>
          <p:cNvSpPr txBox="1"/>
          <p:nvPr/>
        </p:nvSpPr>
        <p:spPr>
          <a:xfrm>
            <a:off x="17436694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67" name="Text 51"/>
          <p:cNvSpPr txBox="1"/>
          <p:nvPr/>
        </p:nvSpPr>
        <p:spPr>
          <a:xfrm>
            <a:off x="17528134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200" dirty="0"/>
          </a:p>
        </p:txBody>
      </p:sp>
      <p:sp>
        <p:nvSpPr>
          <p:cNvPr id="68" name="Text 52"/>
          <p:cNvSpPr txBox="1"/>
          <p:nvPr/>
        </p:nvSpPr>
        <p:spPr>
          <a:xfrm>
            <a:off x="17985334" y="2400300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key=</a:t>
            </a:r>
            <a:endParaRPr lang="en-US" sz="1200" dirty="0"/>
          </a:p>
        </p:txBody>
      </p:sp>
      <p:sp>
        <p:nvSpPr>
          <p:cNvPr id="69" name="Shape 53"/>
          <p:cNvSpPr/>
          <p:nvPr/>
        </p:nvSpPr>
        <p:spPr>
          <a:xfrm>
            <a:off x="18553176" y="2619756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0" name="Text 54"/>
          <p:cNvSpPr txBox="1"/>
          <p:nvPr/>
        </p:nvSpPr>
        <p:spPr>
          <a:xfrm>
            <a:off x="18514771" y="237195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71" name="Text 55"/>
          <p:cNvSpPr txBox="1"/>
          <p:nvPr/>
        </p:nvSpPr>
        <p:spPr>
          <a:xfrm>
            <a:off x="18952769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72" name="Text 56"/>
          <p:cNvSpPr txBox="1"/>
          <p:nvPr/>
        </p:nvSpPr>
        <p:spPr>
          <a:xfrm>
            <a:off x="19135649" y="2400300"/>
            <a:ext cx="1086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min_country</a:t>
            </a:r>
            <a:endParaRPr lang="en-US" sz="1200" dirty="0"/>
          </a:p>
        </p:txBody>
      </p:sp>
      <p:sp>
        <p:nvSpPr>
          <p:cNvPr id="73" name="Text 57"/>
          <p:cNvSpPr txBox="1"/>
          <p:nvPr/>
        </p:nvSpPr>
        <p:spPr>
          <a:xfrm>
            <a:off x="20142403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200" dirty="0"/>
          </a:p>
        </p:txBody>
      </p:sp>
      <p:sp>
        <p:nvSpPr>
          <p:cNvPr id="74" name="Text 58"/>
          <p:cNvSpPr txBox="1"/>
          <p:nvPr/>
        </p:nvSpPr>
        <p:spPr>
          <a:xfrm>
            <a:off x="20416723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min</a:t>
            </a:r>
            <a:endParaRPr lang="en-US" sz="1200" dirty="0"/>
          </a:p>
        </p:txBody>
      </p:sp>
      <p:sp>
        <p:nvSpPr>
          <p:cNvPr id="75" name="Text 59"/>
          <p:cNvSpPr txBox="1"/>
          <p:nvPr/>
        </p:nvSpPr>
        <p:spPr>
          <a:xfrm>
            <a:off x="20691043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76" name="Text 60"/>
          <p:cNvSpPr txBox="1"/>
          <p:nvPr/>
        </p:nvSpPr>
        <p:spPr>
          <a:xfrm>
            <a:off x="20782483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200" dirty="0"/>
          </a:p>
        </p:txBody>
      </p:sp>
      <p:sp>
        <p:nvSpPr>
          <p:cNvPr id="77" name="Text 61"/>
          <p:cNvSpPr txBox="1"/>
          <p:nvPr/>
        </p:nvSpPr>
        <p:spPr>
          <a:xfrm>
            <a:off x="21239683" y="2400300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key=</a:t>
            </a:r>
            <a:endParaRPr lang="en-US" sz="1200" dirty="0"/>
          </a:p>
        </p:txBody>
      </p:sp>
      <p:sp>
        <p:nvSpPr>
          <p:cNvPr id="78" name="Shape 62"/>
          <p:cNvSpPr/>
          <p:nvPr/>
        </p:nvSpPr>
        <p:spPr>
          <a:xfrm>
            <a:off x="21807526" y="2619756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9" name="Text 63"/>
          <p:cNvSpPr txBox="1"/>
          <p:nvPr/>
        </p:nvSpPr>
        <p:spPr>
          <a:xfrm>
            <a:off x="21769121" y="237195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80" name="Text 64"/>
          <p:cNvSpPr txBox="1"/>
          <p:nvPr/>
        </p:nvSpPr>
        <p:spPr>
          <a:xfrm>
            <a:off x="22208033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81" name="Text 65"/>
          <p:cNvSpPr txBox="1"/>
          <p:nvPr/>
        </p:nvSpPr>
        <p:spPr>
          <a:xfrm>
            <a:off x="22390913" y="2400300"/>
            <a:ext cx="2600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4단계: 평균 이상 국가 필터링</a:t>
            </a:r>
            <a:endParaRPr lang="en-US" sz="1200" dirty="0"/>
          </a:p>
        </p:txBody>
      </p:sp>
      <p:sp>
        <p:nvSpPr>
          <p:cNvPr id="82" name="Text 66"/>
          <p:cNvSpPr txBox="1"/>
          <p:nvPr/>
        </p:nvSpPr>
        <p:spPr>
          <a:xfrm>
            <a:off x="24798528" y="2400300"/>
            <a:ext cx="905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avg_cases</a:t>
            </a:r>
            <a:endParaRPr lang="en-US" sz="1200" dirty="0"/>
          </a:p>
        </p:txBody>
      </p:sp>
      <p:sp>
        <p:nvSpPr>
          <p:cNvPr id="83" name="Text 67"/>
          <p:cNvSpPr txBox="1"/>
          <p:nvPr/>
        </p:nvSpPr>
        <p:spPr>
          <a:xfrm>
            <a:off x="25621488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200" dirty="0"/>
          </a:p>
        </p:txBody>
      </p:sp>
      <p:sp>
        <p:nvSpPr>
          <p:cNvPr id="84" name="Text 68"/>
          <p:cNvSpPr txBox="1"/>
          <p:nvPr/>
        </p:nvSpPr>
        <p:spPr>
          <a:xfrm>
            <a:off x="25895808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sum</a:t>
            </a:r>
            <a:endParaRPr lang="en-US" sz="1200" dirty="0"/>
          </a:p>
        </p:txBody>
      </p:sp>
      <p:sp>
        <p:nvSpPr>
          <p:cNvPr id="85" name="Text 69"/>
          <p:cNvSpPr txBox="1"/>
          <p:nvPr/>
        </p:nvSpPr>
        <p:spPr>
          <a:xfrm>
            <a:off x="26171042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86" name="Text 70"/>
          <p:cNvSpPr txBox="1"/>
          <p:nvPr/>
        </p:nvSpPr>
        <p:spPr>
          <a:xfrm>
            <a:off x="26262482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200" dirty="0"/>
          </a:p>
        </p:txBody>
      </p:sp>
      <p:sp>
        <p:nvSpPr>
          <p:cNvPr id="87" name="Text 71"/>
          <p:cNvSpPr txBox="1"/>
          <p:nvPr/>
        </p:nvSpPr>
        <p:spPr>
          <a:xfrm>
            <a:off x="26719682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200" dirty="0"/>
          </a:p>
        </p:txBody>
      </p:sp>
      <p:sp>
        <p:nvSpPr>
          <p:cNvPr id="88" name="Text 72"/>
          <p:cNvSpPr txBox="1"/>
          <p:nvPr/>
        </p:nvSpPr>
        <p:spPr>
          <a:xfrm>
            <a:off x="26811122" y="2400300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values</a:t>
            </a:r>
            <a:endParaRPr lang="en-US" sz="1200" dirty="0"/>
          </a:p>
        </p:txBody>
      </p:sp>
      <p:sp>
        <p:nvSpPr>
          <p:cNvPr id="89" name="Text 73"/>
          <p:cNvSpPr txBox="1"/>
          <p:nvPr/>
        </p:nvSpPr>
        <p:spPr>
          <a:xfrm>
            <a:off x="27359762" y="2400300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()) /</a:t>
            </a:r>
            <a:endParaRPr lang="en-US" sz="1200" dirty="0"/>
          </a:p>
        </p:txBody>
      </p:sp>
      <p:sp>
        <p:nvSpPr>
          <p:cNvPr id="90" name="Text 74"/>
          <p:cNvSpPr txBox="1"/>
          <p:nvPr/>
        </p:nvSpPr>
        <p:spPr>
          <a:xfrm>
            <a:off x="27908402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len</a:t>
            </a:r>
            <a:endParaRPr lang="en-US" sz="1200" dirty="0"/>
          </a:p>
        </p:txBody>
      </p:sp>
      <p:sp>
        <p:nvSpPr>
          <p:cNvPr id="91" name="Text 75"/>
          <p:cNvSpPr txBox="1"/>
          <p:nvPr/>
        </p:nvSpPr>
        <p:spPr>
          <a:xfrm>
            <a:off x="28182722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92" name="Text 76"/>
          <p:cNvSpPr txBox="1"/>
          <p:nvPr/>
        </p:nvSpPr>
        <p:spPr>
          <a:xfrm>
            <a:off x="28274162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200" dirty="0"/>
          </a:p>
        </p:txBody>
      </p:sp>
      <p:sp>
        <p:nvSpPr>
          <p:cNvPr id="93" name="Text 77"/>
          <p:cNvSpPr txBox="1"/>
          <p:nvPr/>
        </p:nvSpPr>
        <p:spPr>
          <a:xfrm>
            <a:off x="28732277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94" name="Text 78"/>
          <p:cNvSpPr txBox="1"/>
          <p:nvPr/>
        </p:nvSpPr>
        <p:spPr>
          <a:xfrm>
            <a:off x="28915157" y="2400300"/>
            <a:ext cx="905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above_avg</a:t>
            </a:r>
            <a:endParaRPr lang="en-US" sz="1200" dirty="0"/>
          </a:p>
        </p:txBody>
      </p:sp>
      <p:sp>
        <p:nvSpPr>
          <p:cNvPr id="95" name="Text 79"/>
          <p:cNvSpPr txBox="1"/>
          <p:nvPr/>
        </p:nvSpPr>
        <p:spPr>
          <a:xfrm>
            <a:off x="29738117" y="2400300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[k</a:t>
            </a:r>
            <a:endParaRPr lang="en-US" sz="1200" dirty="0"/>
          </a:p>
        </p:txBody>
      </p:sp>
      <p:sp>
        <p:nvSpPr>
          <p:cNvPr id="96" name="Text 80"/>
          <p:cNvSpPr txBox="1"/>
          <p:nvPr/>
        </p:nvSpPr>
        <p:spPr>
          <a:xfrm>
            <a:off x="30286757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</a:t>
            </a:r>
            <a:endParaRPr lang="en-US" sz="1200" dirty="0"/>
          </a:p>
        </p:txBody>
      </p:sp>
      <p:sp>
        <p:nvSpPr>
          <p:cNvPr id="97" name="Text 81"/>
          <p:cNvSpPr txBox="1"/>
          <p:nvPr/>
        </p:nvSpPr>
        <p:spPr>
          <a:xfrm>
            <a:off x="30561077" y="2400300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k, v</a:t>
            </a:r>
            <a:endParaRPr lang="en-US" sz="1200" dirty="0"/>
          </a:p>
        </p:txBody>
      </p:sp>
      <p:sp>
        <p:nvSpPr>
          <p:cNvPr id="98" name="Text 82"/>
          <p:cNvSpPr txBox="1"/>
          <p:nvPr/>
        </p:nvSpPr>
        <p:spPr>
          <a:xfrm>
            <a:off x="31109717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endParaRPr lang="en-US" sz="1200" dirty="0"/>
          </a:p>
        </p:txBody>
      </p:sp>
      <p:sp>
        <p:nvSpPr>
          <p:cNvPr id="99" name="Text 83"/>
          <p:cNvSpPr txBox="1"/>
          <p:nvPr/>
        </p:nvSpPr>
        <p:spPr>
          <a:xfrm>
            <a:off x="31292597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200" dirty="0"/>
          </a:p>
        </p:txBody>
      </p:sp>
      <p:sp>
        <p:nvSpPr>
          <p:cNvPr id="100" name="Text 84"/>
          <p:cNvSpPr txBox="1"/>
          <p:nvPr/>
        </p:nvSpPr>
        <p:spPr>
          <a:xfrm>
            <a:off x="31749797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200" dirty="0"/>
          </a:p>
        </p:txBody>
      </p:sp>
      <p:sp>
        <p:nvSpPr>
          <p:cNvPr id="101" name="Text 85"/>
          <p:cNvSpPr txBox="1"/>
          <p:nvPr/>
        </p:nvSpPr>
        <p:spPr>
          <a:xfrm>
            <a:off x="31841237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items</a:t>
            </a:r>
            <a:endParaRPr lang="en-US" sz="1200" dirty="0"/>
          </a:p>
        </p:txBody>
      </p:sp>
      <p:sp>
        <p:nvSpPr>
          <p:cNvPr id="102" name="Text 86"/>
          <p:cNvSpPr txBox="1"/>
          <p:nvPr/>
        </p:nvSpPr>
        <p:spPr>
          <a:xfrm>
            <a:off x="32299351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200" dirty="0"/>
          </a:p>
        </p:txBody>
      </p:sp>
      <p:sp>
        <p:nvSpPr>
          <p:cNvPr id="103" name="Text 87"/>
          <p:cNvSpPr txBox="1"/>
          <p:nvPr/>
        </p:nvSpPr>
        <p:spPr>
          <a:xfrm>
            <a:off x="32573671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if</a:t>
            </a:r>
            <a:endParaRPr lang="en-US" sz="1200" dirty="0"/>
          </a:p>
        </p:txBody>
      </p:sp>
      <p:sp>
        <p:nvSpPr>
          <p:cNvPr id="104" name="Text 88"/>
          <p:cNvSpPr txBox="1"/>
          <p:nvPr/>
        </p:nvSpPr>
        <p:spPr>
          <a:xfrm>
            <a:off x="32756551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 &gt;</a:t>
            </a:r>
            <a:endParaRPr lang="en-US" sz="1200" dirty="0"/>
          </a:p>
        </p:txBody>
      </p:sp>
      <p:sp>
        <p:nvSpPr>
          <p:cNvPr id="105" name="Text 89"/>
          <p:cNvSpPr txBox="1"/>
          <p:nvPr/>
        </p:nvSpPr>
        <p:spPr>
          <a:xfrm>
            <a:off x="33213751" y="2400300"/>
            <a:ext cx="905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avg_cases</a:t>
            </a:r>
            <a:endParaRPr lang="en-US" sz="1200" dirty="0"/>
          </a:p>
        </p:txBody>
      </p:sp>
      <p:sp>
        <p:nvSpPr>
          <p:cNvPr id="106" name="Text 90"/>
          <p:cNvSpPr txBox="1"/>
          <p:nvPr/>
        </p:nvSpPr>
        <p:spPr>
          <a:xfrm>
            <a:off x="34036711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200" dirty="0"/>
          </a:p>
        </p:txBody>
      </p:sp>
      <p:sp>
        <p:nvSpPr>
          <p:cNvPr id="107" name="Text 91"/>
          <p:cNvSpPr txBox="1"/>
          <p:nvPr/>
        </p:nvSpPr>
        <p:spPr>
          <a:xfrm>
            <a:off x="34219591" y="2400300"/>
            <a:ext cx="15435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5단계: 결과 출력</a:t>
            </a:r>
            <a:endParaRPr lang="en-US" sz="1200" dirty="0"/>
          </a:p>
        </p:txBody>
      </p:sp>
      <p:sp>
        <p:nvSpPr>
          <p:cNvPr id="108" name="Text 92"/>
          <p:cNvSpPr txBox="1"/>
          <p:nvPr/>
        </p:nvSpPr>
        <p:spPr>
          <a:xfrm>
            <a:off x="35682631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109" name="Text 93"/>
          <p:cNvSpPr txBox="1"/>
          <p:nvPr/>
        </p:nvSpPr>
        <p:spPr>
          <a:xfrm>
            <a:off x="36139831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110" name="Text 94"/>
          <p:cNvSpPr txBox="1"/>
          <p:nvPr/>
        </p:nvSpPr>
        <p:spPr>
          <a:xfrm>
            <a:off x="36232186" y="2400300"/>
            <a:ext cx="26060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"=== 코로나19 확진자 현황 ==="</a:t>
            </a:r>
            <a:endParaRPr lang="en-US" sz="1200" dirty="0"/>
          </a:p>
        </p:txBody>
      </p:sp>
      <p:sp>
        <p:nvSpPr>
          <p:cNvPr id="111" name="Text 95"/>
          <p:cNvSpPr txBox="1"/>
          <p:nvPr/>
        </p:nvSpPr>
        <p:spPr>
          <a:xfrm>
            <a:off x="38731241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112" name="Text 96"/>
          <p:cNvSpPr txBox="1"/>
          <p:nvPr/>
        </p:nvSpPr>
        <p:spPr>
          <a:xfrm>
            <a:off x="38914121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113" name="Text 97"/>
          <p:cNvSpPr txBox="1"/>
          <p:nvPr/>
        </p:nvSpPr>
        <p:spPr>
          <a:xfrm>
            <a:off x="39371321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114" name="Text 98"/>
          <p:cNvSpPr txBox="1"/>
          <p:nvPr/>
        </p:nvSpPr>
        <p:spPr>
          <a:xfrm>
            <a:off x="39462761" y="2400300"/>
            <a:ext cx="25959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f"- 전체 국가 수: {</a:t>
            </a:r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}개국"</a:t>
            </a:r>
            <a:endParaRPr lang="en-US" sz="1200" dirty="0"/>
          </a:p>
        </p:txBody>
      </p:sp>
      <p:sp>
        <p:nvSpPr>
          <p:cNvPr id="115" name="Shape 99"/>
          <p:cNvSpPr/>
          <p:nvPr/>
        </p:nvSpPr>
        <p:spPr>
          <a:xfrm>
            <a:off x="41067533" y="2619756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6" name="Text 100"/>
          <p:cNvSpPr txBox="1"/>
          <p:nvPr/>
        </p:nvSpPr>
        <p:spPr>
          <a:xfrm>
            <a:off x="41029128" y="237195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117" name="Text 101"/>
          <p:cNvSpPr txBox="1"/>
          <p:nvPr/>
        </p:nvSpPr>
        <p:spPr>
          <a:xfrm>
            <a:off x="41955415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118" name="Text 102"/>
          <p:cNvSpPr txBox="1"/>
          <p:nvPr/>
        </p:nvSpPr>
        <p:spPr>
          <a:xfrm>
            <a:off x="42138295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119" name="Text 103"/>
          <p:cNvSpPr txBox="1"/>
          <p:nvPr/>
        </p:nvSpPr>
        <p:spPr>
          <a:xfrm>
            <a:off x="42595495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120" name="Text 104"/>
          <p:cNvSpPr txBox="1"/>
          <p:nvPr/>
        </p:nvSpPr>
        <p:spPr>
          <a:xfrm>
            <a:off x="42686935" y="2400300"/>
            <a:ext cx="23774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f"- 총 확진자: {</a:t>
            </a:r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:,}명"</a:t>
            </a:r>
            <a:endParaRPr lang="en-US" sz="1200" dirty="0"/>
          </a:p>
        </p:txBody>
      </p:sp>
      <p:sp>
        <p:nvSpPr>
          <p:cNvPr id="121" name="Shape 105"/>
          <p:cNvSpPr/>
          <p:nvPr/>
        </p:nvSpPr>
        <p:spPr>
          <a:xfrm>
            <a:off x="44047562" y="2619756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2" name="Text 106"/>
          <p:cNvSpPr txBox="1"/>
          <p:nvPr/>
        </p:nvSpPr>
        <p:spPr>
          <a:xfrm>
            <a:off x="44009158" y="237195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123" name="Text 107"/>
          <p:cNvSpPr txBox="1"/>
          <p:nvPr/>
        </p:nvSpPr>
        <p:spPr>
          <a:xfrm>
            <a:off x="44965620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124" name="Text 108"/>
          <p:cNvSpPr txBox="1"/>
          <p:nvPr/>
        </p:nvSpPr>
        <p:spPr>
          <a:xfrm>
            <a:off x="45148500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125" name="Text 109"/>
          <p:cNvSpPr txBox="1"/>
          <p:nvPr/>
        </p:nvSpPr>
        <p:spPr>
          <a:xfrm>
            <a:off x="45605700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126" name="Text 110"/>
          <p:cNvSpPr txBox="1"/>
          <p:nvPr/>
        </p:nvSpPr>
        <p:spPr>
          <a:xfrm>
            <a:off x="45697140" y="2400300"/>
            <a:ext cx="32616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f"- 평균 확진자: {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avg_cases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:,.0f}명"</a:t>
            </a:r>
            <a:endParaRPr lang="en-US" sz="1200" dirty="0"/>
          </a:p>
        </p:txBody>
      </p:sp>
      <p:sp>
        <p:nvSpPr>
          <p:cNvPr id="127" name="Text 111"/>
          <p:cNvSpPr txBox="1"/>
          <p:nvPr/>
        </p:nvSpPr>
        <p:spPr>
          <a:xfrm>
            <a:off x="47191270" y="2400300"/>
            <a:ext cx="905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avg_cases</a:t>
            </a:r>
            <a:endParaRPr lang="en-US" sz="1200" dirty="0"/>
          </a:p>
        </p:txBody>
      </p:sp>
      <p:sp>
        <p:nvSpPr>
          <p:cNvPr id="128" name="Text 112"/>
          <p:cNvSpPr txBox="1"/>
          <p:nvPr/>
        </p:nvSpPr>
        <p:spPr>
          <a:xfrm>
            <a:off x="48807014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129" name="Text 113"/>
          <p:cNvSpPr txBox="1"/>
          <p:nvPr/>
        </p:nvSpPr>
        <p:spPr>
          <a:xfrm>
            <a:off x="48989894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130" name="Text 114"/>
          <p:cNvSpPr txBox="1"/>
          <p:nvPr/>
        </p:nvSpPr>
        <p:spPr>
          <a:xfrm>
            <a:off x="49447094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131" name="Text 115"/>
          <p:cNvSpPr txBox="1"/>
          <p:nvPr/>
        </p:nvSpPr>
        <p:spPr>
          <a:xfrm>
            <a:off x="49538534" y="2400300"/>
            <a:ext cx="50465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f"- 최다: {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max_country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 ({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max_country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]:,}명)"</a:t>
            </a:r>
            <a:endParaRPr lang="en-US" sz="1200" dirty="0"/>
          </a:p>
        </p:txBody>
      </p:sp>
      <p:sp>
        <p:nvSpPr>
          <p:cNvPr id="132" name="Text 116"/>
          <p:cNvSpPr txBox="1"/>
          <p:nvPr/>
        </p:nvSpPr>
        <p:spPr>
          <a:xfrm>
            <a:off x="50483110" y="2400300"/>
            <a:ext cx="1086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max_country</a:t>
            </a:r>
            <a:endParaRPr lang="en-US" sz="1200" dirty="0"/>
          </a:p>
        </p:txBody>
      </p:sp>
      <p:sp>
        <p:nvSpPr>
          <p:cNvPr id="133" name="Text 117"/>
          <p:cNvSpPr txBox="1"/>
          <p:nvPr/>
        </p:nvSpPr>
        <p:spPr>
          <a:xfrm>
            <a:off x="51855624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</a:t>
            </a:r>
            <a:endParaRPr lang="en-US" sz="1200" dirty="0"/>
          </a:p>
        </p:txBody>
      </p:sp>
      <p:sp>
        <p:nvSpPr>
          <p:cNvPr id="134" name="Text 118"/>
          <p:cNvSpPr txBox="1"/>
          <p:nvPr/>
        </p:nvSpPr>
        <p:spPr>
          <a:xfrm>
            <a:off x="52404264" y="2400300"/>
            <a:ext cx="1086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max_country</a:t>
            </a:r>
            <a:endParaRPr lang="en-US" sz="1200" dirty="0"/>
          </a:p>
        </p:txBody>
      </p:sp>
      <p:sp>
        <p:nvSpPr>
          <p:cNvPr id="135" name="Text 119"/>
          <p:cNvSpPr txBox="1"/>
          <p:nvPr/>
        </p:nvSpPr>
        <p:spPr>
          <a:xfrm>
            <a:off x="54111449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136" name="Text 120"/>
          <p:cNvSpPr txBox="1"/>
          <p:nvPr/>
        </p:nvSpPr>
        <p:spPr>
          <a:xfrm>
            <a:off x="54294329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137" name="Text 121"/>
          <p:cNvSpPr txBox="1"/>
          <p:nvPr/>
        </p:nvSpPr>
        <p:spPr>
          <a:xfrm>
            <a:off x="54751529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138" name="Text 122"/>
          <p:cNvSpPr txBox="1"/>
          <p:nvPr/>
        </p:nvSpPr>
        <p:spPr>
          <a:xfrm>
            <a:off x="54842969" y="2400300"/>
            <a:ext cx="29041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f"- 평균 이상 국가: {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above_avg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}"</a:t>
            </a:r>
            <a:endParaRPr lang="en-US" sz="1200" dirty="0"/>
          </a:p>
        </p:txBody>
      </p:sp>
      <p:sp>
        <p:nvSpPr>
          <p:cNvPr id="139" name="Text 123"/>
          <p:cNvSpPr txBox="1"/>
          <p:nvPr/>
        </p:nvSpPr>
        <p:spPr>
          <a:xfrm>
            <a:off x="56581243" y="2400300"/>
            <a:ext cx="905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above_avg</a:t>
            </a:r>
            <a:endParaRPr lang="en-US" sz="1200" dirty="0"/>
          </a:p>
        </p:txBody>
      </p:sp>
      <p:sp>
        <p:nvSpPr>
          <p:cNvPr id="140" name="Text 124"/>
          <p:cNvSpPr txBox="1"/>
          <p:nvPr/>
        </p:nvSpPr>
        <p:spPr>
          <a:xfrm>
            <a:off x="57587083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141" name="Text 125"/>
          <p:cNvSpPr txBox="1"/>
          <p:nvPr/>
        </p:nvSpPr>
        <p:spPr>
          <a:xfrm>
            <a:off x="11697005" y="6400800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4950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456639"/>
            <a:ext cx="12191695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1638605" cy="3145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8446" y="228600"/>
            <a:ext cx="1267358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4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 02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3425" r="-3425" t="0" b="0"/>
          <a:stretch/>
        </p:blipFill>
        <p:spPr>
          <a:xfrm>
            <a:off x="609905" y="308153"/>
            <a:ext cx="142646" cy="1335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617220"/>
            <a:ext cx="41632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7일 이동평균 계산기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1036015"/>
            <a:ext cx="4543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리스트 슬라이싱과 반복문을 활용하여 데이터의 흐름을 분석해 봅시다.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0199218" y="555955"/>
            <a:ext cx="1543507" cy="342900"/>
          </a:xfrm>
          <a:prstGeom prst="roundRect">
            <a:avLst>
              <a:gd name="adj" fmla="val 59259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10351922" y="651053"/>
            <a:ext cx="114300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42118" y="555955"/>
            <a:ext cx="1105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moving_avg.py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7200" y="1798625"/>
            <a:ext cx="4172407" cy="3629254"/>
          </a:xfrm>
          <a:prstGeom prst="roundRect">
            <a:avLst>
              <a:gd name="adj" fmla="val 7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57200" y="1798625"/>
            <a:ext cx="47549" cy="3629254"/>
          </a:xfrm>
          <a:prstGeom prst="roundRect">
            <a:avLst>
              <a:gd name="adj" fmla="val 6056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000354" y="2027225"/>
            <a:ext cx="3514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Mission 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3349" y="2064715"/>
            <a:ext cx="190195" cy="190195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9" y="2426818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3349" y="2426818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076249" y="2407615"/>
            <a:ext cx="2792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21일간의 확진자 데이터를 준비합니다.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49" y="283464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3349" y="2834640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1076249" y="2815438"/>
            <a:ext cx="34006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문과 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range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사용하여 </a:t>
            </a:r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7일치 데이터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잘라냅니다(Slicing).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1076249" y="3354934"/>
            <a:ext cx="3323844" cy="800100"/>
          </a:xfrm>
          <a:prstGeom prst="roundRect">
            <a:avLst>
              <a:gd name="adj" fmla="val 1088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1492301" y="3545129"/>
            <a:ext cx="523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데이터: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1969618" y="3516782"/>
            <a:ext cx="419710" cy="247802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[0]</a:t>
            </a:r>
            <a:endParaRPr lang="en-US" sz="9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0066" y="3516782"/>
            <a:ext cx="1238098" cy="24780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360066" y="3516782"/>
            <a:ext cx="1239012" cy="2478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[1] [2] ... [7]</a:t>
            </a:r>
            <a:endParaRPr lang="en-US" sz="900" dirty="0"/>
          </a:p>
        </p:txBody>
      </p:sp>
      <p:sp>
        <p:nvSpPr>
          <p:cNvPr id="29" name="Text 20"/>
          <p:cNvSpPr txBox="1"/>
          <p:nvPr/>
        </p:nvSpPr>
        <p:spPr>
          <a:xfrm>
            <a:off x="3629254" y="3516782"/>
            <a:ext cx="419710" cy="247802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[8]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1143000" y="3833165"/>
            <a:ext cx="31912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i번째부터 7개를 묶어서 평균 계산</a:t>
            </a:r>
            <a:endParaRPr lang="en-US" sz="9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349" y="4318711"/>
            <a:ext cx="228600" cy="2286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33349" y="4318711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1076249" y="4299509"/>
            <a:ext cx="34006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평균을 구해 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moving_avg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리스트에 추가합니다. (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round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함수 사용)</a:t>
            </a:r>
            <a:endParaRPr lang="en-US" sz="11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349" y="4962449"/>
            <a:ext cx="228600" cy="22860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33349" y="4962449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25"/>
          <p:cNvSpPr txBox="1"/>
          <p:nvPr/>
        </p:nvSpPr>
        <p:spPr>
          <a:xfrm>
            <a:off x="1076249" y="4943246"/>
            <a:ext cx="34399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높은 이동평균 값과 그 시작일을 찾으세요.</a:t>
            </a:r>
            <a:endParaRPr lang="en-US" sz="1100" dirty="0"/>
          </a:p>
        </p:txBody>
      </p:sp>
      <p:sp>
        <p:nvSpPr>
          <p:cNvPr id="37" name="Shape 26"/>
          <p:cNvSpPr/>
          <p:nvPr/>
        </p:nvSpPr>
        <p:spPr>
          <a:xfrm>
            <a:off x="457200" y="5648249"/>
            <a:ext cx="4172407" cy="895198"/>
          </a:xfrm>
          <a:prstGeom prst="roundRect">
            <a:avLst>
              <a:gd name="adj" fmla="val 869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00" b="-100"/>
          <a:stretch/>
        </p:blipFill>
        <p:spPr>
          <a:xfrm>
            <a:off x="619049" y="5848502"/>
            <a:ext cx="114300" cy="152705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847649" y="5810098"/>
            <a:ext cx="3734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Hint</a:t>
            </a:r>
            <a:endParaRPr lang="en-US" sz="1000" dirty="0"/>
          </a:p>
        </p:txBody>
      </p:sp>
      <p:sp>
        <p:nvSpPr>
          <p:cNvPr id="40" name="Text 28"/>
          <p:cNvSpPr txBox="1"/>
          <p:nvPr/>
        </p:nvSpPr>
        <p:spPr>
          <a:xfrm>
            <a:off x="847649" y="6038698"/>
            <a:ext cx="3696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리스트 슬라이싱 문법 </a:t>
            </a:r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list[start:end]</a:t>
            </a:r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</a:t>
            </a:r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end</a:t>
            </a:r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포함되지 않습니다. 7개를 가져오려면 </a:t>
            </a:r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[i : i+7]</a:t>
            </a:r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사용하세요. </a:t>
            </a:r>
            <a:endParaRPr lang="en-US" sz="9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931359" y="1798625"/>
            <a:ext cx="6803136" cy="4754880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4931359" y="1798625"/>
            <a:ext cx="6810451" cy="352044"/>
          </a:xfrm>
          <a:prstGeom prst="roundRect">
            <a:avLst>
              <a:gd name="adj" fmla="val 84240"/>
            </a:avLst>
          </a:prstGeom>
          <a:solidFill>
            <a:srgbClr val="252526"/>
          </a:solidFill>
          <a:ln/>
        </p:spPr>
      </p:sp>
      <p:sp>
        <p:nvSpPr>
          <p:cNvPr id="43" name="Shape 30"/>
          <p:cNvSpPr/>
          <p:nvPr/>
        </p:nvSpPr>
        <p:spPr>
          <a:xfrm>
            <a:off x="4931359" y="2141525"/>
            <a:ext cx="6810451" cy="9144"/>
          </a:xfrm>
          <a:prstGeom prst="roundRect">
            <a:avLst>
              <a:gd name="adj" fmla="val 3243243"/>
            </a:avLst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Shape 31"/>
          <p:cNvSpPr/>
          <p:nvPr/>
        </p:nvSpPr>
        <p:spPr>
          <a:xfrm>
            <a:off x="5084064" y="1918411"/>
            <a:ext cx="95098" cy="9509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2"/>
          <p:cNvSpPr/>
          <p:nvPr/>
        </p:nvSpPr>
        <p:spPr>
          <a:xfrm>
            <a:off x="5255057" y="1918411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>
            <a:off x="5426964" y="1918411"/>
            <a:ext cx="95098" cy="9509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4"/>
          <p:cNvSpPr txBox="1"/>
          <p:nvPr/>
        </p:nvSpPr>
        <p:spPr>
          <a:xfrm>
            <a:off x="5674766" y="1890065"/>
            <a:ext cx="838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analysis.py</a:t>
            </a:r>
            <a:endParaRPr lang="en-US" sz="900" dirty="0"/>
          </a:p>
        </p:txBody>
      </p:sp>
      <p:sp>
        <p:nvSpPr>
          <p:cNvPr id="48" name="Text 35"/>
          <p:cNvSpPr txBox="1"/>
          <p:nvPr/>
        </p:nvSpPr>
        <p:spPr>
          <a:xfrm>
            <a:off x="5159959" y="2400300"/>
            <a:ext cx="2800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21일간 확진자 데이터 (일부 생략)</a:t>
            </a:r>
            <a:endParaRPr lang="en-US" sz="1100" dirty="0"/>
          </a:p>
        </p:txBody>
      </p:sp>
      <p:sp>
        <p:nvSpPr>
          <p:cNvPr id="49" name="Text 36"/>
          <p:cNvSpPr txBox="1"/>
          <p:nvPr/>
        </p:nvSpPr>
        <p:spPr>
          <a:xfrm>
            <a:off x="7764170" y="2400300"/>
            <a:ext cx="771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cases_21</a:t>
            </a:r>
            <a:endParaRPr lang="en-US" sz="1100" dirty="0"/>
          </a:p>
        </p:txBody>
      </p:sp>
      <p:sp>
        <p:nvSpPr>
          <p:cNvPr id="50" name="Text 37"/>
          <p:cNvSpPr txBox="1"/>
          <p:nvPr/>
        </p:nvSpPr>
        <p:spPr>
          <a:xfrm>
            <a:off x="8459114" y="2400300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[</a:t>
            </a:r>
            <a:endParaRPr lang="en-US" sz="1100" dirty="0"/>
          </a:p>
        </p:txBody>
      </p:sp>
      <p:sp>
        <p:nvSpPr>
          <p:cNvPr id="51" name="Text 38"/>
          <p:cNvSpPr txBox="1"/>
          <p:nvPr/>
        </p:nvSpPr>
        <p:spPr>
          <a:xfrm>
            <a:off x="8892540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523</a:t>
            </a:r>
            <a:endParaRPr lang="en-US" sz="1100" dirty="0"/>
          </a:p>
        </p:txBody>
      </p:sp>
      <p:sp>
        <p:nvSpPr>
          <p:cNvPr id="52" name="Text 39"/>
          <p:cNvSpPr txBox="1"/>
          <p:nvPr/>
        </p:nvSpPr>
        <p:spPr>
          <a:xfrm>
            <a:off x="9153144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53" name="Text 40"/>
          <p:cNvSpPr txBox="1"/>
          <p:nvPr/>
        </p:nvSpPr>
        <p:spPr>
          <a:xfrm>
            <a:off x="9326880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681</a:t>
            </a:r>
            <a:endParaRPr lang="en-US" sz="1100" dirty="0"/>
          </a:p>
        </p:txBody>
      </p:sp>
      <p:sp>
        <p:nvSpPr>
          <p:cNvPr id="54" name="Text 41"/>
          <p:cNvSpPr txBox="1"/>
          <p:nvPr/>
        </p:nvSpPr>
        <p:spPr>
          <a:xfrm>
            <a:off x="9587484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55" name="Text 42"/>
          <p:cNvSpPr txBox="1"/>
          <p:nvPr/>
        </p:nvSpPr>
        <p:spPr>
          <a:xfrm>
            <a:off x="9761220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445</a:t>
            </a:r>
            <a:endParaRPr lang="en-US" sz="1100" dirty="0"/>
          </a:p>
        </p:txBody>
      </p:sp>
      <p:sp>
        <p:nvSpPr>
          <p:cNvPr id="56" name="Text 43"/>
          <p:cNvSpPr txBox="1"/>
          <p:nvPr/>
        </p:nvSpPr>
        <p:spPr>
          <a:xfrm>
            <a:off x="10021824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57" name="Text 44"/>
          <p:cNvSpPr txBox="1"/>
          <p:nvPr/>
        </p:nvSpPr>
        <p:spPr>
          <a:xfrm>
            <a:off x="10195560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892</a:t>
            </a:r>
            <a:endParaRPr lang="en-US" sz="1100" dirty="0"/>
          </a:p>
        </p:txBody>
      </p:sp>
      <p:sp>
        <p:nvSpPr>
          <p:cNvPr id="58" name="Text 45"/>
          <p:cNvSpPr txBox="1"/>
          <p:nvPr/>
        </p:nvSpPr>
        <p:spPr>
          <a:xfrm>
            <a:off x="10456164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59" name="Text 46"/>
          <p:cNvSpPr txBox="1"/>
          <p:nvPr/>
        </p:nvSpPr>
        <p:spPr>
          <a:xfrm>
            <a:off x="10629900" y="2400300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1023</a:t>
            </a:r>
            <a:endParaRPr lang="en-US" sz="1100" dirty="0"/>
          </a:p>
        </p:txBody>
      </p:sp>
      <p:sp>
        <p:nvSpPr>
          <p:cNvPr id="60" name="Text 47"/>
          <p:cNvSpPr txBox="1"/>
          <p:nvPr/>
        </p:nvSpPr>
        <p:spPr>
          <a:xfrm>
            <a:off x="10976458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61" name="Text 48"/>
          <p:cNvSpPr txBox="1"/>
          <p:nvPr/>
        </p:nvSpPr>
        <p:spPr>
          <a:xfrm>
            <a:off x="11150194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756</a:t>
            </a:r>
            <a:endParaRPr lang="en-US" sz="1100" dirty="0"/>
          </a:p>
        </p:txBody>
      </p:sp>
      <p:sp>
        <p:nvSpPr>
          <p:cNvPr id="62" name="Text 49"/>
          <p:cNvSpPr txBox="1"/>
          <p:nvPr/>
        </p:nvSpPr>
        <p:spPr>
          <a:xfrm>
            <a:off x="11410798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63" name="Text 50"/>
          <p:cNvSpPr txBox="1"/>
          <p:nvPr/>
        </p:nvSpPr>
        <p:spPr>
          <a:xfrm>
            <a:off x="11584534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634</a:t>
            </a:r>
            <a:endParaRPr lang="en-US" sz="1100" dirty="0"/>
          </a:p>
        </p:txBody>
      </p:sp>
      <p:sp>
        <p:nvSpPr>
          <p:cNvPr id="64" name="Text 51"/>
          <p:cNvSpPr txBox="1"/>
          <p:nvPr/>
        </p:nvSpPr>
        <p:spPr>
          <a:xfrm>
            <a:off x="11845138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65" name="Text 52"/>
          <p:cNvSpPr txBox="1"/>
          <p:nvPr/>
        </p:nvSpPr>
        <p:spPr>
          <a:xfrm>
            <a:off x="12018874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812</a:t>
            </a:r>
            <a:endParaRPr lang="en-US" sz="1100" dirty="0"/>
          </a:p>
        </p:txBody>
      </p:sp>
      <p:sp>
        <p:nvSpPr>
          <p:cNvPr id="66" name="Text 53"/>
          <p:cNvSpPr txBox="1"/>
          <p:nvPr/>
        </p:nvSpPr>
        <p:spPr>
          <a:xfrm>
            <a:off x="12279478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67" name="Text 54"/>
          <p:cNvSpPr txBox="1"/>
          <p:nvPr/>
        </p:nvSpPr>
        <p:spPr>
          <a:xfrm>
            <a:off x="12453214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567</a:t>
            </a:r>
            <a:endParaRPr lang="en-US" sz="1100" dirty="0"/>
          </a:p>
        </p:txBody>
      </p:sp>
      <p:sp>
        <p:nvSpPr>
          <p:cNvPr id="68" name="Text 55"/>
          <p:cNvSpPr txBox="1"/>
          <p:nvPr/>
        </p:nvSpPr>
        <p:spPr>
          <a:xfrm>
            <a:off x="12712903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69" name="Text 56"/>
          <p:cNvSpPr txBox="1"/>
          <p:nvPr/>
        </p:nvSpPr>
        <p:spPr>
          <a:xfrm>
            <a:off x="12886639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934</a:t>
            </a:r>
            <a:endParaRPr lang="en-US" sz="1100" dirty="0"/>
          </a:p>
        </p:txBody>
      </p:sp>
      <p:sp>
        <p:nvSpPr>
          <p:cNvPr id="70" name="Text 57"/>
          <p:cNvSpPr txBox="1"/>
          <p:nvPr/>
        </p:nvSpPr>
        <p:spPr>
          <a:xfrm>
            <a:off x="13147243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71" name="Text 58"/>
          <p:cNvSpPr txBox="1"/>
          <p:nvPr/>
        </p:nvSpPr>
        <p:spPr>
          <a:xfrm>
            <a:off x="13320979" y="2400300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1105</a:t>
            </a:r>
            <a:endParaRPr lang="en-US" sz="1100" dirty="0"/>
          </a:p>
        </p:txBody>
      </p:sp>
      <p:sp>
        <p:nvSpPr>
          <p:cNvPr id="72" name="Text 59"/>
          <p:cNvSpPr txBox="1"/>
          <p:nvPr/>
        </p:nvSpPr>
        <p:spPr>
          <a:xfrm>
            <a:off x="13668451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73" name="Text 60"/>
          <p:cNvSpPr txBox="1"/>
          <p:nvPr/>
        </p:nvSpPr>
        <p:spPr>
          <a:xfrm>
            <a:off x="13842187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678</a:t>
            </a:r>
            <a:endParaRPr lang="en-US" sz="1100" dirty="0"/>
          </a:p>
        </p:txBody>
      </p:sp>
      <p:sp>
        <p:nvSpPr>
          <p:cNvPr id="74" name="Text 61"/>
          <p:cNvSpPr txBox="1"/>
          <p:nvPr/>
        </p:nvSpPr>
        <p:spPr>
          <a:xfrm>
            <a:off x="14102791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75" name="Text 62"/>
          <p:cNvSpPr txBox="1"/>
          <p:nvPr/>
        </p:nvSpPr>
        <p:spPr>
          <a:xfrm>
            <a:off x="14276527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489</a:t>
            </a:r>
            <a:endParaRPr lang="en-US" sz="1100" dirty="0"/>
          </a:p>
        </p:txBody>
      </p:sp>
      <p:sp>
        <p:nvSpPr>
          <p:cNvPr id="76" name="Text 63"/>
          <p:cNvSpPr txBox="1"/>
          <p:nvPr/>
        </p:nvSpPr>
        <p:spPr>
          <a:xfrm>
            <a:off x="14537131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77" name="Text 64"/>
          <p:cNvSpPr txBox="1"/>
          <p:nvPr/>
        </p:nvSpPr>
        <p:spPr>
          <a:xfrm>
            <a:off x="14710867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723</a:t>
            </a:r>
            <a:endParaRPr lang="en-US" sz="1100" dirty="0"/>
          </a:p>
        </p:txBody>
      </p:sp>
      <p:sp>
        <p:nvSpPr>
          <p:cNvPr id="78" name="Text 65"/>
          <p:cNvSpPr txBox="1"/>
          <p:nvPr/>
        </p:nvSpPr>
        <p:spPr>
          <a:xfrm>
            <a:off x="14970557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79" name="Text 66"/>
          <p:cNvSpPr txBox="1"/>
          <p:nvPr/>
        </p:nvSpPr>
        <p:spPr>
          <a:xfrm>
            <a:off x="15144293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945</a:t>
            </a:r>
            <a:endParaRPr lang="en-US" sz="1100" dirty="0"/>
          </a:p>
        </p:txBody>
      </p:sp>
      <p:sp>
        <p:nvSpPr>
          <p:cNvPr id="80" name="Text 67"/>
          <p:cNvSpPr txBox="1"/>
          <p:nvPr/>
        </p:nvSpPr>
        <p:spPr>
          <a:xfrm>
            <a:off x="15404897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81" name="Text 68"/>
          <p:cNvSpPr txBox="1"/>
          <p:nvPr/>
        </p:nvSpPr>
        <p:spPr>
          <a:xfrm>
            <a:off x="15578633" y="2400300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1067</a:t>
            </a:r>
            <a:endParaRPr lang="en-US" sz="1100" dirty="0"/>
          </a:p>
        </p:txBody>
      </p:sp>
      <p:sp>
        <p:nvSpPr>
          <p:cNvPr id="82" name="Text 69"/>
          <p:cNvSpPr txBox="1"/>
          <p:nvPr/>
        </p:nvSpPr>
        <p:spPr>
          <a:xfrm>
            <a:off x="15926105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83" name="Text 70"/>
          <p:cNvSpPr txBox="1"/>
          <p:nvPr/>
        </p:nvSpPr>
        <p:spPr>
          <a:xfrm>
            <a:off x="16099841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834</a:t>
            </a:r>
            <a:endParaRPr lang="en-US" sz="1100" dirty="0"/>
          </a:p>
        </p:txBody>
      </p:sp>
      <p:sp>
        <p:nvSpPr>
          <p:cNvPr id="84" name="Text 71"/>
          <p:cNvSpPr txBox="1"/>
          <p:nvPr/>
        </p:nvSpPr>
        <p:spPr>
          <a:xfrm>
            <a:off x="16360445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85" name="Text 72"/>
          <p:cNvSpPr txBox="1"/>
          <p:nvPr/>
        </p:nvSpPr>
        <p:spPr>
          <a:xfrm>
            <a:off x="16534181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612</a:t>
            </a:r>
            <a:endParaRPr lang="en-US" sz="1100" dirty="0"/>
          </a:p>
        </p:txBody>
      </p:sp>
      <p:sp>
        <p:nvSpPr>
          <p:cNvPr id="86" name="Text 73"/>
          <p:cNvSpPr txBox="1"/>
          <p:nvPr/>
        </p:nvSpPr>
        <p:spPr>
          <a:xfrm>
            <a:off x="16794785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87" name="Text 74"/>
          <p:cNvSpPr txBox="1"/>
          <p:nvPr/>
        </p:nvSpPr>
        <p:spPr>
          <a:xfrm>
            <a:off x="16967606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778</a:t>
            </a:r>
            <a:endParaRPr lang="en-US" sz="1100" dirty="0"/>
          </a:p>
        </p:txBody>
      </p:sp>
      <p:sp>
        <p:nvSpPr>
          <p:cNvPr id="88" name="Text 75"/>
          <p:cNvSpPr txBox="1"/>
          <p:nvPr/>
        </p:nvSpPr>
        <p:spPr>
          <a:xfrm>
            <a:off x="17228210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89" name="Text 76"/>
          <p:cNvSpPr txBox="1"/>
          <p:nvPr/>
        </p:nvSpPr>
        <p:spPr>
          <a:xfrm>
            <a:off x="17401946" y="2400300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1023</a:t>
            </a:r>
            <a:endParaRPr lang="en-US" sz="1100" dirty="0"/>
          </a:p>
        </p:txBody>
      </p:sp>
      <p:sp>
        <p:nvSpPr>
          <p:cNvPr id="90" name="Text 77"/>
          <p:cNvSpPr txBox="1"/>
          <p:nvPr/>
        </p:nvSpPr>
        <p:spPr>
          <a:xfrm>
            <a:off x="17749418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91" name="Text 78"/>
          <p:cNvSpPr txBox="1"/>
          <p:nvPr/>
        </p:nvSpPr>
        <p:spPr>
          <a:xfrm>
            <a:off x="17923154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889</a:t>
            </a:r>
            <a:endParaRPr lang="en-US" sz="1100" dirty="0"/>
          </a:p>
        </p:txBody>
      </p:sp>
      <p:sp>
        <p:nvSpPr>
          <p:cNvPr id="92" name="Text 79"/>
          <p:cNvSpPr txBox="1"/>
          <p:nvPr/>
        </p:nvSpPr>
        <p:spPr>
          <a:xfrm>
            <a:off x="18183758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100" dirty="0"/>
          </a:p>
        </p:txBody>
      </p:sp>
      <p:sp>
        <p:nvSpPr>
          <p:cNvPr id="93" name="Text 80"/>
          <p:cNvSpPr txBox="1"/>
          <p:nvPr/>
        </p:nvSpPr>
        <p:spPr>
          <a:xfrm>
            <a:off x="18444362" y="2400300"/>
            <a:ext cx="952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moving_avg</a:t>
            </a:r>
            <a:endParaRPr lang="en-US" sz="1100" dirty="0"/>
          </a:p>
        </p:txBody>
      </p:sp>
      <p:sp>
        <p:nvSpPr>
          <p:cNvPr id="94" name="Text 81"/>
          <p:cNvSpPr txBox="1"/>
          <p:nvPr/>
        </p:nvSpPr>
        <p:spPr>
          <a:xfrm>
            <a:off x="19312128" y="2400300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[]</a:t>
            </a:r>
            <a:endParaRPr lang="en-US" sz="1100" dirty="0"/>
          </a:p>
        </p:txBody>
      </p:sp>
      <p:sp>
        <p:nvSpPr>
          <p:cNvPr id="95" name="Text 82"/>
          <p:cNvSpPr txBox="1"/>
          <p:nvPr/>
        </p:nvSpPr>
        <p:spPr>
          <a:xfrm>
            <a:off x="19833336" y="2400300"/>
            <a:ext cx="3010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1. 반복문 범위 설정 (전체 길이 - 6)</a:t>
            </a:r>
            <a:endParaRPr lang="en-US" sz="1100" dirty="0"/>
          </a:p>
        </p:txBody>
      </p:sp>
      <p:sp>
        <p:nvSpPr>
          <p:cNvPr id="96" name="Text 83"/>
          <p:cNvSpPr txBox="1"/>
          <p:nvPr/>
        </p:nvSpPr>
        <p:spPr>
          <a:xfrm>
            <a:off x="22726498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</a:t>
            </a:r>
            <a:endParaRPr lang="en-US" sz="1100" dirty="0"/>
          </a:p>
        </p:txBody>
      </p:sp>
      <p:sp>
        <p:nvSpPr>
          <p:cNvPr id="97" name="Text 84"/>
          <p:cNvSpPr txBox="1"/>
          <p:nvPr/>
        </p:nvSpPr>
        <p:spPr>
          <a:xfrm>
            <a:off x="22987102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</a:t>
            </a:r>
            <a:endParaRPr lang="en-US" sz="1100" dirty="0"/>
          </a:p>
        </p:txBody>
      </p:sp>
      <p:sp>
        <p:nvSpPr>
          <p:cNvPr id="98" name="Text 85"/>
          <p:cNvSpPr txBox="1"/>
          <p:nvPr/>
        </p:nvSpPr>
        <p:spPr>
          <a:xfrm>
            <a:off x="23073970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endParaRPr lang="en-US" sz="1100" dirty="0"/>
          </a:p>
        </p:txBody>
      </p:sp>
      <p:sp>
        <p:nvSpPr>
          <p:cNvPr id="99" name="Text 86"/>
          <p:cNvSpPr txBox="1"/>
          <p:nvPr/>
        </p:nvSpPr>
        <p:spPr>
          <a:xfrm>
            <a:off x="23247706" y="2400300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range</a:t>
            </a:r>
            <a:endParaRPr lang="en-US" sz="1100" dirty="0"/>
          </a:p>
        </p:txBody>
      </p:sp>
      <p:sp>
        <p:nvSpPr>
          <p:cNvPr id="100" name="Text 87"/>
          <p:cNvSpPr txBox="1"/>
          <p:nvPr/>
        </p:nvSpPr>
        <p:spPr>
          <a:xfrm>
            <a:off x="23682046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101" name="Text 88"/>
          <p:cNvSpPr txBox="1"/>
          <p:nvPr/>
        </p:nvSpPr>
        <p:spPr>
          <a:xfrm>
            <a:off x="23768914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len</a:t>
            </a:r>
            <a:endParaRPr lang="en-US" sz="1100" dirty="0"/>
          </a:p>
        </p:txBody>
      </p:sp>
      <p:sp>
        <p:nvSpPr>
          <p:cNvPr id="102" name="Text 89"/>
          <p:cNvSpPr txBox="1"/>
          <p:nvPr/>
        </p:nvSpPr>
        <p:spPr>
          <a:xfrm>
            <a:off x="24029518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103" name="Text 90"/>
          <p:cNvSpPr txBox="1"/>
          <p:nvPr/>
        </p:nvSpPr>
        <p:spPr>
          <a:xfrm>
            <a:off x="24116386" y="2400300"/>
            <a:ext cx="771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cases_21</a:t>
            </a:r>
            <a:endParaRPr lang="en-US" sz="1100" dirty="0"/>
          </a:p>
        </p:txBody>
      </p:sp>
      <p:sp>
        <p:nvSpPr>
          <p:cNvPr id="104" name="Text 91"/>
          <p:cNvSpPr txBox="1"/>
          <p:nvPr/>
        </p:nvSpPr>
        <p:spPr>
          <a:xfrm>
            <a:off x="24810415" y="2400300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-</a:t>
            </a:r>
            <a:endParaRPr lang="en-US" sz="1100" dirty="0"/>
          </a:p>
        </p:txBody>
      </p:sp>
      <p:sp>
        <p:nvSpPr>
          <p:cNvPr id="105" name="Text 92"/>
          <p:cNvSpPr txBox="1"/>
          <p:nvPr/>
        </p:nvSpPr>
        <p:spPr>
          <a:xfrm>
            <a:off x="25157887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</a:t>
            </a:r>
            <a:endParaRPr lang="en-US" sz="1100" dirty="0"/>
          </a:p>
        </p:txBody>
      </p:sp>
      <p:sp>
        <p:nvSpPr>
          <p:cNvPr id="106" name="Text 93"/>
          <p:cNvSpPr txBox="1"/>
          <p:nvPr/>
        </p:nvSpPr>
        <p:spPr>
          <a:xfrm>
            <a:off x="25244755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):</a:t>
            </a:r>
            <a:endParaRPr lang="en-US" sz="1100" dirty="0"/>
          </a:p>
        </p:txBody>
      </p:sp>
      <p:sp>
        <p:nvSpPr>
          <p:cNvPr id="107" name="Text 94"/>
          <p:cNvSpPr txBox="1"/>
          <p:nvPr/>
        </p:nvSpPr>
        <p:spPr>
          <a:xfrm>
            <a:off x="25505359" y="2400300"/>
            <a:ext cx="32580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슬라이싱: i번째부터 7개 데이터 추출</a:t>
            </a:r>
            <a:endParaRPr lang="en-US" sz="1100" dirty="0"/>
          </a:p>
        </p:txBody>
      </p:sp>
      <p:sp>
        <p:nvSpPr>
          <p:cNvPr id="108" name="Text 95"/>
          <p:cNvSpPr txBox="1"/>
          <p:nvPr/>
        </p:nvSpPr>
        <p:spPr>
          <a:xfrm>
            <a:off x="28572257" y="2400300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window</a:t>
            </a:r>
            <a:endParaRPr lang="en-US" sz="1100" dirty="0"/>
          </a:p>
        </p:txBody>
      </p:sp>
      <p:sp>
        <p:nvSpPr>
          <p:cNvPr id="109" name="Text 96"/>
          <p:cNvSpPr txBox="1"/>
          <p:nvPr/>
        </p:nvSpPr>
        <p:spPr>
          <a:xfrm>
            <a:off x="29093465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100" dirty="0"/>
          </a:p>
        </p:txBody>
      </p:sp>
      <p:sp>
        <p:nvSpPr>
          <p:cNvPr id="110" name="Text 97"/>
          <p:cNvSpPr txBox="1"/>
          <p:nvPr/>
        </p:nvSpPr>
        <p:spPr>
          <a:xfrm>
            <a:off x="29354069" y="2400300"/>
            <a:ext cx="771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cases_21</a:t>
            </a:r>
            <a:endParaRPr lang="en-US" sz="1100" dirty="0"/>
          </a:p>
        </p:txBody>
      </p:sp>
      <p:sp>
        <p:nvSpPr>
          <p:cNvPr id="111" name="Text 98"/>
          <p:cNvSpPr txBox="1"/>
          <p:nvPr/>
        </p:nvSpPr>
        <p:spPr>
          <a:xfrm>
            <a:off x="30048098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100" dirty="0"/>
          </a:p>
        </p:txBody>
      </p:sp>
      <p:sp>
        <p:nvSpPr>
          <p:cNvPr id="112" name="Text 99"/>
          <p:cNvSpPr txBox="1"/>
          <p:nvPr/>
        </p:nvSpPr>
        <p:spPr>
          <a:xfrm>
            <a:off x="30134966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</a:t>
            </a:r>
            <a:endParaRPr lang="en-US" sz="1100" dirty="0"/>
          </a:p>
        </p:txBody>
      </p:sp>
      <p:sp>
        <p:nvSpPr>
          <p:cNvPr id="113" name="Text 100"/>
          <p:cNvSpPr txBox="1"/>
          <p:nvPr/>
        </p:nvSpPr>
        <p:spPr>
          <a:xfrm>
            <a:off x="30221834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100" dirty="0"/>
          </a:p>
        </p:txBody>
      </p:sp>
      <p:sp>
        <p:nvSpPr>
          <p:cNvPr id="114" name="Shape 101"/>
          <p:cNvSpPr/>
          <p:nvPr/>
        </p:nvSpPr>
        <p:spPr>
          <a:xfrm>
            <a:off x="30501641" y="2609698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5" name="Text 102"/>
          <p:cNvSpPr txBox="1"/>
          <p:nvPr/>
        </p:nvSpPr>
        <p:spPr>
          <a:xfrm>
            <a:off x="30463236" y="2371954"/>
            <a:ext cx="4572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100" dirty="0"/>
          </a:p>
        </p:txBody>
      </p:sp>
      <p:sp>
        <p:nvSpPr>
          <p:cNvPr id="116" name="Text 103"/>
          <p:cNvSpPr txBox="1"/>
          <p:nvPr/>
        </p:nvSpPr>
        <p:spPr>
          <a:xfrm>
            <a:off x="30902148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100" dirty="0"/>
          </a:p>
        </p:txBody>
      </p:sp>
      <p:sp>
        <p:nvSpPr>
          <p:cNvPr id="117" name="Text 104"/>
          <p:cNvSpPr txBox="1"/>
          <p:nvPr/>
        </p:nvSpPr>
        <p:spPr>
          <a:xfrm>
            <a:off x="31075884" y="2400300"/>
            <a:ext cx="208026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평균 계산 (합계 / 7)</a:t>
            </a:r>
            <a:endParaRPr lang="en-US" sz="1100" dirty="0"/>
          </a:p>
        </p:txBody>
      </p:sp>
      <p:sp>
        <p:nvSpPr>
          <p:cNvPr id="118" name="Text 105"/>
          <p:cNvSpPr txBox="1"/>
          <p:nvPr/>
        </p:nvSpPr>
        <p:spPr>
          <a:xfrm>
            <a:off x="33072019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avg</a:t>
            </a:r>
            <a:endParaRPr lang="en-US" sz="1100" dirty="0"/>
          </a:p>
        </p:txBody>
      </p:sp>
      <p:sp>
        <p:nvSpPr>
          <p:cNvPr id="119" name="Text 106"/>
          <p:cNvSpPr txBox="1"/>
          <p:nvPr/>
        </p:nvSpPr>
        <p:spPr>
          <a:xfrm>
            <a:off x="33332623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100" dirty="0"/>
          </a:p>
        </p:txBody>
      </p:sp>
      <p:sp>
        <p:nvSpPr>
          <p:cNvPr id="120" name="Text 107"/>
          <p:cNvSpPr txBox="1"/>
          <p:nvPr/>
        </p:nvSpPr>
        <p:spPr>
          <a:xfrm>
            <a:off x="33593227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sum</a:t>
            </a:r>
            <a:endParaRPr lang="en-US" sz="1100" dirty="0"/>
          </a:p>
        </p:txBody>
      </p:sp>
      <p:sp>
        <p:nvSpPr>
          <p:cNvPr id="121" name="Text 108"/>
          <p:cNvSpPr txBox="1"/>
          <p:nvPr/>
        </p:nvSpPr>
        <p:spPr>
          <a:xfrm>
            <a:off x="33852917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122" name="Shape 109"/>
          <p:cNvSpPr/>
          <p:nvPr/>
        </p:nvSpPr>
        <p:spPr>
          <a:xfrm>
            <a:off x="33958987" y="2609698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3" name="Text 110"/>
          <p:cNvSpPr txBox="1"/>
          <p:nvPr/>
        </p:nvSpPr>
        <p:spPr>
          <a:xfrm>
            <a:off x="33921497" y="2371954"/>
            <a:ext cx="4572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100" dirty="0"/>
          </a:p>
        </p:txBody>
      </p:sp>
      <p:sp>
        <p:nvSpPr>
          <p:cNvPr id="124" name="Text 111"/>
          <p:cNvSpPr txBox="1"/>
          <p:nvPr/>
        </p:nvSpPr>
        <p:spPr>
          <a:xfrm>
            <a:off x="34359494" y="2400300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/</a:t>
            </a:r>
            <a:endParaRPr lang="en-US" sz="1100" dirty="0"/>
          </a:p>
        </p:txBody>
      </p:sp>
      <p:sp>
        <p:nvSpPr>
          <p:cNvPr id="125" name="Text 112"/>
          <p:cNvSpPr txBox="1"/>
          <p:nvPr/>
        </p:nvSpPr>
        <p:spPr>
          <a:xfrm>
            <a:off x="34706966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</a:t>
            </a:r>
            <a:endParaRPr lang="en-US" sz="1100" dirty="0"/>
          </a:p>
        </p:txBody>
      </p:sp>
      <p:sp>
        <p:nvSpPr>
          <p:cNvPr id="126" name="Text 113"/>
          <p:cNvSpPr txBox="1"/>
          <p:nvPr/>
        </p:nvSpPr>
        <p:spPr>
          <a:xfrm>
            <a:off x="34793834" y="2400300"/>
            <a:ext cx="32580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4. 리스트에 추가 (소수점 1자리 반올림)</a:t>
            </a:r>
            <a:endParaRPr lang="en-US" sz="1100" dirty="0"/>
          </a:p>
        </p:txBody>
      </p:sp>
      <p:sp>
        <p:nvSpPr>
          <p:cNvPr id="127" name="Text 114"/>
          <p:cNvSpPr txBox="1"/>
          <p:nvPr/>
        </p:nvSpPr>
        <p:spPr>
          <a:xfrm>
            <a:off x="37860732" y="2400300"/>
            <a:ext cx="952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moving_avg</a:t>
            </a:r>
            <a:endParaRPr lang="en-US" sz="1100" dirty="0"/>
          </a:p>
        </p:txBody>
      </p:sp>
      <p:sp>
        <p:nvSpPr>
          <p:cNvPr id="128" name="Text 115"/>
          <p:cNvSpPr txBox="1"/>
          <p:nvPr/>
        </p:nvSpPr>
        <p:spPr>
          <a:xfrm>
            <a:off x="38728498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100" dirty="0"/>
          </a:p>
        </p:txBody>
      </p:sp>
      <p:sp>
        <p:nvSpPr>
          <p:cNvPr id="129" name="Text 116"/>
          <p:cNvSpPr txBox="1"/>
          <p:nvPr/>
        </p:nvSpPr>
        <p:spPr>
          <a:xfrm>
            <a:off x="38815366" y="2400300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append</a:t>
            </a:r>
            <a:endParaRPr lang="en-US" sz="1100" dirty="0"/>
          </a:p>
        </p:txBody>
      </p:sp>
      <p:sp>
        <p:nvSpPr>
          <p:cNvPr id="130" name="Text 117"/>
          <p:cNvSpPr txBox="1"/>
          <p:nvPr/>
        </p:nvSpPr>
        <p:spPr>
          <a:xfrm>
            <a:off x="39336574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131" name="Text 118"/>
          <p:cNvSpPr txBox="1"/>
          <p:nvPr/>
        </p:nvSpPr>
        <p:spPr>
          <a:xfrm>
            <a:off x="39423442" y="2400300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round</a:t>
            </a:r>
            <a:endParaRPr lang="en-US" sz="1100" dirty="0"/>
          </a:p>
        </p:txBody>
      </p:sp>
      <p:sp>
        <p:nvSpPr>
          <p:cNvPr id="132" name="Text 119"/>
          <p:cNvSpPr txBox="1"/>
          <p:nvPr/>
        </p:nvSpPr>
        <p:spPr>
          <a:xfrm>
            <a:off x="39857782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133" name="Text 120"/>
          <p:cNvSpPr txBox="1"/>
          <p:nvPr/>
        </p:nvSpPr>
        <p:spPr>
          <a:xfrm>
            <a:off x="39944650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avg</a:t>
            </a:r>
            <a:endParaRPr lang="en-US" sz="1100" dirty="0"/>
          </a:p>
        </p:txBody>
      </p:sp>
      <p:sp>
        <p:nvSpPr>
          <p:cNvPr id="134" name="Text 121"/>
          <p:cNvSpPr txBox="1"/>
          <p:nvPr/>
        </p:nvSpPr>
        <p:spPr>
          <a:xfrm>
            <a:off x="40205254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135" name="Text 122"/>
          <p:cNvSpPr txBox="1"/>
          <p:nvPr/>
        </p:nvSpPr>
        <p:spPr>
          <a:xfrm>
            <a:off x="40378990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100" dirty="0"/>
          </a:p>
        </p:txBody>
      </p:sp>
      <p:sp>
        <p:nvSpPr>
          <p:cNvPr id="136" name="Text 123"/>
          <p:cNvSpPr txBox="1"/>
          <p:nvPr/>
        </p:nvSpPr>
        <p:spPr>
          <a:xfrm>
            <a:off x="40465858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))</a:t>
            </a:r>
            <a:endParaRPr lang="en-US" sz="1100" dirty="0"/>
          </a:p>
        </p:txBody>
      </p:sp>
      <p:sp>
        <p:nvSpPr>
          <p:cNvPr id="137" name="Text 124"/>
          <p:cNvSpPr txBox="1"/>
          <p:nvPr/>
        </p:nvSpPr>
        <p:spPr>
          <a:xfrm>
            <a:off x="40726462" y="2400300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100" dirty="0"/>
          </a:p>
        </p:txBody>
      </p:sp>
      <p:sp>
        <p:nvSpPr>
          <p:cNvPr id="138" name="Text 125"/>
          <p:cNvSpPr txBox="1"/>
          <p:nvPr/>
        </p:nvSpPr>
        <p:spPr>
          <a:xfrm>
            <a:off x="41159887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139" name="Text 126"/>
          <p:cNvSpPr txBox="1"/>
          <p:nvPr/>
        </p:nvSpPr>
        <p:spPr>
          <a:xfrm>
            <a:off x="41246755" y="2400300"/>
            <a:ext cx="253105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f"7일 이동평균: {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moving_avg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}"</a:t>
            </a:r>
            <a:endParaRPr lang="en-US" sz="1100" dirty="0"/>
          </a:p>
        </p:txBody>
      </p:sp>
      <p:sp>
        <p:nvSpPr>
          <p:cNvPr id="140" name="Text 127"/>
          <p:cNvSpPr txBox="1"/>
          <p:nvPr/>
        </p:nvSpPr>
        <p:spPr>
          <a:xfrm>
            <a:off x="42578122" y="2400300"/>
            <a:ext cx="952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moving_avg</a:t>
            </a:r>
            <a:endParaRPr lang="en-US" sz="1100" dirty="0"/>
          </a:p>
        </p:txBody>
      </p:sp>
      <p:sp>
        <p:nvSpPr>
          <p:cNvPr id="141" name="Text 128"/>
          <p:cNvSpPr txBox="1"/>
          <p:nvPr/>
        </p:nvSpPr>
        <p:spPr>
          <a:xfrm>
            <a:off x="43619623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100" dirty="0"/>
          </a:p>
        </p:txBody>
      </p:sp>
      <p:sp>
        <p:nvSpPr>
          <p:cNvPr id="142" name="Text 129"/>
          <p:cNvSpPr txBox="1"/>
          <p:nvPr/>
        </p:nvSpPr>
        <p:spPr>
          <a:xfrm>
            <a:off x="43793359" y="2400300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100" dirty="0"/>
          </a:p>
        </p:txBody>
      </p:sp>
      <p:sp>
        <p:nvSpPr>
          <p:cNvPr id="143" name="Text 130"/>
          <p:cNvSpPr txBox="1"/>
          <p:nvPr/>
        </p:nvSpPr>
        <p:spPr>
          <a:xfrm>
            <a:off x="44227699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144" name="Text 131"/>
          <p:cNvSpPr txBox="1"/>
          <p:nvPr/>
        </p:nvSpPr>
        <p:spPr>
          <a:xfrm>
            <a:off x="44314567" y="2400300"/>
            <a:ext cx="412851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f"결과 길이 확인: {</a:t>
            </a:r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len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moving_avg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)} (정답: 15)"</a:t>
            </a:r>
            <a:endParaRPr lang="en-US" sz="1100" dirty="0"/>
          </a:p>
        </p:txBody>
      </p:sp>
      <p:sp>
        <p:nvSpPr>
          <p:cNvPr id="145" name="Text 132"/>
          <p:cNvSpPr txBox="1"/>
          <p:nvPr/>
        </p:nvSpPr>
        <p:spPr>
          <a:xfrm>
            <a:off x="45790409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len</a:t>
            </a:r>
            <a:endParaRPr lang="en-US" sz="1100" dirty="0"/>
          </a:p>
        </p:txBody>
      </p:sp>
      <p:sp>
        <p:nvSpPr>
          <p:cNvPr id="146" name="Text 133"/>
          <p:cNvSpPr txBox="1"/>
          <p:nvPr/>
        </p:nvSpPr>
        <p:spPr>
          <a:xfrm>
            <a:off x="46137881" y="2400300"/>
            <a:ext cx="952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moving_avg</a:t>
            </a:r>
            <a:endParaRPr lang="en-US" sz="1100" dirty="0"/>
          </a:p>
        </p:txBody>
      </p:sp>
      <p:sp>
        <p:nvSpPr>
          <p:cNvPr id="147" name="Text 134"/>
          <p:cNvSpPr txBox="1"/>
          <p:nvPr/>
        </p:nvSpPr>
        <p:spPr>
          <a:xfrm>
            <a:off x="48163277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100" dirty="0"/>
          </a:p>
        </p:txBody>
      </p:sp>
      <p:sp>
        <p:nvSpPr>
          <p:cNvPr id="148" name="Text 135"/>
          <p:cNvSpPr txBox="1"/>
          <p:nvPr/>
        </p:nvSpPr>
        <p:spPr>
          <a:xfrm>
            <a:off x="48337013" y="2400300"/>
            <a:ext cx="206837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5. 이동평균 최고점 찾기</a:t>
            </a:r>
            <a:endParaRPr lang="en-US" sz="1100" dirty="0"/>
          </a:p>
        </p:txBody>
      </p:sp>
      <p:sp>
        <p:nvSpPr>
          <p:cNvPr id="149" name="Text 136"/>
          <p:cNvSpPr txBox="1"/>
          <p:nvPr/>
        </p:nvSpPr>
        <p:spPr>
          <a:xfrm>
            <a:off x="50247194" y="2400300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max_avg</a:t>
            </a:r>
            <a:endParaRPr lang="en-US" sz="1100" dirty="0"/>
          </a:p>
        </p:txBody>
      </p:sp>
      <p:sp>
        <p:nvSpPr>
          <p:cNvPr id="150" name="Text 137"/>
          <p:cNvSpPr txBox="1"/>
          <p:nvPr/>
        </p:nvSpPr>
        <p:spPr>
          <a:xfrm>
            <a:off x="50854356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100" dirty="0"/>
          </a:p>
        </p:txBody>
      </p:sp>
      <p:sp>
        <p:nvSpPr>
          <p:cNvPr id="151" name="Text 138"/>
          <p:cNvSpPr txBox="1"/>
          <p:nvPr/>
        </p:nvSpPr>
        <p:spPr>
          <a:xfrm>
            <a:off x="51114960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</a:t>
            </a:r>
            <a:endParaRPr lang="en-US" sz="1100" dirty="0"/>
          </a:p>
        </p:txBody>
      </p:sp>
      <p:sp>
        <p:nvSpPr>
          <p:cNvPr id="152" name="Text 139"/>
          <p:cNvSpPr txBox="1"/>
          <p:nvPr/>
        </p:nvSpPr>
        <p:spPr>
          <a:xfrm>
            <a:off x="51375564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153" name="Shape 140"/>
          <p:cNvSpPr/>
          <p:nvPr/>
        </p:nvSpPr>
        <p:spPr>
          <a:xfrm>
            <a:off x="51481634" y="2609698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4" name="Text 141"/>
          <p:cNvSpPr txBox="1"/>
          <p:nvPr/>
        </p:nvSpPr>
        <p:spPr>
          <a:xfrm>
            <a:off x="51443230" y="2371954"/>
            <a:ext cx="4572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100" dirty="0"/>
          </a:p>
        </p:txBody>
      </p:sp>
      <p:sp>
        <p:nvSpPr>
          <p:cNvPr id="155" name="Text 142"/>
          <p:cNvSpPr txBox="1"/>
          <p:nvPr/>
        </p:nvSpPr>
        <p:spPr>
          <a:xfrm>
            <a:off x="51881227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100" dirty="0"/>
          </a:p>
        </p:txBody>
      </p:sp>
      <p:sp>
        <p:nvSpPr>
          <p:cNvPr id="156" name="Text 143"/>
          <p:cNvSpPr txBox="1"/>
          <p:nvPr/>
        </p:nvSpPr>
        <p:spPr>
          <a:xfrm>
            <a:off x="52054963" y="2400300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max_idx</a:t>
            </a:r>
            <a:endParaRPr lang="en-US" sz="1100" dirty="0"/>
          </a:p>
        </p:txBody>
      </p:sp>
      <p:sp>
        <p:nvSpPr>
          <p:cNvPr id="157" name="Text 144"/>
          <p:cNvSpPr txBox="1"/>
          <p:nvPr/>
        </p:nvSpPr>
        <p:spPr>
          <a:xfrm>
            <a:off x="52663039" y="2400300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100" dirty="0"/>
          </a:p>
        </p:txBody>
      </p:sp>
      <p:sp>
        <p:nvSpPr>
          <p:cNvPr id="158" name="Text 145"/>
          <p:cNvSpPr txBox="1"/>
          <p:nvPr/>
        </p:nvSpPr>
        <p:spPr>
          <a:xfrm>
            <a:off x="52923643" y="2400300"/>
            <a:ext cx="952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moving_avg</a:t>
            </a:r>
            <a:endParaRPr lang="en-US" sz="1100" dirty="0"/>
          </a:p>
        </p:txBody>
      </p:sp>
      <p:sp>
        <p:nvSpPr>
          <p:cNvPr id="159" name="Text 146"/>
          <p:cNvSpPr txBox="1"/>
          <p:nvPr/>
        </p:nvSpPr>
        <p:spPr>
          <a:xfrm>
            <a:off x="53791409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100" dirty="0"/>
          </a:p>
        </p:txBody>
      </p:sp>
      <p:sp>
        <p:nvSpPr>
          <p:cNvPr id="160" name="Text 147"/>
          <p:cNvSpPr txBox="1"/>
          <p:nvPr/>
        </p:nvSpPr>
        <p:spPr>
          <a:xfrm>
            <a:off x="53878277" y="2400300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index</a:t>
            </a:r>
            <a:endParaRPr lang="en-US" sz="1100" dirty="0"/>
          </a:p>
        </p:txBody>
      </p:sp>
      <p:sp>
        <p:nvSpPr>
          <p:cNvPr id="161" name="Text 148"/>
          <p:cNvSpPr txBox="1"/>
          <p:nvPr/>
        </p:nvSpPr>
        <p:spPr>
          <a:xfrm>
            <a:off x="54312617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162" name="Shape 149"/>
          <p:cNvSpPr/>
          <p:nvPr/>
        </p:nvSpPr>
        <p:spPr>
          <a:xfrm>
            <a:off x="54418687" y="2609698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3" name="Text 150"/>
          <p:cNvSpPr txBox="1"/>
          <p:nvPr/>
        </p:nvSpPr>
        <p:spPr>
          <a:xfrm>
            <a:off x="54380282" y="2371954"/>
            <a:ext cx="4572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100" dirty="0"/>
          </a:p>
        </p:txBody>
      </p:sp>
      <p:sp>
        <p:nvSpPr>
          <p:cNvPr id="164" name="Text 151"/>
          <p:cNvSpPr txBox="1"/>
          <p:nvPr/>
        </p:nvSpPr>
        <p:spPr>
          <a:xfrm>
            <a:off x="54819194" y="2400300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100" dirty="0"/>
          </a:p>
        </p:txBody>
      </p:sp>
      <p:sp>
        <p:nvSpPr>
          <p:cNvPr id="165" name="Text 152"/>
          <p:cNvSpPr txBox="1"/>
          <p:nvPr/>
        </p:nvSpPr>
        <p:spPr>
          <a:xfrm>
            <a:off x="54992016" y="2400300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100" dirty="0"/>
          </a:p>
        </p:txBody>
      </p:sp>
      <p:sp>
        <p:nvSpPr>
          <p:cNvPr id="166" name="Text 153"/>
          <p:cNvSpPr txBox="1"/>
          <p:nvPr/>
        </p:nvSpPr>
        <p:spPr>
          <a:xfrm>
            <a:off x="55426356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167" name="Text 154"/>
          <p:cNvSpPr txBox="1"/>
          <p:nvPr/>
        </p:nvSpPr>
        <p:spPr>
          <a:xfrm>
            <a:off x="55513224" y="2400300"/>
            <a:ext cx="44311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f"최고 평균: {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max_avg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 (시작일: {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max_idx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+</a:t>
            </a:r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}일차)"</a:t>
            </a:r>
            <a:endParaRPr lang="en-US" sz="1100" dirty="0"/>
          </a:p>
        </p:txBody>
      </p:sp>
      <p:sp>
        <p:nvSpPr>
          <p:cNvPr id="168" name="Text 155"/>
          <p:cNvSpPr txBox="1"/>
          <p:nvPr/>
        </p:nvSpPr>
        <p:spPr>
          <a:xfrm>
            <a:off x="56613247" y="2400300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max_avg</a:t>
            </a:r>
            <a:endParaRPr lang="en-US" sz="1100" dirty="0"/>
          </a:p>
        </p:txBody>
      </p:sp>
      <p:sp>
        <p:nvSpPr>
          <p:cNvPr id="169" name="Text 156"/>
          <p:cNvSpPr txBox="1"/>
          <p:nvPr/>
        </p:nvSpPr>
        <p:spPr>
          <a:xfrm>
            <a:off x="58175957" y="2400300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max_idx</a:t>
            </a:r>
            <a:endParaRPr lang="en-US" sz="1100" dirty="0"/>
          </a:p>
        </p:txBody>
      </p:sp>
      <p:sp>
        <p:nvSpPr>
          <p:cNvPr id="170" name="Text 157"/>
          <p:cNvSpPr txBox="1"/>
          <p:nvPr/>
        </p:nvSpPr>
        <p:spPr>
          <a:xfrm>
            <a:off x="58870901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100" dirty="0"/>
          </a:p>
        </p:txBody>
      </p:sp>
      <p:sp>
        <p:nvSpPr>
          <p:cNvPr id="171" name="Text 158"/>
          <p:cNvSpPr txBox="1"/>
          <p:nvPr/>
        </p:nvSpPr>
        <p:spPr>
          <a:xfrm>
            <a:off x="59507323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100" dirty="0"/>
          </a:p>
        </p:txBody>
      </p:sp>
      <p:sp>
        <p:nvSpPr>
          <p:cNvPr id="172" name="Text 159"/>
          <p:cNvSpPr txBox="1"/>
          <p:nvPr/>
        </p:nvSpPr>
        <p:spPr>
          <a:xfrm>
            <a:off x="11751869" y="64008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4950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456639"/>
            <a:ext cx="12191695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1837944" cy="3145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7649" y="228600"/>
            <a:ext cx="144841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4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 03-A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3882" r="-3882" t="0" b="0"/>
          <a:stretch/>
        </p:blipFill>
        <p:spPr>
          <a:xfrm>
            <a:off x="609905" y="308153"/>
            <a:ext cx="161849" cy="1335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617220"/>
            <a:ext cx="46579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67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튜플 활용 데이터 분석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1036015"/>
            <a:ext cx="51672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튜플 리스트의 구조를 이해하고, 패킹/언패킹을 활용해 치사율을 계산해 봅니다.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9879178" y="555955"/>
            <a:ext cx="1857146" cy="342900"/>
          </a:xfrm>
          <a:prstGeom prst="roundRect">
            <a:avLst>
              <a:gd name="adj" fmla="val 59259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10031882" y="651053"/>
            <a:ext cx="114300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222078" y="555955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challenge_03_a.py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7200" y="1798625"/>
            <a:ext cx="3847795" cy="3219602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57200" y="1798625"/>
            <a:ext cx="47549" cy="3219602"/>
          </a:xfrm>
          <a:prstGeom prst="roundRect">
            <a:avLst>
              <a:gd name="adj" fmla="val 68275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52805" y="2027225"/>
            <a:ext cx="3314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 사항 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3349" y="2064715"/>
            <a:ext cx="142646" cy="190195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9" y="2426818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3349" y="2426818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057046" y="2407615"/>
            <a:ext cx="30961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제공된 </a:t>
            </a:r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(국가, 확진자, 사망자)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형태의 튜플 리스트를 확인하세요.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49" y="2982773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3349" y="2982773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1057046" y="2964485"/>
            <a:ext cx="309615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문에서 </a:t>
            </a:r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언패킹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사용하여 국가, 확진자, 사망자를 개별 변수로 꺼내세요.</a:t>
            </a:r>
            <a:endParaRPr lang="en-US" sz="11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349" y="3567989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33349" y="3567989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17"/>
          <p:cNvSpPr txBox="1"/>
          <p:nvPr/>
        </p:nvSpPr>
        <p:spPr>
          <a:xfrm>
            <a:off x="1057046" y="3548786"/>
            <a:ext cx="3096158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치사율(%)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계산하여 소수점 둘째 자리까지 출력하세요.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(공식: 사망자 / 확진자 × 100)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349" y="4341571"/>
            <a:ext cx="228600" cy="2286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33349" y="4341571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19"/>
          <p:cNvSpPr txBox="1"/>
          <p:nvPr/>
        </p:nvSpPr>
        <p:spPr>
          <a:xfrm>
            <a:off x="1057046" y="4322369"/>
            <a:ext cx="309615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max()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함수의 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key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인자와 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lambda</a:t>
            </a:r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사용하여 치사율이 가장 높은 국가를 찾으세요.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457200" y="5242255"/>
            <a:ext cx="3847795" cy="1047902"/>
          </a:xfrm>
          <a:prstGeom prst="roundRect">
            <a:avLst>
              <a:gd name="adj" fmla="val 634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00" b="-100"/>
          <a:stretch/>
        </p:blipFill>
        <p:spPr>
          <a:xfrm>
            <a:off x="619049" y="5442509"/>
            <a:ext cx="114300" cy="15270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847649" y="5404104"/>
            <a:ext cx="2149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Unpacking Tip</a:t>
            </a:r>
            <a:endParaRPr lang="en-US" sz="1000" dirty="0"/>
          </a:p>
        </p:txBody>
      </p:sp>
      <p:sp>
        <p:nvSpPr>
          <p:cNvPr id="33" name="Text 22"/>
          <p:cNvSpPr txBox="1"/>
          <p:nvPr/>
        </p:nvSpPr>
        <p:spPr>
          <a:xfrm>
            <a:off x="847649" y="5632704"/>
            <a:ext cx="21433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튜플 </a:t>
            </a:r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data = ("A", 10, 5)</a:t>
            </a:r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있을 때,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name, total, dead = data</a:t>
            </a:r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처럼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 번에 변수에 값을 할당할 수 있습니다. </a:t>
            </a:r>
            <a:endParaRPr lang="en-US" sz="9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-1" r="-1" t="0" b="0"/>
          <a:stretch/>
        </p:blipFill>
        <p:spPr>
          <a:xfrm>
            <a:off x="4602175" y="1798625"/>
            <a:ext cx="7132320" cy="4754880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4602175" y="1798625"/>
            <a:ext cx="7134149" cy="352044"/>
          </a:xfrm>
          <a:prstGeom prst="roundRect">
            <a:avLst>
              <a:gd name="adj" fmla="val 84240"/>
            </a:avLst>
          </a:prstGeom>
          <a:solidFill>
            <a:srgbClr val="252526"/>
          </a:solidFill>
          <a:ln/>
        </p:spPr>
      </p:sp>
      <p:sp>
        <p:nvSpPr>
          <p:cNvPr id="36" name="Shape 24"/>
          <p:cNvSpPr/>
          <p:nvPr/>
        </p:nvSpPr>
        <p:spPr>
          <a:xfrm>
            <a:off x="4602175" y="2141525"/>
            <a:ext cx="7134149" cy="9144"/>
          </a:xfrm>
          <a:prstGeom prst="roundRect">
            <a:avLst>
              <a:gd name="adj" fmla="val 3243243"/>
            </a:avLst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25"/>
          <p:cNvSpPr/>
          <p:nvPr/>
        </p:nvSpPr>
        <p:spPr>
          <a:xfrm>
            <a:off x="4754880" y="1918411"/>
            <a:ext cx="95098" cy="9509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4926787" y="1918411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5097780" y="1918411"/>
            <a:ext cx="95098" cy="9509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8"/>
          <p:cNvSpPr txBox="1"/>
          <p:nvPr/>
        </p:nvSpPr>
        <p:spPr>
          <a:xfrm>
            <a:off x="5345582" y="1890065"/>
            <a:ext cx="12481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tuple_analysis.py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4830775" y="2400300"/>
            <a:ext cx="3734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데이터: (국가, 확진자, 사망자) 튜플 리스트</a:t>
            </a:r>
            <a:endParaRPr lang="en-US" sz="1200" dirty="0"/>
          </a:p>
        </p:txBody>
      </p:sp>
      <p:sp>
        <p:nvSpPr>
          <p:cNvPr id="42" name="Text 30"/>
          <p:cNvSpPr txBox="1"/>
          <p:nvPr/>
        </p:nvSpPr>
        <p:spPr>
          <a:xfrm>
            <a:off x="8366760" y="2400300"/>
            <a:ext cx="1181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covid_tuples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9464040" y="2400300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[ (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10013594" y="2400300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"한국"</a:t>
            </a:r>
            <a:endParaRPr lang="en-US" sz="1200" dirty="0"/>
          </a:p>
        </p:txBody>
      </p:sp>
      <p:sp>
        <p:nvSpPr>
          <p:cNvPr id="45" name="Text 33"/>
          <p:cNvSpPr txBox="1"/>
          <p:nvPr/>
        </p:nvSpPr>
        <p:spPr>
          <a:xfrm>
            <a:off x="10500970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46" name="Text 34"/>
          <p:cNvSpPr txBox="1"/>
          <p:nvPr/>
        </p:nvSpPr>
        <p:spPr>
          <a:xfrm>
            <a:off x="10683850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34571</a:t>
            </a:r>
            <a:endParaRPr lang="en-US" sz="1200" dirty="0"/>
          </a:p>
        </p:txBody>
      </p:sp>
      <p:sp>
        <p:nvSpPr>
          <p:cNvPr id="47" name="Text 35"/>
          <p:cNvSpPr txBox="1"/>
          <p:nvPr/>
        </p:nvSpPr>
        <p:spPr>
          <a:xfrm>
            <a:off x="11141050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48" name="Text 36"/>
          <p:cNvSpPr txBox="1"/>
          <p:nvPr/>
        </p:nvSpPr>
        <p:spPr>
          <a:xfrm>
            <a:off x="11323930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247</a:t>
            </a:r>
            <a:endParaRPr lang="en-US" sz="1200" dirty="0"/>
          </a:p>
        </p:txBody>
      </p:sp>
      <p:sp>
        <p:nvSpPr>
          <p:cNvPr id="49" name="Text 37"/>
          <p:cNvSpPr txBox="1"/>
          <p:nvPr/>
        </p:nvSpPr>
        <p:spPr>
          <a:xfrm>
            <a:off x="11598250" y="2400300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), (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11964010" y="2400300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"미국"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12452299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52" name="Text 40"/>
          <p:cNvSpPr txBox="1"/>
          <p:nvPr/>
        </p:nvSpPr>
        <p:spPr>
          <a:xfrm>
            <a:off x="12635179" y="2400300"/>
            <a:ext cx="724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1850000</a:t>
            </a:r>
            <a:endParaRPr lang="en-US" sz="1200" dirty="0"/>
          </a:p>
        </p:txBody>
      </p:sp>
      <p:sp>
        <p:nvSpPr>
          <p:cNvPr id="53" name="Text 41"/>
          <p:cNvSpPr txBox="1"/>
          <p:nvPr/>
        </p:nvSpPr>
        <p:spPr>
          <a:xfrm>
            <a:off x="13275259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54" name="Text 42"/>
          <p:cNvSpPr txBox="1"/>
          <p:nvPr/>
        </p:nvSpPr>
        <p:spPr>
          <a:xfrm>
            <a:off x="13458139" y="2400300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107175</a:t>
            </a:r>
            <a:endParaRPr lang="en-US" sz="1200" dirty="0"/>
          </a:p>
        </p:txBody>
      </p:sp>
      <p:sp>
        <p:nvSpPr>
          <p:cNvPr id="55" name="Text 43"/>
          <p:cNvSpPr txBox="1"/>
          <p:nvPr/>
        </p:nvSpPr>
        <p:spPr>
          <a:xfrm>
            <a:off x="14006779" y="2400300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), (</a:t>
            </a:r>
            <a:endParaRPr lang="en-US" sz="1200" dirty="0"/>
          </a:p>
        </p:txBody>
      </p:sp>
      <p:sp>
        <p:nvSpPr>
          <p:cNvPr id="56" name="Text 44"/>
          <p:cNvSpPr txBox="1"/>
          <p:nvPr/>
        </p:nvSpPr>
        <p:spPr>
          <a:xfrm>
            <a:off x="14372539" y="2400300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"일본"</a:t>
            </a:r>
            <a:endParaRPr lang="en-US" sz="1200" dirty="0"/>
          </a:p>
        </p:txBody>
      </p:sp>
      <p:sp>
        <p:nvSpPr>
          <p:cNvPr id="57" name="Text 45"/>
          <p:cNvSpPr txBox="1"/>
          <p:nvPr/>
        </p:nvSpPr>
        <p:spPr>
          <a:xfrm>
            <a:off x="14859914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58" name="Text 46"/>
          <p:cNvSpPr txBox="1"/>
          <p:nvPr/>
        </p:nvSpPr>
        <p:spPr>
          <a:xfrm>
            <a:off x="15042794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18723</a:t>
            </a:r>
            <a:endParaRPr lang="en-US" sz="1200" dirty="0"/>
          </a:p>
        </p:txBody>
      </p:sp>
      <p:sp>
        <p:nvSpPr>
          <p:cNvPr id="59" name="Text 47"/>
          <p:cNvSpPr txBox="1"/>
          <p:nvPr/>
        </p:nvSpPr>
        <p:spPr>
          <a:xfrm>
            <a:off x="15500909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60" name="Text 48"/>
          <p:cNvSpPr txBox="1"/>
          <p:nvPr/>
        </p:nvSpPr>
        <p:spPr>
          <a:xfrm>
            <a:off x="15683789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972</a:t>
            </a:r>
            <a:endParaRPr lang="en-US" sz="1200" dirty="0"/>
          </a:p>
        </p:txBody>
      </p:sp>
      <p:sp>
        <p:nvSpPr>
          <p:cNvPr id="61" name="Text 49"/>
          <p:cNvSpPr txBox="1"/>
          <p:nvPr/>
        </p:nvSpPr>
        <p:spPr>
          <a:xfrm>
            <a:off x="15958109" y="2400300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), (</a:t>
            </a:r>
            <a:endParaRPr lang="en-US" sz="1200" dirty="0"/>
          </a:p>
        </p:txBody>
      </p:sp>
      <p:sp>
        <p:nvSpPr>
          <p:cNvPr id="62" name="Text 50"/>
          <p:cNvSpPr txBox="1"/>
          <p:nvPr/>
        </p:nvSpPr>
        <p:spPr>
          <a:xfrm>
            <a:off x="16323869" y="2400300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"영국"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16811244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64" name="Text 52"/>
          <p:cNvSpPr txBox="1"/>
          <p:nvPr/>
        </p:nvSpPr>
        <p:spPr>
          <a:xfrm>
            <a:off x="16994124" y="2400300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312654</a:t>
            </a:r>
            <a:endParaRPr lang="en-US" sz="1200" dirty="0"/>
          </a:p>
        </p:txBody>
      </p:sp>
      <p:sp>
        <p:nvSpPr>
          <p:cNvPr id="65" name="Text 53"/>
          <p:cNvSpPr txBox="1"/>
          <p:nvPr/>
        </p:nvSpPr>
        <p:spPr>
          <a:xfrm>
            <a:off x="17542764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66" name="Text 54"/>
          <p:cNvSpPr txBox="1"/>
          <p:nvPr/>
        </p:nvSpPr>
        <p:spPr>
          <a:xfrm>
            <a:off x="17725644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43730</a:t>
            </a:r>
            <a:endParaRPr lang="en-US" sz="1200" dirty="0"/>
          </a:p>
        </p:txBody>
      </p:sp>
      <p:sp>
        <p:nvSpPr>
          <p:cNvPr id="67" name="Text 55"/>
          <p:cNvSpPr txBox="1"/>
          <p:nvPr/>
        </p:nvSpPr>
        <p:spPr>
          <a:xfrm>
            <a:off x="18183758" y="2400300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), (</a:t>
            </a:r>
            <a:endParaRPr lang="en-US" sz="1200" dirty="0"/>
          </a:p>
        </p:txBody>
      </p:sp>
      <p:sp>
        <p:nvSpPr>
          <p:cNvPr id="68" name="Text 56"/>
          <p:cNvSpPr txBox="1"/>
          <p:nvPr/>
        </p:nvSpPr>
        <p:spPr>
          <a:xfrm>
            <a:off x="18549518" y="2400300"/>
            <a:ext cx="724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"브라질"</a:t>
            </a:r>
            <a:endParaRPr lang="en-US" sz="1200" dirty="0"/>
          </a:p>
        </p:txBody>
      </p:sp>
      <p:sp>
        <p:nvSpPr>
          <p:cNvPr id="69" name="Text 57"/>
          <p:cNvSpPr txBox="1"/>
          <p:nvPr/>
        </p:nvSpPr>
        <p:spPr>
          <a:xfrm>
            <a:off x="19189598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70" name="Text 58"/>
          <p:cNvSpPr txBox="1"/>
          <p:nvPr/>
        </p:nvSpPr>
        <p:spPr>
          <a:xfrm>
            <a:off x="19372478" y="2400300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923189</a:t>
            </a:r>
            <a:endParaRPr lang="en-US" sz="1200" dirty="0"/>
          </a:p>
        </p:txBody>
      </p:sp>
      <p:sp>
        <p:nvSpPr>
          <p:cNvPr id="71" name="Text 59"/>
          <p:cNvSpPr txBox="1"/>
          <p:nvPr/>
        </p:nvSpPr>
        <p:spPr>
          <a:xfrm>
            <a:off x="19921118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72" name="Text 60"/>
          <p:cNvSpPr txBox="1"/>
          <p:nvPr/>
        </p:nvSpPr>
        <p:spPr>
          <a:xfrm>
            <a:off x="20103998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45241</a:t>
            </a:r>
            <a:endParaRPr lang="en-US" sz="1200" dirty="0"/>
          </a:p>
        </p:txBody>
      </p:sp>
      <p:sp>
        <p:nvSpPr>
          <p:cNvPr id="73" name="Text 61"/>
          <p:cNvSpPr txBox="1"/>
          <p:nvPr/>
        </p:nvSpPr>
        <p:spPr>
          <a:xfrm>
            <a:off x="20561198" y="2400300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]</a:t>
            </a:r>
            <a:endParaRPr lang="en-US" sz="1200" dirty="0"/>
          </a:p>
        </p:txBody>
      </p:sp>
      <p:sp>
        <p:nvSpPr>
          <p:cNvPr id="74" name="Text 62"/>
          <p:cNvSpPr txBox="1"/>
          <p:nvPr/>
        </p:nvSpPr>
        <p:spPr>
          <a:xfrm>
            <a:off x="20926958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75" name="Text 63"/>
          <p:cNvSpPr txBox="1"/>
          <p:nvPr/>
        </p:nvSpPr>
        <p:spPr>
          <a:xfrm>
            <a:off x="21384158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76" name="Text 64"/>
          <p:cNvSpPr txBox="1"/>
          <p:nvPr/>
        </p:nvSpPr>
        <p:spPr>
          <a:xfrm>
            <a:off x="21475598" y="2400300"/>
            <a:ext cx="20016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"=== 국가별 치사율 ==="</a:t>
            </a:r>
            <a:endParaRPr lang="en-US" sz="1200" dirty="0"/>
          </a:p>
        </p:txBody>
      </p:sp>
      <p:sp>
        <p:nvSpPr>
          <p:cNvPr id="77" name="Text 65"/>
          <p:cNvSpPr txBox="1"/>
          <p:nvPr/>
        </p:nvSpPr>
        <p:spPr>
          <a:xfrm>
            <a:off x="23396753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78" name="Text 66"/>
          <p:cNvSpPr txBox="1"/>
          <p:nvPr/>
        </p:nvSpPr>
        <p:spPr>
          <a:xfrm>
            <a:off x="23579633" y="2400300"/>
            <a:ext cx="37060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1) 언패킹을 사용하여 각 국가의 치사율 계산</a:t>
            </a:r>
            <a:endParaRPr lang="en-US" sz="1200" dirty="0"/>
          </a:p>
        </p:txBody>
      </p:sp>
      <p:sp>
        <p:nvSpPr>
          <p:cNvPr id="79" name="Text 67"/>
          <p:cNvSpPr txBox="1"/>
          <p:nvPr/>
        </p:nvSpPr>
        <p:spPr>
          <a:xfrm>
            <a:off x="27084528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</a:t>
            </a:r>
            <a:endParaRPr lang="en-US" sz="1200" dirty="0"/>
          </a:p>
        </p:txBody>
      </p:sp>
      <p:sp>
        <p:nvSpPr>
          <p:cNvPr id="80" name="Shape 68"/>
          <p:cNvSpPr/>
          <p:nvPr/>
        </p:nvSpPr>
        <p:spPr>
          <a:xfrm>
            <a:off x="27378050" y="2619756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1" name="Text 69"/>
          <p:cNvSpPr txBox="1"/>
          <p:nvPr/>
        </p:nvSpPr>
        <p:spPr>
          <a:xfrm>
            <a:off x="27339646" y="237195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82" name="Text 70"/>
          <p:cNvSpPr txBox="1"/>
          <p:nvPr/>
        </p:nvSpPr>
        <p:spPr>
          <a:xfrm>
            <a:off x="27778558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83" name="Shape 71"/>
          <p:cNvSpPr/>
          <p:nvPr/>
        </p:nvSpPr>
        <p:spPr>
          <a:xfrm>
            <a:off x="27979726" y="2619756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4" name="Text 72"/>
          <p:cNvSpPr txBox="1"/>
          <p:nvPr/>
        </p:nvSpPr>
        <p:spPr>
          <a:xfrm>
            <a:off x="27942235" y="237195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85" name="Text 73"/>
          <p:cNvSpPr txBox="1"/>
          <p:nvPr/>
        </p:nvSpPr>
        <p:spPr>
          <a:xfrm>
            <a:off x="28380233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200" dirty="0"/>
          </a:p>
        </p:txBody>
      </p:sp>
      <p:sp>
        <p:nvSpPr>
          <p:cNvPr id="86" name="Shape 74"/>
          <p:cNvSpPr/>
          <p:nvPr/>
        </p:nvSpPr>
        <p:spPr>
          <a:xfrm>
            <a:off x="28582315" y="2619756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7" name="Text 75"/>
          <p:cNvSpPr txBox="1"/>
          <p:nvPr/>
        </p:nvSpPr>
        <p:spPr>
          <a:xfrm>
            <a:off x="28543910" y="237195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88" name="Text 76"/>
          <p:cNvSpPr txBox="1"/>
          <p:nvPr/>
        </p:nvSpPr>
        <p:spPr>
          <a:xfrm>
            <a:off x="28981908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endParaRPr lang="en-US" sz="1200" dirty="0"/>
          </a:p>
        </p:txBody>
      </p:sp>
      <p:sp>
        <p:nvSpPr>
          <p:cNvPr id="89" name="Text 77"/>
          <p:cNvSpPr txBox="1"/>
          <p:nvPr/>
        </p:nvSpPr>
        <p:spPr>
          <a:xfrm>
            <a:off x="29164788" y="2400300"/>
            <a:ext cx="1181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covid_tuples</a:t>
            </a:r>
            <a:endParaRPr lang="en-US" sz="1200" dirty="0"/>
          </a:p>
        </p:txBody>
      </p:sp>
      <p:sp>
        <p:nvSpPr>
          <p:cNvPr id="90" name="Text 78"/>
          <p:cNvSpPr txBox="1"/>
          <p:nvPr/>
        </p:nvSpPr>
        <p:spPr>
          <a:xfrm>
            <a:off x="30262982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200" dirty="0"/>
          </a:p>
        </p:txBody>
      </p:sp>
      <p:sp>
        <p:nvSpPr>
          <p:cNvPr id="91" name="Text 79"/>
          <p:cNvSpPr txBox="1"/>
          <p:nvPr/>
        </p:nvSpPr>
        <p:spPr>
          <a:xfrm>
            <a:off x="30445862" y="2400300"/>
            <a:ext cx="1267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fatality_rate</a:t>
            </a:r>
            <a:endParaRPr lang="en-US" sz="1200" dirty="0"/>
          </a:p>
        </p:txBody>
      </p:sp>
      <p:sp>
        <p:nvSpPr>
          <p:cNvPr id="92" name="Text 80"/>
          <p:cNvSpPr txBox="1"/>
          <p:nvPr/>
        </p:nvSpPr>
        <p:spPr>
          <a:xfrm>
            <a:off x="31634582" y="2400300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(</a:t>
            </a:r>
            <a:endParaRPr lang="en-US" sz="1200" dirty="0"/>
          </a:p>
        </p:txBody>
      </p:sp>
      <p:sp>
        <p:nvSpPr>
          <p:cNvPr id="93" name="Shape 81"/>
          <p:cNvSpPr/>
          <p:nvPr/>
        </p:nvSpPr>
        <p:spPr>
          <a:xfrm>
            <a:off x="32019545" y="2619756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94" name="Text 82"/>
          <p:cNvSpPr txBox="1"/>
          <p:nvPr/>
        </p:nvSpPr>
        <p:spPr>
          <a:xfrm>
            <a:off x="31981140" y="237195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95" name="Text 83"/>
          <p:cNvSpPr txBox="1"/>
          <p:nvPr/>
        </p:nvSpPr>
        <p:spPr>
          <a:xfrm>
            <a:off x="32419138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</a:t>
            </a:r>
            <a:endParaRPr lang="en-US" sz="1200" dirty="0"/>
          </a:p>
        </p:txBody>
      </p:sp>
      <p:sp>
        <p:nvSpPr>
          <p:cNvPr id="96" name="Shape 84"/>
          <p:cNvSpPr/>
          <p:nvPr/>
        </p:nvSpPr>
        <p:spPr>
          <a:xfrm>
            <a:off x="32712660" y="2619756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97" name="Text 85"/>
          <p:cNvSpPr txBox="1"/>
          <p:nvPr/>
        </p:nvSpPr>
        <p:spPr>
          <a:xfrm>
            <a:off x="32675170" y="237195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98" name="Text 86"/>
          <p:cNvSpPr txBox="1"/>
          <p:nvPr/>
        </p:nvSpPr>
        <p:spPr>
          <a:xfrm>
            <a:off x="33113167" y="2400300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*</a:t>
            </a:r>
            <a:endParaRPr lang="en-US" sz="1200" dirty="0"/>
          </a:p>
        </p:txBody>
      </p:sp>
      <p:sp>
        <p:nvSpPr>
          <p:cNvPr id="99" name="Text 87"/>
          <p:cNvSpPr txBox="1"/>
          <p:nvPr/>
        </p:nvSpPr>
        <p:spPr>
          <a:xfrm>
            <a:off x="33478927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100</a:t>
            </a:r>
            <a:endParaRPr lang="en-US" sz="1200" dirty="0"/>
          </a:p>
        </p:txBody>
      </p:sp>
      <p:sp>
        <p:nvSpPr>
          <p:cNvPr id="100" name="Text 88"/>
          <p:cNvSpPr txBox="1"/>
          <p:nvPr/>
        </p:nvSpPr>
        <p:spPr>
          <a:xfrm>
            <a:off x="33753247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101" name="Text 89"/>
          <p:cNvSpPr txBox="1"/>
          <p:nvPr/>
        </p:nvSpPr>
        <p:spPr>
          <a:xfrm>
            <a:off x="34210447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102" name="Text 90"/>
          <p:cNvSpPr txBox="1"/>
          <p:nvPr/>
        </p:nvSpPr>
        <p:spPr>
          <a:xfrm>
            <a:off x="34301887" y="2400300"/>
            <a:ext cx="3208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 {</a:t>
            </a:r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}: {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fatality_rate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:.2f}%"</a:t>
            </a:r>
            <a:endParaRPr lang="en-US" sz="1200" dirty="0"/>
          </a:p>
        </p:txBody>
      </p:sp>
      <p:sp>
        <p:nvSpPr>
          <p:cNvPr id="103" name="Shape 91"/>
          <p:cNvSpPr/>
          <p:nvPr/>
        </p:nvSpPr>
        <p:spPr>
          <a:xfrm>
            <a:off x="34686850" y="2619756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4" name="Text 92"/>
          <p:cNvSpPr txBox="1"/>
          <p:nvPr/>
        </p:nvSpPr>
        <p:spPr>
          <a:xfrm>
            <a:off x="34648445" y="237195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105" name="Text 93"/>
          <p:cNvSpPr txBox="1"/>
          <p:nvPr/>
        </p:nvSpPr>
        <p:spPr>
          <a:xfrm>
            <a:off x="35453117" y="2400300"/>
            <a:ext cx="1267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fatality_rate</a:t>
            </a:r>
            <a:endParaRPr lang="en-US" sz="1200" dirty="0"/>
          </a:p>
        </p:txBody>
      </p:sp>
      <p:sp>
        <p:nvSpPr>
          <p:cNvPr id="106" name="Text 94"/>
          <p:cNvSpPr txBox="1"/>
          <p:nvPr/>
        </p:nvSpPr>
        <p:spPr>
          <a:xfrm>
            <a:off x="37281917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107" name="Text 95"/>
          <p:cNvSpPr txBox="1"/>
          <p:nvPr/>
        </p:nvSpPr>
        <p:spPr>
          <a:xfrm>
            <a:off x="37464797" y="2400300"/>
            <a:ext cx="59152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2) 치사율이 가장 높은 국가 찾기 (인덱스 활용: 0=국가, 1=확진, 2=사망)</a:t>
            </a:r>
            <a:endParaRPr lang="en-US" sz="1200" dirty="0"/>
          </a:p>
        </p:txBody>
      </p:sp>
      <p:sp>
        <p:nvSpPr>
          <p:cNvPr id="108" name="Text 96"/>
          <p:cNvSpPr txBox="1"/>
          <p:nvPr/>
        </p:nvSpPr>
        <p:spPr>
          <a:xfrm>
            <a:off x="43256606" y="2400300"/>
            <a:ext cx="724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highest</a:t>
            </a:r>
            <a:endParaRPr lang="en-US" sz="1200" dirty="0"/>
          </a:p>
        </p:txBody>
      </p:sp>
      <p:sp>
        <p:nvSpPr>
          <p:cNvPr id="109" name="Text 97"/>
          <p:cNvSpPr txBox="1"/>
          <p:nvPr/>
        </p:nvSpPr>
        <p:spPr>
          <a:xfrm>
            <a:off x="43896686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200" dirty="0"/>
          </a:p>
        </p:txBody>
      </p:sp>
      <p:sp>
        <p:nvSpPr>
          <p:cNvPr id="110" name="Text 98"/>
          <p:cNvSpPr txBox="1"/>
          <p:nvPr/>
        </p:nvSpPr>
        <p:spPr>
          <a:xfrm>
            <a:off x="44171006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</a:t>
            </a:r>
            <a:endParaRPr lang="en-US" sz="1200" dirty="0"/>
          </a:p>
        </p:txBody>
      </p:sp>
      <p:sp>
        <p:nvSpPr>
          <p:cNvPr id="111" name="Text 99"/>
          <p:cNvSpPr txBox="1"/>
          <p:nvPr/>
        </p:nvSpPr>
        <p:spPr>
          <a:xfrm>
            <a:off x="44445326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112" name="Text 100"/>
          <p:cNvSpPr txBox="1"/>
          <p:nvPr/>
        </p:nvSpPr>
        <p:spPr>
          <a:xfrm>
            <a:off x="44537681" y="2400300"/>
            <a:ext cx="1181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covid_tuples</a:t>
            </a:r>
            <a:endParaRPr lang="en-US" sz="1200" dirty="0"/>
          </a:p>
        </p:txBody>
      </p:sp>
      <p:sp>
        <p:nvSpPr>
          <p:cNvPr id="113" name="Text 101"/>
          <p:cNvSpPr txBox="1"/>
          <p:nvPr/>
        </p:nvSpPr>
        <p:spPr>
          <a:xfrm>
            <a:off x="45634961" y="2400300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key=</a:t>
            </a:r>
            <a:endParaRPr lang="en-US" sz="1200" dirty="0"/>
          </a:p>
        </p:txBody>
      </p:sp>
      <p:sp>
        <p:nvSpPr>
          <p:cNvPr id="114" name="Text 102"/>
          <p:cNvSpPr txBox="1"/>
          <p:nvPr/>
        </p:nvSpPr>
        <p:spPr>
          <a:xfrm>
            <a:off x="46183601" y="2400300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lambda</a:t>
            </a:r>
            <a:endParaRPr lang="en-US" sz="1200" dirty="0"/>
          </a:p>
        </p:txBody>
      </p:sp>
      <p:sp>
        <p:nvSpPr>
          <p:cNvPr id="115" name="Text 103"/>
          <p:cNvSpPr txBox="1"/>
          <p:nvPr/>
        </p:nvSpPr>
        <p:spPr>
          <a:xfrm>
            <a:off x="46732241" y="2400300"/>
            <a:ext cx="4480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x:</a:t>
            </a:r>
            <a:endParaRPr lang="en-US" sz="1200" dirty="0"/>
          </a:p>
        </p:txBody>
      </p:sp>
      <p:sp>
        <p:nvSpPr>
          <p:cNvPr id="116" name="Shape 104"/>
          <p:cNvSpPr/>
          <p:nvPr/>
        </p:nvSpPr>
        <p:spPr>
          <a:xfrm>
            <a:off x="47117203" y="2619756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7" name="Text 105"/>
          <p:cNvSpPr txBox="1"/>
          <p:nvPr/>
        </p:nvSpPr>
        <p:spPr>
          <a:xfrm>
            <a:off x="47078798" y="237195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118" name="Text 106"/>
          <p:cNvSpPr txBox="1"/>
          <p:nvPr/>
        </p:nvSpPr>
        <p:spPr>
          <a:xfrm>
            <a:off x="47516796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</a:t>
            </a:r>
            <a:endParaRPr lang="en-US" sz="1200" dirty="0"/>
          </a:p>
        </p:txBody>
      </p:sp>
      <p:sp>
        <p:nvSpPr>
          <p:cNvPr id="119" name="Shape 107"/>
          <p:cNvSpPr/>
          <p:nvPr/>
        </p:nvSpPr>
        <p:spPr>
          <a:xfrm>
            <a:off x="47810318" y="2619756"/>
            <a:ext cx="381305" cy="192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0" name="Text 108"/>
          <p:cNvSpPr txBox="1"/>
          <p:nvPr/>
        </p:nvSpPr>
        <p:spPr>
          <a:xfrm>
            <a:off x="47772828" y="237195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___</a:t>
            </a:r>
            <a:endParaRPr lang="en-US" sz="1200" dirty="0"/>
          </a:p>
        </p:txBody>
      </p:sp>
      <p:sp>
        <p:nvSpPr>
          <p:cNvPr id="121" name="Text 109"/>
          <p:cNvSpPr txBox="1"/>
          <p:nvPr/>
        </p:nvSpPr>
        <p:spPr>
          <a:xfrm>
            <a:off x="48210826" y="2400300"/>
            <a:ext cx="267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122" name="Text 110"/>
          <p:cNvSpPr txBox="1"/>
          <p:nvPr/>
        </p:nvSpPr>
        <p:spPr>
          <a:xfrm>
            <a:off x="48393706" y="2400300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200" dirty="0"/>
          </a:p>
        </p:txBody>
      </p:sp>
      <p:sp>
        <p:nvSpPr>
          <p:cNvPr id="123" name="Text 111"/>
          <p:cNvSpPr txBox="1"/>
          <p:nvPr/>
        </p:nvSpPr>
        <p:spPr>
          <a:xfrm>
            <a:off x="48850906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124" name="Text 112"/>
          <p:cNvSpPr txBox="1"/>
          <p:nvPr/>
        </p:nvSpPr>
        <p:spPr>
          <a:xfrm>
            <a:off x="48942346" y="2400300"/>
            <a:ext cx="6667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f"\n치사율 최고: {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highest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]} ({(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highest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]/</a:t>
            </a:r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highest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])*</a:t>
            </a:r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100</a:t>
            </a:r>
            <a:pPr algn="l"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:.2f}%)"</a:t>
            </a:r>
            <a:endParaRPr lang="en-US" sz="1200" dirty="0"/>
          </a:p>
        </p:txBody>
      </p:sp>
      <p:sp>
        <p:nvSpPr>
          <p:cNvPr id="125" name="Text 113"/>
          <p:cNvSpPr txBox="1"/>
          <p:nvPr/>
        </p:nvSpPr>
        <p:spPr>
          <a:xfrm>
            <a:off x="50436475" y="2400300"/>
            <a:ext cx="724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highest</a:t>
            </a:r>
            <a:endParaRPr lang="en-US" sz="1200" dirty="0"/>
          </a:p>
        </p:txBody>
      </p:sp>
      <p:sp>
        <p:nvSpPr>
          <p:cNvPr id="126" name="Text 114"/>
          <p:cNvSpPr txBox="1"/>
          <p:nvPr/>
        </p:nvSpPr>
        <p:spPr>
          <a:xfrm>
            <a:off x="51167995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endParaRPr lang="en-US" sz="1200" dirty="0"/>
          </a:p>
        </p:txBody>
      </p:sp>
      <p:sp>
        <p:nvSpPr>
          <p:cNvPr id="127" name="Text 115"/>
          <p:cNvSpPr txBox="1"/>
          <p:nvPr/>
        </p:nvSpPr>
        <p:spPr>
          <a:xfrm>
            <a:off x="51808075" y="2400300"/>
            <a:ext cx="724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highest</a:t>
            </a:r>
            <a:endParaRPr lang="en-US" sz="1200" dirty="0"/>
          </a:p>
        </p:txBody>
      </p:sp>
      <p:sp>
        <p:nvSpPr>
          <p:cNvPr id="128" name="Text 116"/>
          <p:cNvSpPr txBox="1"/>
          <p:nvPr/>
        </p:nvSpPr>
        <p:spPr>
          <a:xfrm>
            <a:off x="52539595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</a:t>
            </a:r>
            <a:endParaRPr lang="en-US" sz="1200" dirty="0"/>
          </a:p>
        </p:txBody>
      </p:sp>
      <p:sp>
        <p:nvSpPr>
          <p:cNvPr id="129" name="Text 117"/>
          <p:cNvSpPr txBox="1"/>
          <p:nvPr/>
        </p:nvSpPr>
        <p:spPr>
          <a:xfrm>
            <a:off x="52813915" y="2400300"/>
            <a:ext cx="724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highest</a:t>
            </a:r>
            <a:endParaRPr lang="en-US" sz="1200" dirty="0"/>
          </a:p>
        </p:txBody>
      </p:sp>
      <p:sp>
        <p:nvSpPr>
          <p:cNvPr id="130" name="Text 118"/>
          <p:cNvSpPr txBox="1"/>
          <p:nvPr/>
        </p:nvSpPr>
        <p:spPr>
          <a:xfrm>
            <a:off x="53546350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200" dirty="0"/>
          </a:p>
        </p:txBody>
      </p:sp>
      <p:sp>
        <p:nvSpPr>
          <p:cNvPr id="131" name="Text 119"/>
          <p:cNvSpPr txBox="1"/>
          <p:nvPr/>
        </p:nvSpPr>
        <p:spPr>
          <a:xfrm>
            <a:off x="53912110" y="2400300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100</a:t>
            </a:r>
            <a:endParaRPr lang="en-US" sz="1200" dirty="0"/>
          </a:p>
        </p:txBody>
      </p:sp>
      <p:sp>
        <p:nvSpPr>
          <p:cNvPr id="132" name="Text 120"/>
          <p:cNvSpPr txBox="1"/>
          <p:nvPr/>
        </p:nvSpPr>
        <p:spPr>
          <a:xfrm>
            <a:off x="54917950" y="240030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200" dirty="0"/>
          </a:p>
        </p:txBody>
      </p:sp>
      <p:sp>
        <p:nvSpPr>
          <p:cNvPr id="133" name="Text 121"/>
          <p:cNvSpPr txBox="1"/>
          <p:nvPr/>
        </p:nvSpPr>
        <p:spPr>
          <a:xfrm>
            <a:off x="11711635" y="6400800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4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32405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5646"/>
            <a:ext cx="12191695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24"/>
            <a:ext cx="1695298" cy="2862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7415" y="192024"/>
            <a:ext cx="134599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1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 03-B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837" r="-837" t="0" b="0"/>
          <a:stretch/>
        </p:blipFill>
        <p:spPr>
          <a:xfrm>
            <a:off x="578815" y="254203"/>
            <a:ext cx="152705" cy="1335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516636"/>
            <a:ext cx="34710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-56" kern="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중첩 딕셔너리 심화 실습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897026"/>
            <a:ext cx="3615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국가별 상세 데이터를 구조적으로 관리하고 분석합니다.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9958730" y="467258"/>
            <a:ext cx="1781251" cy="342900"/>
          </a:xfrm>
          <a:prstGeom prst="roundRect">
            <a:avLst>
              <a:gd name="adj" fmla="val 59259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10111435" y="563270"/>
            <a:ext cx="114300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301630" y="467258"/>
            <a:ext cx="13432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challenge_03b.py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7200" y="1545336"/>
            <a:ext cx="4172407" cy="2247595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57200" y="1545336"/>
            <a:ext cx="47549" cy="2247595"/>
          </a:xfrm>
          <a:prstGeom prst="roundRect">
            <a:avLst>
              <a:gd name="adj" fmla="val 97783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42746" y="1735531"/>
            <a:ext cx="36868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 사항 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4944" y="1783080"/>
            <a:ext cx="171907" cy="171907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125980"/>
            <a:ext cx="209398" cy="20939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4944" y="2125980"/>
            <a:ext cx="21031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000354" y="2116836"/>
            <a:ext cx="26197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</a:t>
            </a:r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현재 치료 중인 환자 수를 계산하세요.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(공식: 확진자 - 사망자 - 완치자)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2601468"/>
            <a:ext cx="209398" cy="20939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4944" y="2601468"/>
            <a:ext cx="21031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1000354" y="2591410"/>
            <a:ext cx="39108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반복문을 사용하여 모든 국가의 </a:t>
            </a:r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완치율(%)</a:t>
            </a:r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출력하세요.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2911450"/>
            <a:ext cx="209398" cy="20939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4944" y="2911450"/>
            <a:ext cx="21031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17"/>
          <p:cNvSpPr txBox="1"/>
          <p:nvPr/>
        </p:nvSpPr>
        <p:spPr>
          <a:xfrm>
            <a:off x="1000354" y="2902306"/>
            <a:ext cx="282915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영국</a:t>
            </a:r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데이터를 중첩 딕셔너리 형태로 추가하세요.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(확진: 312,654 / 사망: 43,730 / 완치: 1,356)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" y="3386938"/>
            <a:ext cx="209398" cy="20939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94944" y="3386938"/>
            <a:ext cx="21031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19"/>
          <p:cNvSpPr txBox="1"/>
          <p:nvPr/>
        </p:nvSpPr>
        <p:spPr>
          <a:xfrm>
            <a:off x="1000354" y="3377794"/>
            <a:ext cx="31373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세계 </a:t>
            </a:r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확진자 합계</a:t>
            </a:r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계산하여 출력하세요.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457200" y="3939235"/>
            <a:ext cx="4172407" cy="2695651"/>
          </a:xfrm>
          <a:prstGeom prst="roundRect">
            <a:avLst>
              <a:gd name="adj" fmla="val 14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657454" y="4406494"/>
            <a:ext cx="37719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847649" y="4139489"/>
            <a:ext cx="3658514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점검 체크리스트 </a:t>
            </a:r>
            <a:endParaRPr lang="en-US" sz="10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00" b="-1100"/>
          <a:stretch/>
        </p:blipFill>
        <p:spPr>
          <a:xfrm>
            <a:off x="657454" y="4175150"/>
            <a:ext cx="114300" cy="133502"/>
          </a:xfrm>
          <a:prstGeom prst="rect">
            <a:avLst/>
          </a:prstGeom>
        </p:spPr>
      </p:pic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2725" b="-2725"/>
          <a:stretch/>
        </p:blipFill>
        <p:spPr>
          <a:xfrm>
            <a:off x="657454" y="4547311"/>
            <a:ext cx="142646" cy="171907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937260" y="4529938"/>
            <a:ext cx="31281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도전① f-string 출력 형식이 예시와 일치하는가?</a:t>
            </a:r>
            <a:endParaRPr lang="en-US" sz="10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2725" b="-2725"/>
          <a:stretch/>
        </p:blipFill>
        <p:spPr>
          <a:xfrm>
            <a:off x="657454" y="4867351"/>
            <a:ext cx="142646" cy="171907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937260" y="4849978"/>
            <a:ext cx="26874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도전② 이동평균 리스트 길이가 15개인가?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2725" b="-2725"/>
          <a:stretch/>
        </p:blipFill>
        <p:spPr>
          <a:xfrm>
            <a:off x="657454" y="5187391"/>
            <a:ext cx="142646" cy="171907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937260" y="5170018"/>
            <a:ext cx="295076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도전③A 치사율이 소수점 2자리로 출력되는가?</a:t>
            </a:r>
            <a:endParaRPr lang="en-US" sz="100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2725" b="-2725"/>
          <a:stretch/>
        </p:blipFill>
        <p:spPr>
          <a:xfrm>
            <a:off x="657454" y="5507431"/>
            <a:ext cx="142646" cy="171907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937260" y="5490972"/>
            <a:ext cx="31318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도전③B 영국 데이터가 정상적으로 추가되었는가?</a:t>
            </a:r>
            <a:endParaRPr lang="en-US" sz="1000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rcRect l="-3" r="-3" t="0" b="0"/>
          <a:stretch/>
        </p:blipFill>
        <p:spPr>
          <a:xfrm>
            <a:off x="4931359" y="1545336"/>
            <a:ext cx="6803136" cy="5084064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4931359" y="1545336"/>
            <a:ext cx="6810451" cy="352044"/>
          </a:xfrm>
          <a:prstGeom prst="roundRect">
            <a:avLst>
              <a:gd name="adj" fmla="val 84240"/>
            </a:avLst>
          </a:prstGeom>
          <a:solidFill>
            <a:srgbClr val="252526"/>
          </a:solidFill>
          <a:ln/>
        </p:spPr>
      </p:sp>
      <p:sp>
        <p:nvSpPr>
          <p:cNvPr id="44" name="Shape 28"/>
          <p:cNvSpPr/>
          <p:nvPr/>
        </p:nvSpPr>
        <p:spPr>
          <a:xfrm>
            <a:off x="4931359" y="1888236"/>
            <a:ext cx="6810451" cy="9144"/>
          </a:xfrm>
          <a:prstGeom prst="roundRect">
            <a:avLst>
              <a:gd name="adj" fmla="val 3243243"/>
            </a:avLst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Shape 29"/>
          <p:cNvSpPr/>
          <p:nvPr/>
        </p:nvSpPr>
        <p:spPr>
          <a:xfrm>
            <a:off x="5084064" y="1665122"/>
            <a:ext cx="95098" cy="9509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0"/>
          <p:cNvSpPr/>
          <p:nvPr/>
        </p:nvSpPr>
        <p:spPr>
          <a:xfrm>
            <a:off x="5255057" y="1665122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1"/>
          <p:cNvSpPr/>
          <p:nvPr/>
        </p:nvSpPr>
        <p:spPr>
          <a:xfrm>
            <a:off x="5426964" y="1665122"/>
            <a:ext cx="95098" cy="9509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2"/>
          <p:cNvSpPr txBox="1"/>
          <p:nvPr/>
        </p:nvSpPr>
        <p:spPr>
          <a:xfrm>
            <a:off x="5674766" y="1636776"/>
            <a:ext cx="838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solution.py</a:t>
            </a:r>
            <a:endParaRPr lang="en-US" sz="900" dirty="0"/>
          </a:p>
        </p:txBody>
      </p:sp>
      <p:sp>
        <p:nvSpPr>
          <p:cNvPr id="49" name="Text 33"/>
          <p:cNvSpPr txBox="1"/>
          <p:nvPr/>
        </p:nvSpPr>
        <p:spPr>
          <a:xfrm>
            <a:off x="5159959" y="2147011"/>
            <a:ext cx="1124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covid_detail</a:t>
            </a:r>
            <a:endParaRPr lang="en-US" sz="1100" dirty="0"/>
          </a:p>
        </p:txBody>
      </p:sp>
      <p:sp>
        <p:nvSpPr>
          <p:cNvPr id="50" name="Text 34"/>
          <p:cNvSpPr txBox="1"/>
          <p:nvPr/>
        </p:nvSpPr>
        <p:spPr>
          <a:xfrm>
            <a:off x="6202375" y="214701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{</a:t>
            </a:r>
            <a:endParaRPr lang="en-US" sz="1100" dirty="0"/>
          </a:p>
        </p:txBody>
      </p:sp>
      <p:sp>
        <p:nvSpPr>
          <p:cNvPr id="51" name="Text 35"/>
          <p:cNvSpPr txBox="1"/>
          <p:nvPr/>
        </p:nvSpPr>
        <p:spPr>
          <a:xfrm>
            <a:off x="6635801" y="2147011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"한국"</a:t>
            </a:r>
            <a:endParaRPr lang="en-US" sz="1100" dirty="0"/>
          </a:p>
        </p:txBody>
      </p:sp>
      <p:sp>
        <p:nvSpPr>
          <p:cNvPr id="52" name="Text 36"/>
          <p:cNvSpPr txBox="1"/>
          <p:nvPr/>
        </p:nvSpPr>
        <p:spPr>
          <a:xfrm>
            <a:off x="7099402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{</a:t>
            </a:r>
            <a:endParaRPr lang="en-US" sz="1100" dirty="0"/>
          </a:p>
        </p:txBody>
      </p:sp>
      <p:sp>
        <p:nvSpPr>
          <p:cNvPr id="53" name="Text 37"/>
          <p:cNvSpPr txBox="1"/>
          <p:nvPr/>
        </p:nvSpPr>
        <p:spPr>
          <a:xfrm>
            <a:off x="7360006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"확진자"</a:t>
            </a:r>
            <a:endParaRPr lang="en-US" sz="1100" dirty="0"/>
          </a:p>
        </p:txBody>
      </p:sp>
      <p:sp>
        <p:nvSpPr>
          <p:cNvPr id="54" name="Text 38"/>
          <p:cNvSpPr txBox="1"/>
          <p:nvPr/>
        </p:nvSpPr>
        <p:spPr>
          <a:xfrm>
            <a:off x="7967167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100" dirty="0"/>
          </a:p>
        </p:txBody>
      </p:sp>
      <p:sp>
        <p:nvSpPr>
          <p:cNvPr id="55" name="Text 39"/>
          <p:cNvSpPr txBox="1"/>
          <p:nvPr/>
        </p:nvSpPr>
        <p:spPr>
          <a:xfrm>
            <a:off x="8140903" y="214701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34571</a:t>
            </a:r>
            <a:endParaRPr lang="en-US" sz="1100" dirty="0"/>
          </a:p>
        </p:txBody>
      </p:sp>
      <p:sp>
        <p:nvSpPr>
          <p:cNvPr id="56" name="Text 40"/>
          <p:cNvSpPr txBox="1"/>
          <p:nvPr/>
        </p:nvSpPr>
        <p:spPr>
          <a:xfrm>
            <a:off x="8575243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57" name="Text 41"/>
          <p:cNvSpPr txBox="1"/>
          <p:nvPr/>
        </p:nvSpPr>
        <p:spPr>
          <a:xfrm>
            <a:off x="8748979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"사망자"</a:t>
            </a:r>
            <a:endParaRPr lang="en-US" sz="1100" dirty="0"/>
          </a:p>
        </p:txBody>
      </p:sp>
      <p:sp>
        <p:nvSpPr>
          <p:cNvPr id="58" name="Text 42"/>
          <p:cNvSpPr txBox="1"/>
          <p:nvPr/>
        </p:nvSpPr>
        <p:spPr>
          <a:xfrm>
            <a:off x="9356141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100" dirty="0"/>
          </a:p>
        </p:txBody>
      </p:sp>
      <p:sp>
        <p:nvSpPr>
          <p:cNvPr id="59" name="Text 43"/>
          <p:cNvSpPr txBox="1"/>
          <p:nvPr/>
        </p:nvSpPr>
        <p:spPr>
          <a:xfrm>
            <a:off x="9529877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247</a:t>
            </a:r>
            <a:endParaRPr lang="en-US" sz="1100" dirty="0"/>
          </a:p>
        </p:txBody>
      </p:sp>
      <p:sp>
        <p:nvSpPr>
          <p:cNvPr id="60" name="Text 44"/>
          <p:cNvSpPr txBox="1"/>
          <p:nvPr/>
        </p:nvSpPr>
        <p:spPr>
          <a:xfrm>
            <a:off x="9790481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61" name="Text 45"/>
          <p:cNvSpPr txBox="1"/>
          <p:nvPr/>
        </p:nvSpPr>
        <p:spPr>
          <a:xfrm>
            <a:off x="9964217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"완치자"</a:t>
            </a:r>
            <a:endParaRPr lang="en-US" sz="1100" dirty="0"/>
          </a:p>
        </p:txBody>
      </p:sp>
      <p:sp>
        <p:nvSpPr>
          <p:cNvPr id="62" name="Text 46"/>
          <p:cNvSpPr txBox="1"/>
          <p:nvPr/>
        </p:nvSpPr>
        <p:spPr>
          <a:xfrm>
            <a:off x="10572293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100" dirty="0"/>
          </a:p>
        </p:txBody>
      </p:sp>
      <p:sp>
        <p:nvSpPr>
          <p:cNvPr id="63" name="Text 47"/>
          <p:cNvSpPr txBox="1"/>
          <p:nvPr/>
        </p:nvSpPr>
        <p:spPr>
          <a:xfrm>
            <a:off x="10745114" y="214701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29700</a:t>
            </a:r>
            <a:endParaRPr lang="en-US" sz="1100" dirty="0"/>
          </a:p>
        </p:txBody>
      </p:sp>
      <p:sp>
        <p:nvSpPr>
          <p:cNvPr id="64" name="Text 48"/>
          <p:cNvSpPr txBox="1"/>
          <p:nvPr/>
        </p:nvSpPr>
        <p:spPr>
          <a:xfrm>
            <a:off x="11179454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},</a:t>
            </a:r>
            <a:endParaRPr lang="en-US" sz="1100" dirty="0"/>
          </a:p>
        </p:txBody>
      </p:sp>
      <p:sp>
        <p:nvSpPr>
          <p:cNvPr id="65" name="Text 49"/>
          <p:cNvSpPr txBox="1"/>
          <p:nvPr/>
        </p:nvSpPr>
        <p:spPr>
          <a:xfrm>
            <a:off x="11440058" y="2147011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"미국"</a:t>
            </a:r>
            <a:endParaRPr lang="en-US" sz="1100" dirty="0"/>
          </a:p>
        </p:txBody>
      </p:sp>
      <p:sp>
        <p:nvSpPr>
          <p:cNvPr id="66" name="Text 50"/>
          <p:cNvSpPr txBox="1"/>
          <p:nvPr/>
        </p:nvSpPr>
        <p:spPr>
          <a:xfrm>
            <a:off x="11902745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{</a:t>
            </a:r>
            <a:endParaRPr lang="en-US" sz="1100" dirty="0"/>
          </a:p>
        </p:txBody>
      </p:sp>
      <p:sp>
        <p:nvSpPr>
          <p:cNvPr id="67" name="Text 51"/>
          <p:cNvSpPr txBox="1"/>
          <p:nvPr/>
        </p:nvSpPr>
        <p:spPr>
          <a:xfrm>
            <a:off x="12163349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"확진자"</a:t>
            </a:r>
            <a:endParaRPr lang="en-US" sz="1100" dirty="0"/>
          </a:p>
        </p:txBody>
      </p:sp>
      <p:sp>
        <p:nvSpPr>
          <p:cNvPr id="68" name="Text 52"/>
          <p:cNvSpPr txBox="1"/>
          <p:nvPr/>
        </p:nvSpPr>
        <p:spPr>
          <a:xfrm>
            <a:off x="12771425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100" dirty="0"/>
          </a:p>
        </p:txBody>
      </p:sp>
      <p:sp>
        <p:nvSpPr>
          <p:cNvPr id="69" name="Text 53"/>
          <p:cNvSpPr txBox="1"/>
          <p:nvPr/>
        </p:nvSpPr>
        <p:spPr>
          <a:xfrm>
            <a:off x="12945161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1850000</a:t>
            </a:r>
            <a:endParaRPr lang="en-US" sz="1100" dirty="0"/>
          </a:p>
        </p:txBody>
      </p:sp>
      <p:sp>
        <p:nvSpPr>
          <p:cNvPr id="70" name="Text 54"/>
          <p:cNvSpPr txBox="1"/>
          <p:nvPr/>
        </p:nvSpPr>
        <p:spPr>
          <a:xfrm>
            <a:off x="13552322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71" name="Text 55"/>
          <p:cNvSpPr txBox="1"/>
          <p:nvPr/>
        </p:nvSpPr>
        <p:spPr>
          <a:xfrm>
            <a:off x="13726058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"사망자"</a:t>
            </a:r>
            <a:endParaRPr lang="en-US" sz="1100" dirty="0"/>
          </a:p>
        </p:txBody>
      </p:sp>
      <p:sp>
        <p:nvSpPr>
          <p:cNvPr id="72" name="Text 56"/>
          <p:cNvSpPr txBox="1"/>
          <p:nvPr/>
        </p:nvSpPr>
        <p:spPr>
          <a:xfrm>
            <a:off x="14334134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100" dirty="0"/>
          </a:p>
        </p:txBody>
      </p:sp>
      <p:sp>
        <p:nvSpPr>
          <p:cNvPr id="73" name="Text 57"/>
          <p:cNvSpPr txBox="1"/>
          <p:nvPr/>
        </p:nvSpPr>
        <p:spPr>
          <a:xfrm>
            <a:off x="14507870" y="2147011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107175</a:t>
            </a:r>
            <a:endParaRPr lang="en-US" sz="1100" dirty="0"/>
          </a:p>
        </p:txBody>
      </p:sp>
      <p:sp>
        <p:nvSpPr>
          <p:cNvPr id="74" name="Text 58"/>
          <p:cNvSpPr txBox="1"/>
          <p:nvPr/>
        </p:nvSpPr>
        <p:spPr>
          <a:xfrm>
            <a:off x="15029078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75" name="Text 59"/>
          <p:cNvSpPr txBox="1"/>
          <p:nvPr/>
        </p:nvSpPr>
        <p:spPr>
          <a:xfrm>
            <a:off x="15201900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"완치자"</a:t>
            </a:r>
            <a:endParaRPr lang="en-US" sz="1100" dirty="0"/>
          </a:p>
        </p:txBody>
      </p:sp>
      <p:sp>
        <p:nvSpPr>
          <p:cNvPr id="76" name="Text 60"/>
          <p:cNvSpPr txBox="1"/>
          <p:nvPr/>
        </p:nvSpPr>
        <p:spPr>
          <a:xfrm>
            <a:off x="15809976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100" dirty="0"/>
          </a:p>
        </p:txBody>
      </p:sp>
      <p:sp>
        <p:nvSpPr>
          <p:cNvPr id="77" name="Text 61"/>
          <p:cNvSpPr txBox="1"/>
          <p:nvPr/>
        </p:nvSpPr>
        <p:spPr>
          <a:xfrm>
            <a:off x="15983712" y="2147011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463110</a:t>
            </a:r>
            <a:endParaRPr lang="en-US" sz="1100" dirty="0"/>
          </a:p>
        </p:txBody>
      </p:sp>
      <p:sp>
        <p:nvSpPr>
          <p:cNvPr id="78" name="Text 62"/>
          <p:cNvSpPr txBox="1"/>
          <p:nvPr/>
        </p:nvSpPr>
        <p:spPr>
          <a:xfrm>
            <a:off x="16504920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},</a:t>
            </a:r>
            <a:endParaRPr lang="en-US" sz="1100" dirty="0"/>
          </a:p>
        </p:txBody>
      </p:sp>
      <p:sp>
        <p:nvSpPr>
          <p:cNvPr id="79" name="Text 63"/>
          <p:cNvSpPr txBox="1"/>
          <p:nvPr/>
        </p:nvSpPr>
        <p:spPr>
          <a:xfrm>
            <a:off x="16764610" y="2147011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"일본"</a:t>
            </a:r>
            <a:endParaRPr lang="en-US" sz="1100" dirty="0"/>
          </a:p>
        </p:txBody>
      </p:sp>
      <p:sp>
        <p:nvSpPr>
          <p:cNvPr id="80" name="Text 64"/>
          <p:cNvSpPr txBox="1"/>
          <p:nvPr/>
        </p:nvSpPr>
        <p:spPr>
          <a:xfrm>
            <a:off x="17228210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{</a:t>
            </a:r>
            <a:endParaRPr lang="en-US" sz="1100" dirty="0"/>
          </a:p>
        </p:txBody>
      </p:sp>
      <p:sp>
        <p:nvSpPr>
          <p:cNvPr id="81" name="Text 65"/>
          <p:cNvSpPr txBox="1"/>
          <p:nvPr/>
        </p:nvSpPr>
        <p:spPr>
          <a:xfrm>
            <a:off x="17488814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"확진자"</a:t>
            </a:r>
            <a:endParaRPr lang="en-US" sz="1100" dirty="0"/>
          </a:p>
        </p:txBody>
      </p:sp>
      <p:sp>
        <p:nvSpPr>
          <p:cNvPr id="82" name="Text 66"/>
          <p:cNvSpPr txBox="1"/>
          <p:nvPr/>
        </p:nvSpPr>
        <p:spPr>
          <a:xfrm>
            <a:off x="18095976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100" dirty="0"/>
          </a:p>
        </p:txBody>
      </p:sp>
      <p:sp>
        <p:nvSpPr>
          <p:cNvPr id="83" name="Text 67"/>
          <p:cNvSpPr txBox="1"/>
          <p:nvPr/>
        </p:nvSpPr>
        <p:spPr>
          <a:xfrm>
            <a:off x="18269712" y="214701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18723</a:t>
            </a:r>
            <a:endParaRPr lang="en-US" sz="1100" dirty="0"/>
          </a:p>
        </p:txBody>
      </p:sp>
      <p:sp>
        <p:nvSpPr>
          <p:cNvPr id="84" name="Text 68"/>
          <p:cNvSpPr txBox="1"/>
          <p:nvPr/>
        </p:nvSpPr>
        <p:spPr>
          <a:xfrm>
            <a:off x="18704052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85" name="Text 69"/>
          <p:cNvSpPr txBox="1"/>
          <p:nvPr/>
        </p:nvSpPr>
        <p:spPr>
          <a:xfrm>
            <a:off x="18877788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"사망자"</a:t>
            </a:r>
            <a:endParaRPr lang="en-US" sz="1100" dirty="0"/>
          </a:p>
        </p:txBody>
      </p:sp>
      <p:sp>
        <p:nvSpPr>
          <p:cNvPr id="86" name="Text 70"/>
          <p:cNvSpPr txBox="1"/>
          <p:nvPr/>
        </p:nvSpPr>
        <p:spPr>
          <a:xfrm>
            <a:off x="19484950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100" dirty="0"/>
          </a:p>
        </p:txBody>
      </p:sp>
      <p:sp>
        <p:nvSpPr>
          <p:cNvPr id="87" name="Text 71"/>
          <p:cNvSpPr txBox="1"/>
          <p:nvPr/>
        </p:nvSpPr>
        <p:spPr>
          <a:xfrm>
            <a:off x="19658686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972</a:t>
            </a:r>
            <a:endParaRPr lang="en-US" sz="1100" dirty="0"/>
          </a:p>
        </p:txBody>
      </p:sp>
      <p:sp>
        <p:nvSpPr>
          <p:cNvPr id="88" name="Text 72"/>
          <p:cNvSpPr txBox="1"/>
          <p:nvPr/>
        </p:nvSpPr>
        <p:spPr>
          <a:xfrm>
            <a:off x="19919290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89" name="Text 73"/>
          <p:cNvSpPr txBox="1"/>
          <p:nvPr/>
        </p:nvSpPr>
        <p:spPr>
          <a:xfrm>
            <a:off x="20093026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"완치자"</a:t>
            </a:r>
            <a:endParaRPr lang="en-US" sz="1100" dirty="0"/>
          </a:p>
        </p:txBody>
      </p:sp>
      <p:sp>
        <p:nvSpPr>
          <p:cNvPr id="90" name="Text 74"/>
          <p:cNvSpPr txBox="1"/>
          <p:nvPr/>
        </p:nvSpPr>
        <p:spPr>
          <a:xfrm>
            <a:off x="20701102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100" dirty="0"/>
          </a:p>
        </p:txBody>
      </p:sp>
      <p:sp>
        <p:nvSpPr>
          <p:cNvPr id="91" name="Text 75"/>
          <p:cNvSpPr txBox="1"/>
          <p:nvPr/>
        </p:nvSpPr>
        <p:spPr>
          <a:xfrm>
            <a:off x="20874838" y="214701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16431</a:t>
            </a:r>
            <a:endParaRPr lang="en-US" sz="1100" dirty="0"/>
          </a:p>
        </p:txBody>
      </p:sp>
      <p:sp>
        <p:nvSpPr>
          <p:cNvPr id="92" name="Text 76"/>
          <p:cNvSpPr txBox="1"/>
          <p:nvPr/>
        </p:nvSpPr>
        <p:spPr>
          <a:xfrm>
            <a:off x="21308263" y="2147011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 }</a:t>
            </a:r>
            <a:endParaRPr lang="en-US" sz="1100" dirty="0"/>
          </a:p>
        </p:txBody>
      </p:sp>
      <p:sp>
        <p:nvSpPr>
          <p:cNvPr id="93" name="Text 77"/>
          <p:cNvSpPr txBox="1"/>
          <p:nvPr/>
        </p:nvSpPr>
        <p:spPr>
          <a:xfrm>
            <a:off x="21655735" y="2147011"/>
            <a:ext cx="27441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1) 한국의 '치료 중' 환자 수 계산</a:t>
            </a:r>
            <a:endParaRPr lang="en-US" sz="1100" dirty="0"/>
          </a:p>
        </p:txBody>
      </p:sp>
      <p:sp>
        <p:nvSpPr>
          <p:cNvPr id="94" name="Text 78"/>
          <p:cNvSpPr txBox="1"/>
          <p:nvPr/>
        </p:nvSpPr>
        <p:spPr>
          <a:xfrm>
            <a:off x="24289207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kr</a:t>
            </a:r>
            <a:endParaRPr lang="en-US" sz="1100" dirty="0"/>
          </a:p>
        </p:txBody>
      </p:sp>
      <p:sp>
        <p:nvSpPr>
          <p:cNvPr id="95" name="Text 79"/>
          <p:cNvSpPr txBox="1"/>
          <p:nvPr/>
        </p:nvSpPr>
        <p:spPr>
          <a:xfrm>
            <a:off x="24462943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100" dirty="0"/>
          </a:p>
        </p:txBody>
      </p:sp>
      <p:sp>
        <p:nvSpPr>
          <p:cNvPr id="96" name="Text 80"/>
          <p:cNvSpPr txBox="1"/>
          <p:nvPr/>
        </p:nvSpPr>
        <p:spPr>
          <a:xfrm>
            <a:off x="24723547" y="2147011"/>
            <a:ext cx="1124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covid_detail</a:t>
            </a:r>
            <a:endParaRPr lang="en-US" sz="1100" dirty="0"/>
          </a:p>
        </p:txBody>
      </p:sp>
      <p:sp>
        <p:nvSpPr>
          <p:cNvPr id="97" name="Text 81"/>
          <p:cNvSpPr txBox="1"/>
          <p:nvPr/>
        </p:nvSpPr>
        <p:spPr>
          <a:xfrm>
            <a:off x="25765049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100" dirty="0"/>
          </a:p>
        </p:txBody>
      </p:sp>
      <p:sp>
        <p:nvSpPr>
          <p:cNvPr id="98" name="Text 82"/>
          <p:cNvSpPr txBox="1"/>
          <p:nvPr/>
        </p:nvSpPr>
        <p:spPr>
          <a:xfrm>
            <a:off x="25851917" y="2147011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"한국"</a:t>
            </a:r>
            <a:endParaRPr lang="en-US" sz="1100" dirty="0"/>
          </a:p>
        </p:txBody>
      </p:sp>
      <p:sp>
        <p:nvSpPr>
          <p:cNvPr id="99" name="Text 83"/>
          <p:cNvSpPr txBox="1"/>
          <p:nvPr/>
        </p:nvSpPr>
        <p:spPr>
          <a:xfrm>
            <a:off x="26314603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100" dirty="0"/>
          </a:p>
        </p:txBody>
      </p:sp>
      <p:sp>
        <p:nvSpPr>
          <p:cNvPr id="100" name="Text 84"/>
          <p:cNvSpPr txBox="1"/>
          <p:nvPr/>
        </p:nvSpPr>
        <p:spPr>
          <a:xfrm>
            <a:off x="26488339" y="2147011"/>
            <a:ext cx="1124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korea_active</a:t>
            </a:r>
            <a:endParaRPr lang="en-US" sz="1100" dirty="0"/>
          </a:p>
        </p:txBody>
      </p:sp>
      <p:sp>
        <p:nvSpPr>
          <p:cNvPr id="101" name="Text 85"/>
          <p:cNvSpPr txBox="1"/>
          <p:nvPr/>
        </p:nvSpPr>
        <p:spPr>
          <a:xfrm>
            <a:off x="27530755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100" dirty="0"/>
          </a:p>
        </p:txBody>
      </p:sp>
      <p:sp>
        <p:nvSpPr>
          <p:cNvPr id="102" name="Text 86"/>
          <p:cNvSpPr txBox="1"/>
          <p:nvPr/>
        </p:nvSpPr>
        <p:spPr>
          <a:xfrm>
            <a:off x="27790445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kr</a:t>
            </a:r>
            <a:endParaRPr lang="en-US" sz="1100" dirty="0"/>
          </a:p>
        </p:txBody>
      </p:sp>
      <p:sp>
        <p:nvSpPr>
          <p:cNvPr id="103" name="Text 87"/>
          <p:cNvSpPr txBox="1"/>
          <p:nvPr/>
        </p:nvSpPr>
        <p:spPr>
          <a:xfrm>
            <a:off x="27964181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100" dirty="0"/>
          </a:p>
        </p:txBody>
      </p:sp>
      <p:sp>
        <p:nvSpPr>
          <p:cNvPr id="104" name="Text 88"/>
          <p:cNvSpPr txBox="1"/>
          <p:nvPr/>
        </p:nvSpPr>
        <p:spPr>
          <a:xfrm>
            <a:off x="28051049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"확진자"</a:t>
            </a:r>
            <a:endParaRPr lang="en-US" sz="1100" dirty="0"/>
          </a:p>
        </p:txBody>
      </p:sp>
      <p:sp>
        <p:nvSpPr>
          <p:cNvPr id="105" name="Text 89"/>
          <p:cNvSpPr txBox="1"/>
          <p:nvPr/>
        </p:nvSpPr>
        <p:spPr>
          <a:xfrm>
            <a:off x="28659125" y="2147011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-</a:t>
            </a:r>
            <a:endParaRPr lang="en-US" sz="1100" dirty="0"/>
          </a:p>
        </p:txBody>
      </p:sp>
      <p:sp>
        <p:nvSpPr>
          <p:cNvPr id="106" name="Text 90"/>
          <p:cNvSpPr txBox="1"/>
          <p:nvPr/>
        </p:nvSpPr>
        <p:spPr>
          <a:xfrm>
            <a:off x="29006597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kr</a:t>
            </a:r>
            <a:endParaRPr lang="en-US" sz="1100" dirty="0"/>
          </a:p>
        </p:txBody>
      </p:sp>
      <p:sp>
        <p:nvSpPr>
          <p:cNvPr id="107" name="Text 91"/>
          <p:cNvSpPr txBox="1"/>
          <p:nvPr/>
        </p:nvSpPr>
        <p:spPr>
          <a:xfrm>
            <a:off x="29180333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100" dirty="0"/>
          </a:p>
        </p:txBody>
      </p:sp>
      <p:sp>
        <p:nvSpPr>
          <p:cNvPr id="108" name="Text 92"/>
          <p:cNvSpPr txBox="1"/>
          <p:nvPr/>
        </p:nvSpPr>
        <p:spPr>
          <a:xfrm>
            <a:off x="29267201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"사망자"</a:t>
            </a:r>
            <a:endParaRPr lang="en-US" sz="1100" dirty="0"/>
          </a:p>
        </p:txBody>
      </p:sp>
      <p:sp>
        <p:nvSpPr>
          <p:cNvPr id="109" name="Text 93"/>
          <p:cNvSpPr txBox="1"/>
          <p:nvPr/>
        </p:nvSpPr>
        <p:spPr>
          <a:xfrm>
            <a:off x="29874362" y="2147011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-</a:t>
            </a:r>
            <a:endParaRPr lang="en-US" sz="1100" dirty="0"/>
          </a:p>
        </p:txBody>
      </p:sp>
      <p:sp>
        <p:nvSpPr>
          <p:cNvPr id="110" name="Text 94"/>
          <p:cNvSpPr txBox="1"/>
          <p:nvPr/>
        </p:nvSpPr>
        <p:spPr>
          <a:xfrm>
            <a:off x="30221834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kr</a:t>
            </a:r>
            <a:endParaRPr lang="en-US" sz="1100" dirty="0"/>
          </a:p>
        </p:txBody>
      </p:sp>
      <p:sp>
        <p:nvSpPr>
          <p:cNvPr id="111" name="Text 95"/>
          <p:cNvSpPr txBox="1"/>
          <p:nvPr/>
        </p:nvSpPr>
        <p:spPr>
          <a:xfrm>
            <a:off x="30395570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100" dirty="0"/>
          </a:p>
        </p:txBody>
      </p:sp>
      <p:sp>
        <p:nvSpPr>
          <p:cNvPr id="112" name="Text 96"/>
          <p:cNvSpPr txBox="1"/>
          <p:nvPr/>
        </p:nvSpPr>
        <p:spPr>
          <a:xfrm>
            <a:off x="30482438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"완치자"</a:t>
            </a:r>
            <a:endParaRPr lang="en-US" sz="1100" dirty="0"/>
          </a:p>
        </p:txBody>
      </p:sp>
      <p:sp>
        <p:nvSpPr>
          <p:cNvPr id="113" name="Text 97"/>
          <p:cNvSpPr txBox="1"/>
          <p:nvPr/>
        </p:nvSpPr>
        <p:spPr>
          <a:xfrm>
            <a:off x="31090514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100" dirty="0"/>
          </a:p>
        </p:txBody>
      </p:sp>
      <p:sp>
        <p:nvSpPr>
          <p:cNvPr id="114" name="Text 98"/>
          <p:cNvSpPr txBox="1"/>
          <p:nvPr/>
        </p:nvSpPr>
        <p:spPr>
          <a:xfrm>
            <a:off x="31264250" y="214701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100" dirty="0"/>
          </a:p>
        </p:txBody>
      </p:sp>
      <p:sp>
        <p:nvSpPr>
          <p:cNvPr id="115" name="Text 99"/>
          <p:cNvSpPr txBox="1"/>
          <p:nvPr/>
        </p:nvSpPr>
        <p:spPr>
          <a:xfrm>
            <a:off x="31698590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116" name="Text 100"/>
          <p:cNvSpPr txBox="1"/>
          <p:nvPr/>
        </p:nvSpPr>
        <p:spPr>
          <a:xfrm>
            <a:off x="31785458" y="2147011"/>
            <a:ext cx="30202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f"한국 치료 중: {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korea_active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:,}명"</a:t>
            </a:r>
            <a:endParaRPr lang="en-US" sz="1100" dirty="0"/>
          </a:p>
        </p:txBody>
      </p:sp>
      <p:sp>
        <p:nvSpPr>
          <p:cNvPr id="117" name="Text 101"/>
          <p:cNvSpPr txBox="1"/>
          <p:nvPr/>
        </p:nvSpPr>
        <p:spPr>
          <a:xfrm>
            <a:off x="33115910" y="2147011"/>
            <a:ext cx="1124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korea_active</a:t>
            </a:r>
            <a:endParaRPr lang="en-US" sz="1100" dirty="0"/>
          </a:p>
        </p:txBody>
      </p:sp>
      <p:sp>
        <p:nvSpPr>
          <p:cNvPr id="118" name="Text 102"/>
          <p:cNvSpPr txBox="1"/>
          <p:nvPr/>
        </p:nvSpPr>
        <p:spPr>
          <a:xfrm>
            <a:off x="34650274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100" dirty="0"/>
          </a:p>
        </p:txBody>
      </p:sp>
      <p:sp>
        <p:nvSpPr>
          <p:cNvPr id="119" name="Text 103"/>
          <p:cNvSpPr txBox="1"/>
          <p:nvPr/>
        </p:nvSpPr>
        <p:spPr>
          <a:xfrm>
            <a:off x="34824010" y="2147011"/>
            <a:ext cx="250637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2) 모든 국가의 완치율(%) 출력</a:t>
            </a:r>
            <a:endParaRPr lang="en-US" sz="1100" dirty="0"/>
          </a:p>
        </p:txBody>
      </p:sp>
      <p:sp>
        <p:nvSpPr>
          <p:cNvPr id="120" name="Text 104"/>
          <p:cNvSpPr txBox="1"/>
          <p:nvPr/>
        </p:nvSpPr>
        <p:spPr>
          <a:xfrm>
            <a:off x="37225224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</a:t>
            </a:r>
            <a:endParaRPr lang="en-US" sz="1100" dirty="0"/>
          </a:p>
        </p:txBody>
      </p:sp>
      <p:sp>
        <p:nvSpPr>
          <p:cNvPr id="121" name="Text 105"/>
          <p:cNvSpPr txBox="1"/>
          <p:nvPr/>
        </p:nvSpPr>
        <p:spPr>
          <a:xfrm>
            <a:off x="37485828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country</a:t>
            </a:r>
            <a:endParaRPr lang="en-US" sz="1100" dirty="0"/>
          </a:p>
        </p:txBody>
      </p:sp>
      <p:sp>
        <p:nvSpPr>
          <p:cNvPr id="122" name="Text 106"/>
          <p:cNvSpPr txBox="1"/>
          <p:nvPr/>
        </p:nvSpPr>
        <p:spPr>
          <a:xfrm>
            <a:off x="38093904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123" name="Text 107"/>
          <p:cNvSpPr txBox="1"/>
          <p:nvPr/>
        </p:nvSpPr>
        <p:spPr>
          <a:xfrm>
            <a:off x="38267640" y="2147011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data</a:t>
            </a:r>
            <a:endParaRPr lang="en-US" sz="1100" dirty="0"/>
          </a:p>
        </p:txBody>
      </p:sp>
      <p:sp>
        <p:nvSpPr>
          <p:cNvPr id="124" name="Text 108"/>
          <p:cNvSpPr txBox="1"/>
          <p:nvPr/>
        </p:nvSpPr>
        <p:spPr>
          <a:xfrm>
            <a:off x="38614198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endParaRPr lang="en-US" sz="1100" dirty="0"/>
          </a:p>
        </p:txBody>
      </p:sp>
      <p:sp>
        <p:nvSpPr>
          <p:cNvPr id="125" name="Text 109"/>
          <p:cNvSpPr txBox="1"/>
          <p:nvPr/>
        </p:nvSpPr>
        <p:spPr>
          <a:xfrm>
            <a:off x="38787934" y="2147011"/>
            <a:ext cx="1124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covid_detail</a:t>
            </a:r>
            <a:endParaRPr lang="en-US" sz="1100" dirty="0"/>
          </a:p>
        </p:txBody>
      </p:sp>
      <p:sp>
        <p:nvSpPr>
          <p:cNvPr id="126" name="Text 110"/>
          <p:cNvSpPr txBox="1"/>
          <p:nvPr/>
        </p:nvSpPr>
        <p:spPr>
          <a:xfrm>
            <a:off x="39830350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100" dirty="0"/>
          </a:p>
        </p:txBody>
      </p:sp>
      <p:sp>
        <p:nvSpPr>
          <p:cNvPr id="127" name="Text 111"/>
          <p:cNvSpPr txBox="1"/>
          <p:nvPr/>
        </p:nvSpPr>
        <p:spPr>
          <a:xfrm>
            <a:off x="39917218" y="214701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items</a:t>
            </a:r>
            <a:endParaRPr lang="en-US" sz="1100" dirty="0"/>
          </a:p>
        </p:txBody>
      </p:sp>
      <p:sp>
        <p:nvSpPr>
          <p:cNvPr id="128" name="Text 112"/>
          <p:cNvSpPr txBox="1"/>
          <p:nvPr/>
        </p:nvSpPr>
        <p:spPr>
          <a:xfrm>
            <a:off x="40351558" y="2147011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():</a:t>
            </a:r>
            <a:endParaRPr lang="en-US" sz="1100" dirty="0"/>
          </a:p>
        </p:txBody>
      </p:sp>
      <p:sp>
        <p:nvSpPr>
          <p:cNvPr id="129" name="Text 113"/>
          <p:cNvSpPr txBox="1"/>
          <p:nvPr/>
        </p:nvSpPr>
        <p:spPr>
          <a:xfrm>
            <a:off x="40698115" y="2147011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recovery_rate</a:t>
            </a:r>
            <a:endParaRPr lang="en-US" sz="1100" dirty="0"/>
          </a:p>
        </p:txBody>
      </p:sp>
      <p:sp>
        <p:nvSpPr>
          <p:cNvPr id="130" name="Text 114"/>
          <p:cNvSpPr txBox="1"/>
          <p:nvPr/>
        </p:nvSpPr>
        <p:spPr>
          <a:xfrm>
            <a:off x="41827399" y="2147011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 (</a:t>
            </a:r>
            <a:endParaRPr lang="en-US" sz="1100" dirty="0"/>
          </a:p>
        </p:txBody>
      </p:sp>
      <p:sp>
        <p:nvSpPr>
          <p:cNvPr id="131" name="Text 115"/>
          <p:cNvSpPr txBox="1"/>
          <p:nvPr/>
        </p:nvSpPr>
        <p:spPr>
          <a:xfrm>
            <a:off x="42174871" y="2147011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data</a:t>
            </a:r>
            <a:endParaRPr lang="en-US" sz="1100" dirty="0"/>
          </a:p>
        </p:txBody>
      </p:sp>
      <p:sp>
        <p:nvSpPr>
          <p:cNvPr id="132" name="Text 116"/>
          <p:cNvSpPr txBox="1"/>
          <p:nvPr/>
        </p:nvSpPr>
        <p:spPr>
          <a:xfrm>
            <a:off x="42521429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100" dirty="0"/>
          </a:p>
        </p:txBody>
      </p:sp>
      <p:sp>
        <p:nvSpPr>
          <p:cNvPr id="133" name="Text 117"/>
          <p:cNvSpPr txBox="1"/>
          <p:nvPr/>
        </p:nvSpPr>
        <p:spPr>
          <a:xfrm>
            <a:off x="42608297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"완치자"</a:t>
            </a:r>
            <a:endParaRPr lang="en-US" sz="1100" dirty="0"/>
          </a:p>
        </p:txBody>
      </p:sp>
      <p:sp>
        <p:nvSpPr>
          <p:cNvPr id="134" name="Text 118"/>
          <p:cNvSpPr txBox="1"/>
          <p:nvPr/>
        </p:nvSpPr>
        <p:spPr>
          <a:xfrm>
            <a:off x="43216373" y="2147011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/</a:t>
            </a:r>
            <a:endParaRPr lang="en-US" sz="1100" dirty="0"/>
          </a:p>
        </p:txBody>
      </p:sp>
      <p:sp>
        <p:nvSpPr>
          <p:cNvPr id="135" name="Text 119"/>
          <p:cNvSpPr txBox="1"/>
          <p:nvPr/>
        </p:nvSpPr>
        <p:spPr>
          <a:xfrm>
            <a:off x="43563845" y="2147011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data</a:t>
            </a:r>
            <a:endParaRPr lang="en-US" sz="1100" dirty="0"/>
          </a:p>
        </p:txBody>
      </p:sp>
      <p:sp>
        <p:nvSpPr>
          <p:cNvPr id="136" name="Text 120"/>
          <p:cNvSpPr txBox="1"/>
          <p:nvPr/>
        </p:nvSpPr>
        <p:spPr>
          <a:xfrm>
            <a:off x="43911317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100" dirty="0"/>
          </a:p>
        </p:txBody>
      </p:sp>
      <p:sp>
        <p:nvSpPr>
          <p:cNvPr id="137" name="Text 121"/>
          <p:cNvSpPr txBox="1"/>
          <p:nvPr/>
        </p:nvSpPr>
        <p:spPr>
          <a:xfrm>
            <a:off x="43998185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"확진자"</a:t>
            </a:r>
            <a:endParaRPr lang="en-US" sz="1100" dirty="0"/>
          </a:p>
        </p:txBody>
      </p:sp>
      <p:sp>
        <p:nvSpPr>
          <p:cNvPr id="138" name="Text 122"/>
          <p:cNvSpPr txBox="1"/>
          <p:nvPr/>
        </p:nvSpPr>
        <p:spPr>
          <a:xfrm>
            <a:off x="44605346" y="214701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]) *</a:t>
            </a:r>
            <a:endParaRPr lang="en-US" sz="1100" dirty="0"/>
          </a:p>
        </p:txBody>
      </p:sp>
      <p:sp>
        <p:nvSpPr>
          <p:cNvPr id="139" name="Text 123"/>
          <p:cNvSpPr txBox="1"/>
          <p:nvPr/>
        </p:nvSpPr>
        <p:spPr>
          <a:xfrm>
            <a:off x="45039686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100</a:t>
            </a:r>
            <a:endParaRPr lang="en-US" sz="1100" dirty="0"/>
          </a:p>
        </p:txBody>
      </p:sp>
      <p:sp>
        <p:nvSpPr>
          <p:cNvPr id="140" name="Text 124"/>
          <p:cNvSpPr txBox="1"/>
          <p:nvPr/>
        </p:nvSpPr>
        <p:spPr>
          <a:xfrm>
            <a:off x="45300290" y="214701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100" dirty="0"/>
          </a:p>
        </p:txBody>
      </p:sp>
      <p:sp>
        <p:nvSpPr>
          <p:cNvPr id="141" name="Text 125"/>
          <p:cNvSpPr txBox="1"/>
          <p:nvPr/>
        </p:nvSpPr>
        <p:spPr>
          <a:xfrm>
            <a:off x="45734630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142" name="Text 126"/>
          <p:cNvSpPr txBox="1"/>
          <p:nvPr/>
        </p:nvSpPr>
        <p:spPr>
          <a:xfrm>
            <a:off x="45821498" y="2147011"/>
            <a:ext cx="338968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 {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country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}: {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recovery_rate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:.1f}%"</a:t>
            </a:r>
            <a:endParaRPr lang="en-US" sz="1100" dirty="0"/>
          </a:p>
        </p:txBody>
      </p:sp>
      <p:sp>
        <p:nvSpPr>
          <p:cNvPr id="143" name="Text 127"/>
          <p:cNvSpPr txBox="1"/>
          <p:nvPr/>
        </p:nvSpPr>
        <p:spPr>
          <a:xfrm>
            <a:off x="46168970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country</a:t>
            </a:r>
            <a:endParaRPr lang="en-US" sz="1100" dirty="0"/>
          </a:p>
        </p:txBody>
      </p:sp>
      <p:sp>
        <p:nvSpPr>
          <p:cNvPr id="144" name="Text 128"/>
          <p:cNvSpPr txBox="1"/>
          <p:nvPr/>
        </p:nvSpPr>
        <p:spPr>
          <a:xfrm>
            <a:off x="47123604" y="2147011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recovery_rate</a:t>
            </a:r>
            <a:endParaRPr lang="en-US" sz="1100" dirty="0"/>
          </a:p>
        </p:txBody>
      </p:sp>
      <p:sp>
        <p:nvSpPr>
          <p:cNvPr id="145" name="Text 129"/>
          <p:cNvSpPr txBox="1"/>
          <p:nvPr/>
        </p:nvSpPr>
        <p:spPr>
          <a:xfrm>
            <a:off x="48860050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100" dirty="0"/>
          </a:p>
        </p:txBody>
      </p:sp>
      <p:sp>
        <p:nvSpPr>
          <p:cNvPr id="146" name="Text 130"/>
          <p:cNvSpPr txBox="1"/>
          <p:nvPr/>
        </p:nvSpPr>
        <p:spPr>
          <a:xfrm>
            <a:off x="49033786" y="2147011"/>
            <a:ext cx="30294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3) 영국 데이터 추가 (중첩 딕셔너리)</a:t>
            </a:r>
            <a:endParaRPr lang="en-US" sz="1100" dirty="0"/>
          </a:p>
        </p:txBody>
      </p:sp>
      <p:sp>
        <p:nvSpPr>
          <p:cNvPr id="147" name="Text 131"/>
          <p:cNvSpPr txBox="1"/>
          <p:nvPr/>
        </p:nvSpPr>
        <p:spPr>
          <a:xfrm>
            <a:off x="51869340" y="2147011"/>
            <a:ext cx="1124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covid_detail</a:t>
            </a:r>
            <a:endParaRPr lang="en-US" sz="1100" dirty="0"/>
          </a:p>
        </p:txBody>
      </p:sp>
      <p:sp>
        <p:nvSpPr>
          <p:cNvPr id="148" name="Text 132"/>
          <p:cNvSpPr txBox="1"/>
          <p:nvPr/>
        </p:nvSpPr>
        <p:spPr>
          <a:xfrm>
            <a:off x="52911756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100" dirty="0"/>
          </a:p>
        </p:txBody>
      </p:sp>
      <p:sp>
        <p:nvSpPr>
          <p:cNvPr id="149" name="Text 133"/>
          <p:cNvSpPr txBox="1"/>
          <p:nvPr/>
        </p:nvSpPr>
        <p:spPr>
          <a:xfrm>
            <a:off x="52998624" y="2147011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"영국"</a:t>
            </a:r>
            <a:endParaRPr lang="en-US" sz="1100" dirty="0"/>
          </a:p>
        </p:txBody>
      </p:sp>
      <p:sp>
        <p:nvSpPr>
          <p:cNvPr id="150" name="Text 134"/>
          <p:cNvSpPr txBox="1"/>
          <p:nvPr/>
        </p:nvSpPr>
        <p:spPr>
          <a:xfrm>
            <a:off x="53461310" y="2147011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 = {</a:t>
            </a:r>
            <a:endParaRPr lang="en-US" sz="1100" dirty="0"/>
          </a:p>
        </p:txBody>
      </p:sp>
      <p:sp>
        <p:nvSpPr>
          <p:cNvPr id="151" name="Text 135"/>
          <p:cNvSpPr txBox="1"/>
          <p:nvPr/>
        </p:nvSpPr>
        <p:spPr>
          <a:xfrm>
            <a:off x="53982518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"확진자"</a:t>
            </a:r>
            <a:endParaRPr lang="en-US" sz="1100" dirty="0"/>
          </a:p>
        </p:txBody>
      </p:sp>
      <p:sp>
        <p:nvSpPr>
          <p:cNvPr id="152" name="Text 136"/>
          <p:cNvSpPr txBox="1"/>
          <p:nvPr/>
        </p:nvSpPr>
        <p:spPr>
          <a:xfrm>
            <a:off x="54589680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100" dirty="0"/>
          </a:p>
        </p:txBody>
      </p:sp>
      <p:sp>
        <p:nvSpPr>
          <p:cNvPr id="153" name="Text 137"/>
          <p:cNvSpPr txBox="1"/>
          <p:nvPr/>
        </p:nvSpPr>
        <p:spPr>
          <a:xfrm>
            <a:off x="54763416" y="2147011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312654</a:t>
            </a:r>
            <a:endParaRPr lang="en-US" sz="1100" dirty="0"/>
          </a:p>
        </p:txBody>
      </p:sp>
      <p:sp>
        <p:nvSpPr>
          <p:cNvPr id="154" name="Text 138"/>
          <p:cNvSpPr txBox="1"/>
          <p:nvPr/>
        </p:nvSpPr>
        <p:spPr>
          <a:xfrm>
            <a:off x="55284624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155" name="Text 139"/>
          <p:cNvSpPr txBox="1"/>
          <p:nvPr/>
        </p:nvSpPr>
        <p:spPr>
          <a:xfrm>
            <a:off x="55458360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"사망자"</a:t>
            </a:r>
            <a:endParaRPr lang="en-US" sz="1100" dirty="0"/>
          </a:p>
        </p:txBody>
      </p:sp>
      <p:sp>
        <p:nvSpPr>
          <p:cNvPr id="156" name="Text 140"/>
          <p:cNvSpPr txBox="1"/>
          <p:nvPr/>
        </p:nvSpPr>
        <p:spPr>
          <a:xfrm>
            <a:off x="56065522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100" dirty="0"/>
          </a:p>
        </p:txBody>
      </p:sp>
      <p:sp>
        <p:nvSpPr>
          <p:cNvPr id="157" name="Text 141"/>
          <p:cNvSpPr txBox="1"/>
          <p:nvPr/>
        </p:nvSpPr>
        <p:spPr>
          <a:xfrm>
            <a:off x="56239258" y="214701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43730</a:t>
            </a:r>
            <a:endParaRPr lang="en-US" sz="1100" dirty="0"/>
          </a:p>
        </p:txBody>
      </p:sp>
      <p:sp>
        <p:nvSpPr>
          <p:cNvPr id="158" name="Text 142"/>
          <p:cNvSpPr txBox="1"/>
          <p:nvPr/>
        </p:nvSpPr>
        <p:spPr>
          <a:xfrm>
            <a:off x="56673598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1100" dirty="0"/>
          </a:p>
        </p:txBody>
      </p:sp>
      <p:sp>
        <p:nvSpPr>
          <p:cNvPr id="159" name="Text 143"/>
          <p:cNvSpPr txBox="1"/>
          <p:nvPr/>
        </p:nvSpPr>
        <p:spPr>
          <a:xfrm>
            <a:off x="56847334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"완치자"</a:t>
            </a:r>
            <a:endParaRPr lang="en-US" sz="1100" dirty="0"/>
          </a:p>
        </p:txBody>
      </p:sp>
      <p:sp>
        <p:nvSpPr>
          <p:cNvPr id="160" name="Text 144"/>
          <p:cNvSpPr txBox="1"/>
          <p:nvPr/>
        </p:nvSpPr>
        <p:spPr>
          <a:xfrm>
            <a:off x="57454495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100" dirty="0"/>
          </a:p>
        </p:txBody>
      </p:sp>
      <p:sp>
        <p:nvSpPr>
          <p:cNvPr id="161" name="Text 145"/>
          <p:cNvSpPr txBox="1"/>
          <p:nvPr/>
        </p:nvSpPr>
        <p:spPr>
          <a:xfrm>
            <a:off x="57628231" y="2147011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1356</a:t>
            </a:r>
            <a:endParaRPr lang="en-US" sz="1100" dirty="0"/>
          </a:p>
        </p:txBody>
      </p:sp>
      <p:sp>
        <p:nvSpPr>
          <p:cNvPr id="162" name="Text 146"/>
          <p:cNvSpPr txBox="1"/>
          <p:nvPr/>
        </p:nvSpPr>
        <p:spPr>
          <a:xfrm>
            <a:off x="57975703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100" dirty="0"/>
          </a:p>
        </p:txBody>
      </p:sp>
      <p:sp>
        <p:nvSpPr>
          <p:cNvPr id="163" name="Text 147"/>
          <p:cNvSpPr txBox="1"/>
          <p:nvPr/>
        </p:nvSpPr>
        <p:spPr>
          <a:xfrm>
            <a:off x="58236307" y="2147011"/>
            <a:ext cx="4839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4) 전체 국가의 확진자 합계 계산 (List Comprehension 활용)</a:t>
            </a:r>
            <a:endParaRPr lang="en-US" sz="1100" dirty="0"/>
          </a:p>
        </p:txBody>
      </p:sp>
      <p:sp>
        <p:nvSpPr>
          <p:cNvPr id="164" name="Text 148"/>
          <p:cNvSpPr txBox="1"/>
          <p:nvPr/>
        </p:nvSpPr>
        <p:spPr>
          <a:xfrm>
            <a:off x="62952782" y="214701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total</a:t>
            </a:r>
            <a:endParaRPr lang="en-US" sz="1100" dirty="0"/>
          </a:p>
        </p:txBody>
      </p:sp>
      <p:sp>
        <p:nvSpPr>
          <p:cNvPr id="165" name="Text 149"/>
          <p:cNvSpPr txBox="1"/>
          <p:nvPr/>
        </p:nvSpPr>
        <p:spPr>
          <a:xfrm>
            <a:off x="63387122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1100" dirty="0"/>
          </a:p>
        </p:txBody>
      </p:sp>
      <p:sp>
        <p:nvSpPr>
          <p:cNvPr id="166" name="Text 150"/>
          <p:cNvSpPr txBox="1"/>
          <p:nvPr/>
        </p:nvSpPr>
        <p:spPr>
          <a:xfrm>
            <a:off x="63647726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sum</a:t>
            </a:r>
            <a:endParaRPr lang="en-US" sz="1100" dirty="0"/>
          </a:p>
        </p:txBody>
      </p:sp>
      <p:sp>
        <p:nvSpPr>
          <p:cNvPr id="167" name="Text 151"/>
          <p:cNvSpPr txBox="1"/>
          <p:nvPr/>
        </p:nvSpPr>
        <p:spPr>
          <a:xfrm>
            <a:off x="63908330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168" name="Text 152"/>
          <p:cNvSpPr txBox="1"/>
          <p:nvPr/>
        </p:nvSpPr>
        <p:spPr>
          <a:xfrm>
            <a:off x="63995198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</a:t>
            </a:r>
            <a:endParaRPr lang="en-US" sz="1100" dirty="0"/>
          </a:p>
        </p:txBody>
      </p:sp>
      <p:sp>
        <p:nvSpPr>
          <p:cNvPr id="169" name="Text 153"/>
          <p:cNvSpPr txBox="1"/>
          <p:nvPr/>
        </p:nvSpPr>
        <p:spPr>
          <a:xfrm>
            <a:off x="64082066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endParaRPr lang="en-US" sz="1100" dirty="0"/>
          </a:p>
        </p:txBody>
      </p:sp>
      <p:sp>
        <p:nvSpPr>
          <p:cNvPr id="170" name="Text 154"/>
          <p:cNvSpPr txBox="1"/>
          <p:nvPr/>
        </p:nvSpPr>
        <p:spPr>
          <a:xfrm>
            <a:off x="64168934" y="2147011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"확진자"</a:t>
            </a:r>
            <a:endParaRPr lang="en-US" sz="1100" dirty="0"/>
          </a:p>
        </p:txBody>
      </p:sp>
      <p:sp>
        <p:nvSpPr>
          <p:cNvPr id="171" name="Text 155"/>
          <p:cNvSpPr txBox="1"/>
          <p:nvPr/>
        </p:nvSpPr>
        <p:spPr>
          <a:xfrm>
            <a:off x="64776096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100" dirty="0"/>
          </a:p>
        </p:txBody>
      </p:sp>
      <p:sp>
        <p:nvSpPr>
          <p:cNvPr id="172" name="Text 156"/>
          <p:cNvSpPr txBox="1"/>
          <p:nvPr/>
        </p:nvSpPr>
        <p:spPr>
          <a:xfrm>
            <a:off x="64949832" y="2147011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</a:t>
            </a:r>
            <a:endParaRPr lang="en-US" sz="1100" dirty="0"/>
          </a:p>
        </p:txBody>
      </p:sp>
      <p:sp>
        <p:nvSpPr>
          <p:cNvPr id="173" name="Text 157"/>
          <p:cNvSpPr txBox="1"/>
          <p:nvPr/>
        </p:nvSpPr>
        <p:spPr>
          <a:xfrm>
            <a:off x="65210436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</a:t>
            </a:r>
            <a:endParaRPr lang="en-US" sz="1100" dirty="0"/>
          </a:p>
        </p:txBody>
      </p:sp>
      <p:sp>
        <p:nvSpPr>
          <p:cNvPr id="174" name="Text 158"/>
          <p:cNvSpPr txBox="1"/>
          <p:nvPr/>
        </p:nvSpPr>
        <p:spPr>
          <a:xfrm>
            <a:off x="65297304" y="2147011"/>
            <a:ext cx="2578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endParaRPr lang="en-US" sz="1100" dirty="0"/>
          </a:p>
        </p:txBody>
      </p:sp>
      <p:sp>
        <p:nvSpPr>
          <p:cNvPr id="175" name="Text 159"/>
          <p:cNvSpPr txBox="1"/>
          <p:nvPr/>
        </p:nvSpPr>
        <p:spPr>
          <a:xfrm>
            <a:off x="65471040" y="2147011"/>
            <a:ext cx="1124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covid_detail</a:t>
            </a:r>
            <a:endParaRPr lang="en-US" sz="1100" dirty="0"/>
          </a:p>
        </p:txBody>
      </p:sp>
      <p:sp>
        <p:nvSpPr>
          <p:cNvPr id="176" name="Text 160"/>
          <p:cNvSpPr txBox="1"/>
          <p:nvPr/>
        </p:nvSpPr>
        <p:spPr>
          <a:xfrm>
            <a:off x="66512542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1100" dirty="0"/>
          </a:p>
        </p:txBody>
      </p:sp>
      <p:sp>
        <p:nvSpPr>
          <p:cNvPr id="177" name="Text 161"/>
          <p:cNvSpPr txBox="1"/>
          <p:nvPr/>
        </p:nvSpPr>
        <p:spPr>
          <a:xfrm>
            <a:off x="66599410" y="2147011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values</a:t>
            </a:r>
            <a:endParaRPr lang="en-US" sz="1100" dirty="0"/>
          </a:p>
        </p:txBody>
      </p:sp>
      <p:sp>
        <p:nvSpPr>
          <p:cNvPr id="178" name="Text 162"/>
          <p:cNvSpPr txBox="1"/>
          <p:nvPr/>
        </p:nvSpPr>
        <p:spPr>
          <a:xfrm>
            <a:off x="67120618" y="2147011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())</a:t>
            </a:r>
            <a:endParaRPr lang="en-US" sz="1100" dirty="0"/>
          </a:p>
        </p:txBody>
      </p:sp>
      <p:sp>
        <p:nvSpPr>
          <p:cNvPr id="179" name="Text 163"/>
          <p:cNvSpPr txBox="1"/>
          <p:nvPr/>
        </p:nvSpPr>
        <p:spPr>
          <a:xfrm>
            <a:off x="67468090" y="214701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endParaRPr lang="en-US" sz="1100" dirty="0"/>
          </a:p>
        </p:txBody>
      </p:sp>
      <p:sp>
        <p:nvSpPr>
          <p:cNvPr id="180" name="Text 164"/>
          <p:cNvSpPr txBox="1"/>
          <p:nvPr/>
        </p:nvSpPr>
        <p:spPr>
          <a:xfrm>
            <a:off x="67902430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100" dirty="0"/>
          </a:p>
        </p:txBody>
      </p:sp>
      <p:sp>
        <p:nvSpPr>
          <p:cNvPr id="181" name="Text 165"/>
          <p:cNvSpPr txBox="1"/>
          <p:nvPr/>
        </p:nvSpPr>
        <p:spPr>
          <a:xfrm>
            <a:off x="67989298" y="2147011"/>
            <a:ext cx="286390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f"\n전체 확진자 합계: {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total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:,}명"</a:t>
            </a:r>
            <a:endParaRPr lang="en-US" sz="1100" dirty="0"/>
          </a:p>
        </p:txBody>
      </p:sp>
      <p:sp>
        <p:nvSpPr>
          <p:cNvPr id="182" name="Text 166"/>
          <p:cNvSpPr txBox="1"/>
          <p:nvPr/>
        </p:nvSpPr>
        <p:spPr>
          <a:xfrm>
            <a:off x="69783350" y="2147011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total</a:t>
            </a:r>
            <a:endParaRPr lang="en-US" sz="1100" dirty="0"/>
          </a:p>
        </p:txBody>
      </p:sp>
      <p:sp>
        <p:nvSpPr>
          <p:cNvPr id="183" name="Text 167"/>
          <p:cNvSpPr txBox="1"/>
          <p:nvPr/>
        </p:nvSpPr>
        <p:spPr>
          <a:xfrm>
            <a:off x="70709638" y="214701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100" dirty="0"/>
          </a:p>
        </p:txBody>
      </p:sp>
      <p:sp>
        <p:nvSpPr>
          <p:cNvPr id="184" name="Text 168"/>
          <p:cNvSpPr txBox="1"/>
          <p:nvPr/>
        </p:nvSpPr>
        <p:spPr>
          <a:xfrm>
            <a:off x="11708892" y="6400800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2026-02-22T17:39:48Z</dcterms:created>
  <dcterms:modified xsi:type="dcterms:W3CDTF">2026-02-22T17:39:48Z</dcterms:modified>
</cp:coreProperties>
</file>