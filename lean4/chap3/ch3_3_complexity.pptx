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3.3: 알고리즘의 복잡도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(Complexity of Algorithms)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시간복잡도 분석, P vs NP, 그리고 컴퓨터과학 최대의 미해결 문제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 Ch.3.3 + Lean 4 + Python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시간복잡도 분석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3.1절 알고리즘의 속도를 수학적으로 측정한다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시간복잡도란 무엇인가?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알고리즘의 시간복잡도(time complexity)란,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크기 n에 대한 기본 연산의 횟수를 함수로 표현한 것이다.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20240"/>
            <a:ext cx="45720" cy="18288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9339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세는가?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611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연산의 횟수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(탐색/정렬에서 가장 핵심적인 연산)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비교 연산인가?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탐색/정렬 알고리즘의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작업이 "두 값 비교"이기 때문이다.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92024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920240"/>
            <a:ext cx="45720" cy="1828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99339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최악/최선/평균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33172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최악(worst case): 모든 입력 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오래 걸리는 경우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최선(best case): 가장 빨리 끝나는 경우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평균(average): 모든 입력의 기대값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주로 최악의 경우를 분석한다.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977640"/>
            <a:ext cx="54864" cy="5486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주로 최악의 경우를 분석하는 이유: "최악의 경우에도 이 정도면 된다"는 보장을 주기 때문이다.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탐색의 시간복잡도</a:t>
            </a:r>
            <a:endParaRPr lang="en-US" sz="2400" dirty="0"/>
          </a:p>
        </p:txBody>
      </p:sp>
      <p:pic>
        <p:nvPicPr>
          <p:cNvPr id="4" name="Image 0" descr="/home/claude/images/math/complexity_line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731520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82880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828800"/>
            <a:ext cx="45720" cy="1645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90195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240280"/>
            <a:ext cx="3611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연산 횟수: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최악: 원소가 없을 때 → n번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최선: 첫 번째에서 발견 → 1번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평균: (n+1)/2번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최악의 경우 O(n)이다.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8288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E1E2E"/>
          </a:solidFill>
          <a:ln/>
        </p:spPr>
      </p:sp>
      <p:sp>
        <p:nvSpPr>
          <p:cNvPr id="10" name="Text 7"/>
          <p:cNvSpPr/>
          <p:nvPr/>
        </p:nvSpPr>
        <p:spPr>
          <a:xfrm>
            <a:off x="4800600" y="1901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846320" y="21488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Lean 4: 선형 탐색의 비교 횟수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최악의 경우 리스트 전체를 순회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따라서 List.length만큼 비교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→ O(n)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Python: 최악의 경우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for i in range(n):  ← n번 반복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if lst[i] == x:   ← n번 비교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3749040"/>
            <a:ext cx="54864" cy="5486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749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리스트가 정렬되어 있지 않으면, 어떤 알고리즘도 O(n)보다 빠를 수 없다. (하한 증명 가능)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이진 탐색의 시간복잡도</a:t>
            </a:r>
            <a:endParaRPr lang="en-US" sz="2400" dirty="0"/>
          </a:p>
        </p:txBody>
      </p:sp>
      <p:pic>
        <p:nvPicPr>
          <p:cNvPr id="4" name="Image 0" descr="/home/claude/images/math/complexity_bina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731520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82880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828800"/>
            <a:ext cx="45720" cy="18288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90195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240280"/>
            <a:ext cx="3611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단계마다 탐색 범위가 절반으로: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→ n/2 → n/4 → ... → 1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k단계 후: n/2ᵏ = 1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k = log₂ 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최악의 경우 O(log n)이다.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82880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828800"/>
            <a:ext cx="45720" cy="18288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90195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Python으로 비교 횟수 측정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46320" y="224028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= 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 &lt;= hi: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count += 1    # 비교마다 +1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mid = (lo + hi) // 2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if arr[mid] == x: return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...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n=1,000,000일 때 count ≤ 20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3886200"/>
            <a:ext cx="54864" cy="5486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886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n)은 "입력이 2배 되어도 비교 횟수가 1회만 증가"한다. 이것이 로그의 마법이다.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버블 정렬의 시간복잡도</a:t>
            </a:r>
            <a:endParaRPr lang="en-US" sz="2400" dirty="0"/>
          </a:p>
        </p:txBody>
      </p:sp>
      <p:pic>
        <p:nvPicPr>
          <p:cNvPr id="4" name="Image 0" descr="/home/claude/images/math/complexity_bubb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502920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1005840"/>
            <a:ext cx="3017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1005840"/>
            <a:ext cx="45720" cy="8229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7" name="Text 4"/>
          <p:cNvSpPr/>
          <p:nvPr/>
        </p:nvSpPr>
        <p:spPr>
          <a:xfrm>
            <a:off x="5852160" y="107899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항상 같은 횟수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52160" y="14173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입력에 관계없이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정확히 n(n−1)/2번 비교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103120"/>
            <a:ext cx="45720" cy="1645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17627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n(n−1)/2인가?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2514600"/>
            <a:ext cx="3611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1: n−1번 비교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2: n−2번 비교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n−1: 1번 비교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합계: (n−1)+(n−2)+...+1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n(n−1)/2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63440" y="210312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E1E2E"/>
          </a:solidFill>
          <a:ln/>
        </p:spPr>
      </p:sp>
      <p:sp>
        <p:nvSpPr>
          <p:cNvPr id="14" name="Text 11"/>
          <p:cNvSpPr/>
          <p:nvPr/>
        </p:nvSpPr>
        <p:spPr>
          <a:xfrm>
            <a:off x="4800600" y="21762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46320" y="24231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Python: 비교 횟수 직접 세기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bubble_count(n):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range(n-1):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range(n-1-i):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count += 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count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print(bubble_count(100))  # 4950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3977640"/>
            <a:ext cx="54864" cy="5486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Θ(n²): 최선이든 최악이든 항상 같은 횟수. 입력 데이터에 무관하게 느리다.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삽입 정렬의 시간복잡도</a:t>
            </a:r>
            <a:endParaRPr lang="en-US" sz="2400" dirty="0"/>
          </a:p>
        </p:txBody>
      </p:sp>
      <p:pic>
        <p:nvPicPr>
          <p:cNvPr id="4" name="Image 0" descr="/home/claude/images/math/complexity_inser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92024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920240"/>
            <a:ext cx="45720" cy="1645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99339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최악 vs 최선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331720"/>
            <a:ext cx="3611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최악: 역순 정렬 [5,4,3,2,1]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매번 맨 앞까지 밀어야 함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n(n−1)/2 = O(n²)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최선: 이미 정렬 [1,2,3,4,5]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비교 1회만으로 위치 확인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n−1 = O(n)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92024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920240"/>
            <a:ext cx="45720" cy="16459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99339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실전에서의 의미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46320" y="2331720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거의 정렬된 데이터: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삽입 정렬이 매우 빠르다 (O(n)에 가까움)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완전히 무작위 데이터: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삽입 정렬도 O(n²)로 느리다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입력의 특성에 따라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알고리즘을 선택해야 한다!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3794760"/>
            <a:ext cx="54864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7947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버블 정렬은 최선에도 O(n²)이지만, 삽입 정렬은 최선에 O(n)이다. 이 차이가 실전에서 크다.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행렬 곱셈의 시간복잡도</a:t>
            </a:r>
            <a:endParaRPr lang="en-US" sz="2400" dirty="0"/>
          </a:p>
        </p:txBody>
      </p:sp>
      <p:pic>
        <p:nvPicPr>
          <p:cNvPr id="4" name="Image 0" descr="/home/claude/images/math/complexity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548640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92024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9933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224028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Python: n x n 행렬 곱셈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matrix_mult(A, B):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len(A)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[[0]*n for _ in range(n)]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range(n):        # n번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range(n):    # n번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k in range(n):# n번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C[i][j] += A[i][k] * B[k][j]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3중 루프 → O(n) * O(n) * O(n) = O(n³)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60720" y="1920240"/>
            <a:ext cx="29260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60720" y="1920240"/>
            <a:ext cx="45720" cy="20116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0" y="199339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3중 반복문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0" y="233172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행 순회 (n번)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열 순회 (n번)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k: 내적 계산 (n번)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곱 규칙 적용: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× O(n) × O(n) = O(n³)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n=1000이면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10억 번 연산!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4160520"/>
            <a:ext cx="54864" cy="5486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빠른 행렬 곱셈이 존재한다: Strassen O(n^{2.81}), 최신 O(n^{2.37}). 하지만 구현이 복잡하다.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3.1절 알고리즘 복잡도 총정리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188720"/>
                <a:gridCol w="1188720"/>
                <a:gridCol w="365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알고리즘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복잡도 클래스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선형 탐색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이진 탐색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버블 정렬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삽입 정렬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행렬 곱셈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O(n³)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O(n³)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O(n³)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삼차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00400"/>
            <a:ext cx="8229600" cy="5943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200400"/>
            <a:ext cx="54864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32004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이진 탐색만이 O(log n)이다. 나머지는 모두 다항 시간(polynomial time). 이것이 다음 주제의 출발점이다.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다루기 쉬운 문제 vs 다루기 어려운 문제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Tractable vs Intractable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다루기 쉬운 문제 (Tractable)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다항 시간(polynomial time) 알고리즘이 존재하는 문제.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즉, O(nᵏ) (k는 상수) 시간에 풀 수 있는 문제이다.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45720" cy="18288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8483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611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정렬: O(n log n) — 병합 정렬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탐색: O(log n) — 이진 탐색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최단 경로: O(n²) — Dijkstra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행렬 곱셈: O(n³)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모든 것이 다항 시간이다.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01168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11680"/>
            <a:ext cx="45720" cy="18288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08483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"다루기 쉬운"가?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42316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n이 커져도 현실적인 시간에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답을 구할 수 있기 때문이다.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n=1,000,000일 때: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= 10¹² 연산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현대 컴퓨터로 약 16분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느리지만 계산 가능하다.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069080"/>
            <a:ext cx="54864" cy="5486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069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"다항 시간"이 항상 빠른 것은 아니다. O(n¹⁰⁰)도 다항 시간이지만 현실적으로 불가능하다.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다루기 어려운 문제 (Intractable)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알려진 최선의 알고리즘이 지수 시간(exponential time)인 문제.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O(2ⁿ), O(n!) 등 — 입력이 조금만 커져도 계산 불가능하다.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45720" cy="1828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8483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실감나는 숫자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611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O(2ⁿ)일 때: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n=20: 약 100만 → 즉시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n=40: 약 1조 → 수 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n=60: 약 10¹⁸ → 수만 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n=100: 10³⁰ → 우주 수명 초과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n이 60만 넘어도 불가능하다!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01168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11680"/>
            <a:ext cx="45720" cy="18288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08483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대표적 문제들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42316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외판원 문제(TSP):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n개 도시를 최소 비용으로 순회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부분집합 합 문제: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주어진 집합에서 합이 S인 부분집합?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 색칠 문제: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k개 색으로 인접 노드를 다르게?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069080"/>
            <a:ext cx="54864" cy="5486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069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문제들은 답을 "찾기"는 매우 어렵지만, 답이 주어지면 "검증"은 빠르게 할 수 있다 — 이것이 NP의 핵심이다.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다항 vs 지수: 시각적 비교</a:t>
            </a:r>
            <a:endParaRPr lang="en-US" sz="2400" dirty="0"/>
          </a:p>
        </p:txBody>
      </p:sp>
      <p:pic>
        <p:nvPicPr>
          <p:cNvPr id="4" name="Image 0" descr="/home/claude/images/poly_vs_ex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303520" cy="292608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914400"/>
          <a:ext cx="29260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O(2ⁿ)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1,048,576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10¹⁵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10³⁰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/home/claude/images/math/tractable_boundar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4023360"/>
            <a:ext cx="8229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복잡도 클래스: P와 NP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컴퓨터과학 최대의 미해결 문제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복잡도 클래스 P</a:t>
            </a:r>
            <a:endParaRPr lang="en-US" sz="2400" dirty="0"/>
          </a:p>
        </p:txBody>
      </p:sp>
      <p:pic>
        <p:nvPicPr>
          <p:cNvPr id="4" name="Image 0" descr="/home/claude/images/math/class_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920240"/>
            <a:ext cx="39319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920240"/>
            <a:ext cx="45720" cy="20116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99339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P란?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331720"/>
            <a:ext cx="3611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"빠르게 풀 수 있는" 문제의 집합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결정론적 튜링 기계(Deterministic TM)가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다항 시간 O(nᵏ)에 풀 수 있는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 문제(decision problem)의 집합이다.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 문제: 답이 "예/아니오"인 문제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92024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920240"/>
            <a:ext cx="45720" cy="20116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99339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P에 속하는 문제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46320" y="2331720"/>
            <a:ext cx="3703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정렬되어 있는가? — O(n)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원소가 존재하는가? — O(log n)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최단 경로가 k 이하인가? — O(n²)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연결 그래프인가? — O(n+m)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오일러 회로가 존재하는가? — O(m)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모든 문제를 효율적으로 풀 수 있다.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4160520"/>
            <a:ext cx="54864" cy="5486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클래스는 "컴퓨터가 현실적으로 풀 수 있는 문제"의 수학적 정의이다.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복잡도 클래스 NP</a:t>
            </a:r>
            <a:endParaRPr lang="en-US" sz="2400" dirty="0"/>
          </a:p>
        </p:txBody>
      </p:sp>
      <p:pic>
        <p:nvPicPr>
          <p:cNvPr id="4" name="Image 0" descr="/home/claude/images/math/class_N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920240"/>
            <a:ext cx="39319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920240"/>
            <a:ext cx="45720" cy="20116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99339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NP란?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331720"/>
            <a:ext cx="3611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"빠르게 검증할 수 있는" 문제의 집합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비결정론적 튜링 기계가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다항 시간에 풀 수 있는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 문제의 집합이다.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동치 정의: 답이 주어지면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다항 시간에 검증 가능한 문제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92024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920240"/>
            <a:ext cx="45720" cy="20116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99339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NP의 직관: 스도쿠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46320" y="2331720"/>
            <a:ext cx="3703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스도쿠를 푸는 것은 어렵다.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하지만 누군가 답을 보여주면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"맞는지 확인"은 빠르게 할 수 있다.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풀기는 어렵지만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검증은 쉬운 문제 = NP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(N은 Nondeterministic의 N,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Polynomial"이 아니다!)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4160520"/>
            <a:ext cx="54864" cy="5486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NP는 "Not Polynomial"이 아니다. "Nondeterministic Polynomial"의 약자이다.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⊆ NP: P는 NP의 부분집합이다</a:t>
            </a:r>
            <a:endParaRPr lang="en-US" sz="2400" dirty="0"/>
          </a:p>
        </p:txBody>
      </p:sp>
      <p:pic>
        <p:nvPicPr>
          <p:cNvPr id="4" name="Image 0" descr="/home/claude/images/pnp_ve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0292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914400"/>
            <a:ext cx="32004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0" y="914400"/>
            <a:ext cx="45720" cy="29260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98755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P ⊆ NP 인가?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0" y="1325880"/>
            <a:ext cx="28803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P에 속하는 문제는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"풀 수 있다" → 당연히 "검증"도 가능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 수 있으면 검증도 되므로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P의 모든 문제는 NP에도 속한다.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하지만 역은?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NP에 속하지만 P에 속하지 않는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문제가 있는가?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이것이 핵심 질문이다!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4069080"/>
            <a:ext cx="54864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4069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⊆ NP는 증명되었다. 하지만 P = NP인지, P ⊂ NP인지(진부분집합)는 아직 모른다.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NP-완전 (NP-Complete)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FEF7E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NP에 속하면서, NP의 모든 문제를 다항 시간에 변환(reduction)할 수 있는 문제.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NP에서 "가장 어려운" 문제들이다.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45720" cy="1828800"/>
          </a:xfrm>
          <a:prstGeom prst="rect">
            <a:avLst/>
          </a:prstGeom>
          <a:solidFill>
            <a:srgbClr val="FA7B1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8483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7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성질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611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NP-완전 문제 하나라도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다항 시간에 풀 수 있으면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NP의 모든 문제가 다항 시간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 = NP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반대로, NP-완전 문제 하나가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지수 시간에만 풀 수 있으면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 ≠ NP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01168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11680"/>
            <a:ext cx="45720" cy="1828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08483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대표적 NP-완전 문제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42316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(만족 가능성 문제)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최초로 NP-완전 증명 (Cook, 1971)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외판원 문제 (TSP)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해밀턴 경로 문제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 색칠 문제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부분집합 합 문제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배낭 문제 (Knapsack)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정점 덮개 문제 (Vertex Cover)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069080"/>
            <a:ext cx="54864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069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NP-완전 문제가 수천 개 알려져 있지만, 단 하나도 다항 시간 알고리즘이 발견되지 않았다.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NP ? — 컴퓨터과학 최대의 질문</a:t>
            </a:r>
            <a:endParaRPr lang="en-US" sz="2400" dirty="0"/>
          </a:p>
        </p:txBody>
      </p:sp>
      <p:pic>
        <p:nvPicPr>
          <p:cNvPr id="4" name="Image 0" descr="/home/claude/images/math/P_eq_N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0" y="1097280"/>
            <a:ext cx="4572000" cy="1371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265176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2651760"/>
            <a:ext cx="45720" cy="16459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72491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만약 P = NP라면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3611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NP 문제를 효율적으로 풀 수 있다.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암호 체계 붕괴 (RSA 등)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 문제 즉시 해결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인공지능의 획기적 발전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 정리 자동 증명 가능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"세상이 근본적으로 바뀐다"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265176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651760"/>
            <a:ext cx="45720" cy="16459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272491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만약 P ≠ NP라면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46320" y="3063240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효율적으로 풀 수 없는 문제가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본질적으로 존재한다.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암호 체계 안전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근사 알고리즘/휴리스틱 필요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대부분의 전문가가 이쪽을 믿지만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증명하지 못했다.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452628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5262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클레이 수학연구소 밀레니엄 문제 중 하나. 풀면 100만 달러 상금. 2026년 현재 미해결.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복잡도를 Lean 4로 표현하기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비교 횟수를 반환하는 함수로 복잡도 분석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linearSearchCount [BEq a] (x : a)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List a → Nat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[]      =&gt; 0                -- 비교 0회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a :: as =&gt;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 == x then 1            -- 비교 1회로 발견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1 + linearSearchCount x as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-- 1회 + 나머지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최악의 경우: 리스트 전체 순회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linear_worst (x : Nat) (l : List Nat)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(h : x ∉ l) 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linearSearchCount x l = l.length := by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induction l with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nil =&gt; simp [linearSearchCount]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cons a as ih =&gt;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simp [linearSearchCount]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split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· next heq =&gt; simp [heq] at h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· next hne =&gt; exact ih (by tauto)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91440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35040" y="914400"/>
            <a:ext cx="45720" cy="32004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9875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분석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1325880"/>
            <a:ext cx="2331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linearSearchCount: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횟수를 직접 세는 함수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linear_worst: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"x가 리스트에 없으면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횟수 = 리스트 길이"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라는 정리의 형식 증명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4로 알고리즘의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복잡도까지 증명할 수 있다!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Python으로 복잡도 실험하기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measure_time(sort_fn, n, trials=5):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"""정렬 함수의 평균 실행 시간 측정"""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range(trials):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arr = random.sample(range(n*10), n)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start = time.time()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sort_fn(arr)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+= time.time() - start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total / trials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크기별 실행 시간 비교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 in [100, 500, 1000, 2000, 5000]: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t_bubble = measure_time(bubble_sort, n)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t_insert = measure_time(insertion_sort, n)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t_builtin = measure_time(sorted, n)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print(f'n={n:5d}: bubble={t_bubble:.4f}s'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f' insert={t_insert:.4f}s'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f' sorted={t_builtin:.6f}s')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91440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35040" y="914400"/>
            <a:ext cx="45720" cy="32004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9875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결과 (예상)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1325880"/>
            <a:ext cx="2331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n=100: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bubble: 0.001s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0.0005s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sorted: 0.00001s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n=5000: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bubble: 1.2s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0.5s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sorted: 0.002s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sorted()는 O(n log n)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n이 커지면 압도적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실행해 보라!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연습문제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3.3 핵심 확인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 1: 복잡도 분류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각 코드의 시간복잡도를 구하라.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361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(a)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(a)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5361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(b)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783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(b)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range(n):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print(i, j)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1E1E2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8620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(c)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(c)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&gt; 0: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i //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78892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1E1E2E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8620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3108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(d)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range(i):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print(i, j)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E6F4EA"/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3308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(a) O(n)  (b) O(n²)  (c) O(log n)  (d) O(n²)  [j가 0~i-1이므로 합은 n(n-1)/2]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 2: P / NP / NP-complete 분류</a:t>
            </a:r>
            <a:endParaRPr lang="en-US" sz="2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4297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배열 정렬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 알고리즘 존재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이진 탐색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외판원 문제 (최적)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NP-complete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알려진 다항 시간 해법 없음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스도쿠 풀기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NP-complete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검증은 쉬우나 풀기는 어려움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소수 판별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 알고리즘 O(n¹²)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그래프 연결 확인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BFS/DFS O(n+m)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657600"/>
            <a:ext cx="54864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3657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소수 판별이 P에 속한다는 것은 2002년에 증명되었다 (AKS). 그 전까지는 NP에만 속하는 것으로 알려져 있었다.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4: 결정 문제의 형식화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결정 문제: 답이 Bool (참/거짓)인 함수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"리스트에 x가 존재하는가?" → P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contains [BEq a] (x : a) : List a → Bool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[]      =&gt; false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a :: as =&gt; a == x || contains x as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"리스트가 정렬되어 있는가?" → P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isSorted : List Nat → Bool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[] | [_] =&gt; true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a :: b :: rest =&gt;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≤ b &amp;&amp; isSorted (b :: rest)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91440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35040" y="914400"/>
            <a:ext cx="45720" cy="22860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9875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 문제란?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132588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답이 "예" 또는 "아니오"인 문제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P/NP 분류는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 문제에 대해 정의된다.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4에서는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반환 함수로 표현.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"존재하는가?" → Bool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"정렬되어 있는가?" → Bool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5478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 Test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#eval contains 3 [1, 2, 3, 4]  -- true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#eval isSorted [1, 3, 5, 7]     -- true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#eval isSorted [1, 5, 3, 7]     -- false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3.3 핵심 요약</a:t>
            </a:r>
            <a:endParaRPr lang="en-US" sz="2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40233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시간복잡도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입력 크기 n 대비 연산 횟수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 연산을 센다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다항 시간 O(nᵏ)에 풀림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현실적으로 계산 가능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Intractable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지수 시간 O(2ⁿ) 이상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현실적으로 계산 불가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다항 시간에 풀 수 있는 문제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정렬, 탐색, 최단 경로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다항 시간에 검증 가능한 문제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풀기 어렵지만 검증은 쉬움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NP-complete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NP에서 가장 어려운 문제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하나만 풀면 전부 풀림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NP?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밀레니엄 문제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2026년 현재 미해결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840480"/>
            <a:ext cx="54864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3840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알고리즘의 정의(3.1) → 속도 측정(3.2 Big-O) → 문제의 난이도 분류(3.3) — Chapter 3의 흐름이 완성된다.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3.3 완료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시간복잡도 분석 + P vs NP + Lean 4 형식화 + Python 실험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전체 완료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Ch3.3 Complexity</dc:title>
  <dc:subject>PptxGenJS Presentation</dc:subject>
  <dc:creator>PptxGenJS</dc:creator>
  <cp:lastModifiedBy>PptxGenJS</cp:lastModifiedBy>
  <cp:revision>1</cp:revision>
  <dcterms:created xsi:type="dcterms:W3CDTF">2026-04-04T15:14:29Z</dcterms:created>
  <dcterms:modified xsi:type="dcterms:W3CDTF">2026-04-04T15:14:29Z</dcterms:modified>
</cp:coreProperties>
</file>