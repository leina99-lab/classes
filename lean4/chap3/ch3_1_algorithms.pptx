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3.1: Algorithm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(알고리즘)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4E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→ 추적 예시 → Lean 4 구현 → 빈칸 연습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 Ch.3 + Lean 4 +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알고리즘을 배우는가?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속의 알고리즘과 컴퓨터과학에서의 의미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속의 알고리즘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" cy="14630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 끓이기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 550ml 넣기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끓으면 면+스프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4분 30초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완성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45720" cy="14630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789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도서관에서 책 찾기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371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번호 확인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해당 서가 이동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번호순 탐색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45720" cy="1463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789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내비게이션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출발지/목적지 입력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가능한 경로 계산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최단 경로 제시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13816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공통점: (1) 입력이 있다 (2) 정해진 단계를 따른다 (3) 결과가 나온다 (4) 반드시 끝난다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문제를 푸는 방법이 여러 가지 있다.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방법이 더 빠른지 비교할 수 있어야 한다.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문제는 절대 풀 수 없다"는 것도 증명할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알고리즘의 정의 (Definition 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알고리즘(algorithm)은 계산을 하거나, 문제를 풀기 위한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명령의 유한한 서열이다.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45720" cy="10972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76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정확한(precise)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단계가 모호하지 않다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반례: "적당히 섞는다"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103120"/>
            <a:ext cx="45720" cy="10972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76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명령의(instructions)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수행해야 할 동작이다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관찰이 아님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103120"/>
            <a:ext cx="45720" cy="10972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1762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유한한(finite)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끝나야 한다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반례: 무한 루프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'알고리즘'이라는 단어는 9세기 페르시아 수학자 알-콰리즈미(Al-Khowarizmi)의 이름에서 유래했다. algorism → algorithm으로 변형되어 오늘날에 이르렀다.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알고리즘의 7가지 속성</a:t>
            </a:r>
            <a:endParaRPr lang="en-US" sz="2400" dirty="0"/>
          </a:p>
        </p:txBody>
      </p:sp>
      <p:pic>
        <p:nvPicPr>
          <p:cNvPr id="5" name="Image 0" descr="/home/claude/images/proper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02920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005840"/>
            <a:ext cx="32004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005840"/>
            <a:ext cx="45720" cy="2560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107899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7가지 모두 필요한가?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137160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하나라도 빠지면 '알고리즘'이라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부를 수 없다.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유한성 없음 → 무한루프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정확성 없음 → 오답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명확성 없음 → 모호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일반성 없음 → 특수해만 가능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840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4는 유한성(종료 검사기)과 정확성(타입 검사기)을 자동으로 보장한다.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7가지 속성 (1): 입력 / 출력 / 명확성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입력(Input)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특정한 집합으로부터 입력값을 받는다.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라면: 라면 종류, 물의 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최댓값 찾기: 정수의 리스트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45720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789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출력(Output)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입력에 대해 출력값을 생성한다.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라면: 완성된 라면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최댓값 찾기: 가장 큰 정수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45720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96312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명확성(Definiteness)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7909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단계가 명확하게 정의되어야 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"물을 550ml 넣는다" (O)  vs  "물을 적당히 넣는다" (X)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컴퓨터는 "적당히"를 이해하지 못한다. 인간도 마찬가지 — 당신의 "적당히"와 나의 "적당히"는 다르다.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86200"/>
            <a:ext cx="54864" cy="457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프로그래밍에서의 명확성: 모든 조건 분기를 빠짐없이 처리해야 한다. Lean 4는 이를 패턴 매칭으로 강제한다.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7가지 속성 (2): 정확성 / 유한성 / 효율성 / 일반성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정확성(Correctness)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입력에도 항상 정답을 구해야 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증명하는 것이 가장 어렵고 중요하다.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5720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789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유한성(Finiteness)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유한한 횟수의 단계로 반드시 끝나야 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4의 종료 검사기가 자동 보장한다.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94560"/>
            <a:ext cx="45720" cy="96012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677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효율성(Effectiveness)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단계를 유한한 시간에 수행 가능해야 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"우주의 모든 원자를 세라" → 불가능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94560"/>
            <a:ext cx="45720" cy="96012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2677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일반성(Generality)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5603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적법한 입력에 적용 가능해야 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[1,2,3]에서만 동작하면 부족하다.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2900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429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7가지 속성 중 정확성과 유한성은 Lean 4가 가장 강력하게 검증하는 부분이다.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코드(Pseudocode)란?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알고리즘을 사람이 읽을 수 있는 형태로 표현한 것이다.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프로그래밍 언어에 종속되지 않는다.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알고리즘의 시작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max(a1,...,an)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값을 변수에 할당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:= 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 := 1 to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i를 1부터 n까지 반복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조건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조건이 참인 동안 반복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 반복문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조건 then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조건이 참이면 실행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결과를 반환하고 종료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8288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0" y="182880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901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흐름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21945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코드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표현을 1:1로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대응시키며 학습한다.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 1: 최댓값 찾기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Maximum — 가장 기본적인 알고리즘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최댓값 찾기: 핵심 아이디어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유한한 길이의 수열에서 가장 큰 값을 찾아라.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비유: 줄 서 있는 학생들 중 가장 키가 큰 학생 찾기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학생을 한꺼번에 비교할 수는 없다.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두 명씩만 비교할 수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1005840"/>
            <a:ext cx="32004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005840"/>
            <a:ext cx="45720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07899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전진하며 기록 갱신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3716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첫 번째 학생을 '현재 최대'로 기억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다음 학생과 비교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더 크면 '현재 최대' 갱신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마지막까지 반복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최종 '현재 최대'가 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91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전략을 scan and update라 부른다. 육상 경기에서 현재 기록 보유자를 계속 업데이트하는 것과 같다.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최댓값 추적 예시: [8, 4, 11, 3, 10]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9144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대상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갱신?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 번째 원소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≤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&gt;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≤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≤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291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max = 11, 비교 횟수 = 4회 = n - 1. 어떤 입력이 와도 항상 정확히 n - 1번 비교한다.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n - 1번인가? 원소가 n개이면, 첫 번째를 기준으로 잡고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n - 1개와 비교한다. 따라서 시간복잡도는 Θ(n).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최댓값: 의사 코드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max(a1, a2, ..., an: integers)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 := a1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:= 2 to 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max &lt; ai then max := ai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29260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1005840"/>
            <a:ext cx="45720" cy="20116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해석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첫 원소를 max에 저장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2번째부터 n번째까지 반복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현재 max보다 크면 갱신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최종 max 반환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91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의사 코드를 다음 슬라이드에서 Lean 4로 1:1 번역한다.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최댓값: Lean 4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Lean 4: 최댓값 찾기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myMax : List Nat →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0       -- 빈 리스트: 기본값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[a]     =&gt; a       -- 원소 하나: 그것이 최대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         -- 첫 원소 a + 나머지 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 := myMax as  -- 재귀 호출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 ≥ m then a else 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myMax [8, 4, 11, 3, 10]  -- 11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05840"/>
          <a:ext cx="3017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:= 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 [a] =&gt;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 := 2 to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 a :: as =&gt;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max &lt;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≥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반환값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74904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749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의사 코드의 for 루프가 Lean 4에서는 재귀 + 패턴 매칭으로 표현된다. Lean 4는 함수형 언어이므로, 반복문 대신 재귀가 자연스럽다.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최댓값: Python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my_max(lst):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lst: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max_val = lst[0]        # 첫 원소를 max로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len(lst)):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lst[i] &gt; max_val: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max_val = lst[i]  # 갱신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max_val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print(my_max([8, 4, 11, 3, 10]))  # 11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14400"/>
          <a:ext cx="2926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:= 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max_val = lst[0]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i:=2 to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 in range(1,n):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max &lt;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lst[i] &gt; max_val: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max_val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47472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474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Python은 의사 코드와 거의 1:1로 대응된다. Lean 4는 재귀, Python은 for 루프 — 같은 알고리즘의 다른 표현이다.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재귀가 동작하는 원리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trace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myMax [8, 4, 11, 3, 10]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let m := myMax [4, 11, 3, 10] in if 8 ≥ m then 8 else 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let m := myMax [11, 3, 10] in if 4 ≥ m then 4 else 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let m := myMax [3, 10] in if 11 ≥ m then 11 else 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let m := myMax [10] in if 3 ≥ m then 3 else 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10  (기저 경우: 원소 하나)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if 3 ≥ 10 then 3 else 10 = 10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if 11 ≥ 10 then 11 else 10 = 11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if 4 ≥ 11 then 4 else 11 = 11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if 8 ≥ 11 then 8 else 11 = 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406908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69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재귀: 먼저 끝까지 내려간 뒤, 결과를 거꾸로 올라오며 합친다. 마트료시카 인형을 열고 닫는 것과 같다.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최댓값: 빈칸 연습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Exercise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myMax : List Nat →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___       -- (a) 빈 리스트?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[a]     =&gt; ___       -- (b) 원소 하나?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 := ___         -- (c) 재귀 호출?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___ then a else m -- (d) 비교 조건?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2926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914400"/>
            <a:ext cx="45720" cy="228600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987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28016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빈 리스트에는 원소가 없으므로 기본값 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원소가 하나뿐이면 그것이 최대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myMax as — 재귀 호출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a ≥ 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(a) 0  (b) a  (c) myMax as  (d) a ≥ 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13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myMax : List Nat →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=&gt; 0 | [a] =&gt; a | a :: as =&gt; let m := myMax as; if a ≥ m then a else 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 2: 선형 탐색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— 가장 단순하지만 범용적인 탐색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탐색: 핵심 아이디어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리스트에서 특정 값 x의 위치를 찾아라. 없으면 0을 반환하라.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정리가 안 된 서랍에서 열쇠 찾기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서랍을 하나씩 열어본다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열쇠가 있으면 찾은 것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마지막까지 없으면 "없다"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554480"/>
            <a:ext cx="45720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276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"선형"인가?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리스트의 처음부터 끝까지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일직선(linear)으로 탐색하기 때문이다.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번째, 두 번째, 세 번째...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순서대로 하나씩 살펴본다.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사용하는가?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리스트가 정렬되어 있지 않을 때 (이진 탐색 불가)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리스트가 작을 때 (n이 작으면 이진 탐색과 차이 미미)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한 번만 찾을 때 (정렬 비용이 더 클 수 있음)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 추적: [3, 5, 7, 8, 10]에서 7 찾기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= 7?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아니오, 다음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= 7?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아니오, 다음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= 7?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예! 위치 3 반환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횟수: 3회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만약 4를 찾는다면?</a:t>
            </a:r>
            <a:endParaRPr lang="en-US" sz="16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1~5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3,5,7,8,10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모두 !=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전부 아니오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7607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횟수: 5회 (전체 다 봄) → 0 반환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760720" y="3474720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0" y="3474720"/>
            <a:ext cx="45720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0" y="3547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943600" y="3840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최악: n번 → O(n)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최선: 1번 → O(1)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평균: (n+1)/2 → O(n)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탐색: Lean 4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linearSearch [BEq a] (x : 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List a → Option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none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 == x then some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match linearSearch x as with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none   =&gt; none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some i =&gt; some (i + 1)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linearSearch 7 [3,5,7,8,10]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some 2  (0-indexed)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이란?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"값이 있을 수도, 없을 수도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있다"를 표현하는 타입이다.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 → 값 v 존재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값 없음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0을 반환하는 것보다 안전하다.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743200"/>
          <a:ext cx="2651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= x?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==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 :=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 :=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탐색: Python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linear_search(x, lst):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range(len(lst)):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lst[i] == x: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    # 찾았다!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           # 못 찾음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print(linear_search(7, [3,5,7,8,10]))  #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print(linear_search(4, [3,5,7,8,10]))  # -1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-1 vs Lean none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-1 = 못 찾음 (관례)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4: none = 못 찾음 (타입)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4의 Option이 더 안전하다.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-1이 진짜 인덱스일 수 있으므로.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(i&lt;=n and ai!=x)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재귀 + 패턴 매칭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 in range(len(lst)):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:=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:=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탐색: 빈칸 연습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linearSearch [BEq a] (x : 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List a → Option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___              --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___ then some 0          -- (b)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match ___ with          -- (c)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none   =&gt; ___            -- (d)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some i =&gt; ___            -- (e)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228600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빈 리스트 → 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현재 원소와 비교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나머지에서 재귀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나머지에도 없으면?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위치 보정 +1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(a) none  (b) a == x  (c) linearSearch x as  (d) none  (e) some (i + 1)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 3: 이진 탐색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— 정렬된 리스트에서의 극적인 속도 향상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탐색: 전화번호부의 지혜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 조건: 리스트가 오름차순으로 정렬되어 있어야 한다!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45720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전화번호부에서 "김철수" 찾기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정가운데를 편다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"ㄴ" 부분 → "김"은 뒤 → 뒤쪽 절반만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뒤쪽의 정가운데를 편다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"ㅂ" 부분 → "김"은 앞 → 앞쪽 절반만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범위를 계속 줄여 나간다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아무도 전화번호부를 첫 페이지부터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읽지 않는다!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45720" cy="2103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361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통찰: 매 단계마다 절반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n개의 원소가 있으면: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- 1단계 후: n/2개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- 2단계 후: n/4개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- 3단계 후: n/8개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...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k단계 후: n/2ᵏ개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n/2ᵏ = 1일 때 종료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 = log2(n)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9476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"정렬되어 있다"는 조건 하나가 O(n)을 O(log n)으로 바꾼다. 공짜 점심은 없다 — 먼저 정렬하는 비용이 필요하다.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 추적: 14개 원소에서 19 찾기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3, 5, 7, 8, 10, 12, 15, 16, 18, 19, 20, 22, 25]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1097280"/>
                <a:gridCol w="16459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arr[mid]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 범위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&lt;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오른쪽 [7..13]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=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발견!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743200"/>
            <a:ext cx="45720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8163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10896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2번의 비교로 14개 원소에서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19를 찾았다!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탐색이었다면 11번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비교가 필요했을 것이다.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743200"/>
            <a:ext cx="45720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28163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계산법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31089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= (lo + hi) / 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(정수 나눗셈, 소수점 버림)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(0 + 13) / 2 = 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(7 + 13) / 2 = 10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vs 이진: 극적인 차이</a:t>
            </a:r>
            <a:endParaRPr lang="en-US" sz="2400" dirty="0"/>
          </a:p>
        </p:txBody>
      </p:sp>
      <p:pic>
        <p:nvPicPr>
          <p:cNvPr id="5" name="Image 0" descr="/home/claude/images/search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256032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14400"/>
          <a:ext cx="3200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57200" y="374904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3749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100만일 때 50,000배 차이. log2(1,000,000) = 약 20. 이것이 '로그의 마법'이다.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탐색: Lean 4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binarySearch (arr : Array Nat) (x : Nat)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Option Nat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0 (arr.size - 1)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(lo hi : Nat) : Option Nat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lo &gt; hi then none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mid := (lo + hi) /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v := arr[mid]!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v == x then some mid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if v &lt; x then go (mid + 1) hi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if mid == 0 then none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go lo (mid - 1)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termination_by hi - 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termination_by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4는 모든 함수가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종료됨을 보장한다.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termination_by hi - lo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"매 재귀 호출마다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- lo가 줄어들므로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종료된다"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2926080"/>
            <a:ext cx="45720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9992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291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인덱스 접근 O(1)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인덱스 접근 O(n)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탐색은 arr[mid]에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 접근해야 하므로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Array가 적합하다.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탐색: Python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binary_search(arr, x):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len(arr) - 1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≤ hi: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hi) // 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arr[mid] == x: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mid        # 찾았다!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arr[mid] &lt; x: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 = mid + 1      # 오른쪽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= mid - 1      # 왼쪽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[1,3,5,7,8,10,12,15,16,18,19,20,22,25]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print(binary_search(arr, 19))  #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vs 재귀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while lo ≤ hi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의사 코드와 거의 동일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4: 재귀 + termination_by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종료 증명 포함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Python은 종료를 보장하지 않는다.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4는 컴파일러가 강제한다.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74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Python의 // 연산자는 정수 나눗셈(소수점 버림)이다. Lean 4에서도 Nat의 나눗셈은 자동으로 내림한다.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탐색: 빈칸 연습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(lo hi : Nat) : Option Nat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lo &gt; hi then ___             --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mid := ___                 -- (b)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v := arr[mid]!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 == x then ___             -- (c)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v &lt; x then ___         -- (d)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mid == 0 then none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___                       -- (e)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termination_by hi - 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4688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914400"/>
            <a:ext cx="45720" cy="256032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9875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범위가 빈 경우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중간 인덱스 계산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값을 찾은 경우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오른쪽 절반 탐색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왼쪽 절반 탐색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(a) none  (b) (lo+hi)/2  (c) some mid  (d) go (mid+1) hi  (e) go lo (mid-1)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알고리즘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 — 버블 정렬과 삽입 정렬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정렬: 큰 것이 떠오른다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리스트를 오름차순으로 정렬하라.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819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비유: 키 순서 줄세우기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옆의 두 사람 키를 비교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순서 잘못되면 위치 교환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줄 처음~끝까지 한 번 훑기 (1 패스)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가장 큰 사람이 맨 뒤로 이동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반복하면 전체 정렬 완료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45720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819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이름의 유래: bubble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수영장 바닥에서 올라오는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공기 방울(bubble)처럼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원소가 위로(뒤로) 떠오른다.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패스마다 아직 확정되지 않은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 중 가장 큰 것이 자기 자리를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찾아간다.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8328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83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연산: 인접한 두 원소를 비교하고, 순서가 잘못되면 교환(swap)한다.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 추적: [3, 2, 4, 1, 5] — Pass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2, 4, 1, 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3&gt;2 → 교환 → [2, 3, 4, 1, 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3&lt;4 → 유지 → [2, 3, 4, 1, 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4&gt;1 → 교환 → [2, 3, 1, 4, 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4&lt;5 → 유지 → [2, 3, 1, 4, 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결과: 5가 맨 뒤에 확정!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38328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1이 끝나면 가장 큰 원소 5가 맨 뒤에 자리잡는다. 다음 패스에서는 5를 제외하고 반복한다.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횟수: 4회 (n - 1 = 5 - 1)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 추적: Pass 2 ~ 4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2: [2,3,1,4,5]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2&lt;3 유지 / 3&gt;1 교환 / 3&lt;4 유지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[2, 1, 3, 4, 5]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3: [2,1,3,4,5]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2&gt;1 교환 / 2&lt;3 유지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[1, 2, 3, 4, 5]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59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4: [1,2,3,4,5]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교환 없음 → 정렬 완료!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286000"/>
            <a:ext cx="45720" cy="16459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3591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횟수 합산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5176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4회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3회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3: 2회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4: 1회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합계: 4+3+2+1 = 10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n(n−1)/2 = 5x4/2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복잡도: Θ(n²). n=100만이면 약 5000억 번 비교 — 현대 컴퓨터로도 약 500초(8분 이상).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정렬: Lean 4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bubblePass (arr : Array Nat) (n : Nat)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Array Nat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arr 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(a : Array Nat) (i : Nat) : Array Nat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+ 1 ≥ n then 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a' := if a[i]! &gt; a[i+1]!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a.swap! i (i+1) else 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go a' (i + 1)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termination_by n - 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bubbleSort (arr : Array Nat) : Array Nat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arr arr.size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분석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bubblePass: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번의 패스를 수행한다.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원소를 비교하고 교환.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bubbleSort: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bubblePass를 n-1번 반복.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반복마다 범위를 줄인다.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651760" cy="54864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2926080"/>
            <a:ext cx="54864" cy="5486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swap!: 배열의 i번째와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i+1번째를 교환하는 함수.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정렬: Python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bubble_sort(lst):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lst[:]        # 원본 보존 (복사)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len(arr)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 - 1):        # n-1번 패스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 - 1 - i): # 범위 축소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arr[j] &gt; arr[j+1]: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arr[j], arr[j+1] = arr[j+1], arr[j]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print(bubble_sort([3, 2, 4, 1, 5]))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4, 5]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swap 문법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= b, 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이것은 Python만의 간결한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교환(swap) 문법이다.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C/Java에서는: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b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temp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3줄이 1줄로 줄어든다!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i:=1 to n-1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(n-1) 재귀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 in range(n-1):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j:=1 to n-i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arr 0 내부 재귀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j in range(n-1-i):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a.swap! i (i+1)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arr[j],arr[j+1]=arr[j+1],arr[j]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정렬: 카드 정리의 과학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비유: 카드 게임에서 손에 든 카드 정리하기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처음에 카드 1장 = 이미 정렬됨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새 카드를 받으면 올바른 위치에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끼워 넣는다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반복하면 전체가 정렬됨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"정렬된 부분"이 점점 커진다!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45720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361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트럼프 카드를 떠올리자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대부분의 사람이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무의식적으로 삽입 정렬을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카드 → 이미 정리된 카드 사이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올바른 위치에 삽입 → 완료!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66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연산: 새 원소를 정렬된 부분의 올바른 위치에 삽입. 버블 정렬의 '인접 교환'과 대비된다.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 추적: [3, 2, 4, 1, 5]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645920"/>
                <a:gridCol w="201168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삽입할 원소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정렬된 부분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삽입 과정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2&lt;3, 3 앞에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4&gt;3, 끝에 유지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 3, 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[2,3,4]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1&lt;2, 맨 앞에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2, 3, 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[1,2,3,4]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5&gt;4, 끝에 유지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2, 3, 4, 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291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정렬된 부분이 [3] → [2,3] → [2,3,4] → [1,2,3,4] → [1,2,3,4,5]로 점점 커진다.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버블 정렬 vs 삽입 정렬</a:t>
            </a:r>
            <a:endParaRPr lang="en-US" sz="2400" dirty="0"/>
          </a:p>
        </p:txBody>
      </p:sp>
      <p:pic>
        <p:nvPicPr>
          <p:cNvPr id="5" name="Image 0" descr="/home/claude/images/sort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2560320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14400"/>
          <a:ext cx="3200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삽입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연산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인접 교환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올바른 삽입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거의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느림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빠름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최적화(교환 없으면 중단) 적용 시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374904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3749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정렬이 거의 정렬된 데이터에서 빠른 이유: 새 원소의 올바른 위치가 바로 근처에 있으므로 비교가 적다.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정렬: Lean 4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 (x : Nat) : List Nat → List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[x]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 ≤ a then x :: a :: 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a :: insert x as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insertionSort : List Nat → List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[]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 insert a (insertionSort as)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insertionSort [3, 2, 4, 1, 5]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[1, 2, 3, 4, 5]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2560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간결한 이유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매칭과 재귀를 사용하면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 관리가 불필요하다.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함수가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"올바른 위치에 삽입"이라는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핵심만 정확히 표현한다.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코드보다 오히려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4가 더 읽기 쉽다!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4904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insert는 정렬된 리스트의 올바른 위치에 x를 삽입한다. insertionSort는 이를 재귀적으로 반복한다.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정렬: Python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insertion_sort(lst):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lst[:]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len(arr)):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= arr[j]         # 삽입할 원소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= j - 1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i ≥ 0 and arr[i] &gt; key: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arr[i+1] = arr[i] # 한 칸 뒤로 밀기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-=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arr[i+1] = key        # 올바른 위치에 삽입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print(insertion_sort([3, 2, 4, 1, 5]))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4, 5]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함수형 vs 명령형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(함수형):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insert: 새 리스트 반환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원본 수정 없음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(명령형):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while: 제자리 밀어내기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배열 직접 수정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알고리즘을 다른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"세계관"으로 표현한 것이다.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74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4의 insert 함수가 더 간결한 이유: 패턴 매칭으로 "올바른 위치 찾기"를 직접 표현하기 때문이다.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정렬: 빈칸 연습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 (x : Nat) : List Nat → List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___                --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___ then x :: a :: as      -- (b)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a :: ___                  -- (c)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insertionSort : List Nat → List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___                -- (d)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 ___                -- (e)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201168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빈 리스트에 삽입?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x를 앞에 놓는 조건?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아니면 재귀?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빈 리스트 정렬?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첫 원소를 나머지에?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(a) [x]  (b) x ≤ a  (c) insert x as  (d) []  (e) insert a (insertionSort as)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욕심쟁이 알고리즘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Algorithms — 매 순간 최선의 선택은 전체 최선인가?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욕심쟁이 알고리즘: 핵심 아이디어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문제에서 각 단계마다 그 순간에 가장 좋은 선택을 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45720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비유: 뷔페 접시 채우기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맛있어 보이는 것부터 담는다.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순간 최선의 선택을 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결과적으로 최적의 식사가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아닐 수 있다 — 디저트 공간이 없다!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45720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276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"각 단계의 최선"을 모으면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"전체의 최선"이 되는가?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어떤 문제에서는 된다 (거스름돈)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어떤 문제에서는 안 된다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각 문제마다 증명이 필요하다!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00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욕심쟁이가 항상 최적은 아니다! 최적임을 증명하지 않으면 사용할 수 없다.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거스름돈 문제: 욕심쟁이의 성공과 실패</a:t>
            </a:r>
            <a:endParaRPr lang="en-US" sz="2400" dirty="0"/>
          </a:p>
        </p:txBody>
      </p:sp>
      <p:pic>
        <p:nvPicPr>
          <p:cNvPr id="5" name="Image 0" descr="/home/claude/images/greedy_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4124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29768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동전(10,50,100,500원)에서는 욕심쟁이가 최적이다. 하지만 {1,3,4}원 같은 체계에서는 실패한다.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거스름돈: Lean 4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greedyChange (coins : List Nat) (amount : Nat)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List (Nat x Nat)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coins amount []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: List Nat → Nat → List (Nat x Nat)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List (Nat x Nat)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[], _, acc =&gt; acc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_, 0, acc =&gt; acc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c :: cs, rem, acc =&gt;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count := rem / c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 cs (rem % c) (acc ++ [(c, count)])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4688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91440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9875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해석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coins: 동전 목록(큰→작은)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거스름돈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: 정수 나눗셈 (몫)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: 나머지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동전을 최대한 많이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사용한 뒤 다음 동전으로.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74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#eval greedyChange [500, 100, 50, 10] 760 → [(500, 1), (100, 2), (50, 1), (10, 1)]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거스름돈: Python 구현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greedy_change(coins, amount):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[]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coins: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= amount // c  # 몫: 이 동전 최대 개수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count &gt; 0: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result.append((c, count))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amount %= c      # 나머지: 남은 금액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print(greedy_change([500,100,50,10], 760))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[(500,1),(100,2),(50,1),(10,1)]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vs 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= 정수 나눗셈 (몫)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= 나머지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760 // 500 = 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760 % 500  = 260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4에서도 Nat의 /와 %가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동일하게 동작한다.</a:t>
            </a:r>
            <a:endParaRPr lang="en-US" sz="1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큰 동전부터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:: cs 패턴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c in coins: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:= rem /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 /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//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 := rem mod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 %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%=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(이면) vs ↔ (필요충분)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4에서 가장 중요한 두 논리 연결자의 차이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(이면) vs ↔ (필요충분조건)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" cy="18288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: 한 방향 (일방통행)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"비가 오면 땅이 젖는다" (참)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역: "땅이 젖으면 비가 오는가?"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반드시 아님 (스프링클러!)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(h : P → Q) (hp : P) : Q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:= h hp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5720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789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: 양방향 (양방향 도로)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"n이 짝수 ↔ n%2 = 0"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→: 짝수이면 나머지 0 (참)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←: 나머지 0이면 짝수 (참)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h.mp hp   -- → 방향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h.mpr hq  -- ← 방향</a:t>
            </a:r>
            <a:endParaRPr lang="en-US" sz="1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(이면)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↔ (필요충분)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방향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양방향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P이면 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P이면 Q이고, Q이면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 구성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 hp;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constructor; ... (두 방향)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 사용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hp / apply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h.mp hp / h.mpr hq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와 ↔ : Lean 4 증명 비교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(이면)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→ : 한 방향만 증명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(P Q : Prop)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(h : P → Q) (hp : P) : Q :=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 hp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apply 전술 버전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(h : P → Q) (hp : P)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Q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apply 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exact hp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(필요충분)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↔ : 두 방향 모두 증명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(P : Prop) : P ↔ P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hp; exact hp  -- →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intro hp; exact hp  -- ←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사용: 방향 추출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(h : P ↔ Q) (hp : P) : Q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:= h.mp hp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54864" cy="640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는 사실 (P → Q) AND (Q → P) 와 같다. constructor를 쓰면 두 방향으로 나뉘고, 각각을 → 처럼 증명한다. mp = modus ponens, mpr = modus ponens reverse.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문제(The Halting Problem)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"풀 수 없는 문제"가 존재하는가? — 앨런 튜링의 대답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문제: 풀 수 없는 문제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CE8E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임의의 프로그램 P와 입력 I가 주어졌을 때,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"P가 입력 I에 대해 유한한 시간 안에 멈추는가?"를 판별하는 알고리즘은 존재하지 않는다.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45720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848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 아이디어 (귀류법)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H(P,I)가 존재한다고 가정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멈추면 '멈춤', 아니면 '무한' 반환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새 프로그램 K(P)를 만든다: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H(P,P)='멈춤' → 무한루프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H(P,P)='무한' → 멈춤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K(K)를 실행하면?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어느 쪽이든 모순 발생!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1168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848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K(K)의 모순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K(K) 멈춘다고 가정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H(K,K) = '멈춤'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K의 정의에 의해 무한루프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모순!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K(K) 안 멈춘다고 가정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H(K,K) = '무한'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K의 정의에 의해 멈춤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모순!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H는 존재할 수 없다.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이발사의 역설과 정지 문제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증명은 "이발사의 역설"과 구조가 같다: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"마을에서 스스로 면도하지 않는 사람만 면도해주는 이발사"는 존재할 수 없다.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45720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91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이발사 → 정지 문제 대응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이발사 = 판별 함수 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"스스로 면도하지 않는 사람"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"멈추지 않는 프로그램"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"면도해준다" = "멈춤을 반환"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자신에게 적용하면 모순!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28600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86000"/>
            <a:ext cx="45720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3591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문제의 의미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문제에 알고리즘이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존재하는 것은 아니다.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컴퓨터과학에서 가장 중요한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중 하나이다.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앨런 튜링(Alan Turing, 1936)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코드 vs Lean 4 vs Python: 패턴 비교</a:t>
            </a:r>
            <a:endParaRPr lang="en-US" sz="24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256032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의사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i:=1 to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재귀 + 패턴 매칭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 in range(n):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then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then B else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A: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함수 반환값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interchange a,b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a.swap! i 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a,b = b,a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:=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(Option)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유한성 가정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termination_by 강제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보장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7472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474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코드는 인간을 위한 것, Python은 컴퓨터를 위한 것, Lean 4는 수학적 정확성을 위한 것이다. 세 가지 모두 같은 알고리즘을 다른 관점에서 표현한다.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요약 및 연습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 핵심 정리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 핵심 요약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164592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아이디어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최악 복잡도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4 핵심 패턴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최댓값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전진하며 기록 갱신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재귀 + 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처음부터 끝까지 비교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재귀 + 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이진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절반씩 범위 축소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재귀 + termination_by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버블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인접 교환, 큰 것이 떠오름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이중 재귀 + swap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삽입 정렬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올바른 위치에 삽입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+ 재귀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욕심쟁이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 순간 최선 선택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문제마다 다름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재귀 + 나눗셈/나머지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7472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474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코드의 for/while 루프 = Lean 4의 재귀 + 패턴 매칭. 반복문과 재귀는 동일한 표현력을 가진다.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 문제: 모든 문제에 알고리즘이 존재하는 것은 아니다 (Alan Turing, 1936).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연습 1: 리스트의 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listSum : List Nat →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___           --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 ___           -- (b)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listSum [1, 2, 3, 4, 5]  -- 15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137160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빈 리스트의 합은?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첫 원소 + 나머지의 합?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535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73152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[] =&gt; 0 | a :: as =&gt; a + listSum as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연습 2: 리스트의 길이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myLength : List a → Nat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___           --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_ :: as =&gt; ___           -- (b)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myLength [10, 20, 30]  -- 3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9144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914400"/>
            <a:ext cx="45720" cy="137160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87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빈 리스트의 길이?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1 + 나머지의 길이?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535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73152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[] =&gt; 0 | _ :: as =&gt; 1 + myLength as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연습 3: 원소 포함 여부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contains [BEq a] (x : 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List a → Bool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[]      =&gt; ___           -- (a)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 :: as =&gt; ___           -- (b)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contains 3 [1,2,3,4] -- true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#eval contains 5 [1,2,3,4] -- false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4688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914400"/>
            <a:ext cx="45720" cy="1645920"/>
          </a:xfrm>
          <a:prstGeom prst="rect">
            <a:avLst/>
          </a:prstGeom>
          <a:solidFill>
            <a:srgbClr val="FA7B1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9875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7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빈 리스트에는 없다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현재 원소이거나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나머지에 있거나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27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474720"/>
            <a:ext cx="731520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[] =&gt; false | a :: as =&gt; a == x || contains x as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도전 연습: insert의 길이 보존 증명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 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insert x l 의 길이 = l의 길이 + 1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insert_length (x : Nat) (l : List Nat)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(insert x l).length = l.length + 1 := by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468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914400"/>
            <a:ext cx="45720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9875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l에 대한 귀납법을 사용한다.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l with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nil =&gt; ...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cons a as ih =&gt; ...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문제는 3.2절(함수의 증가)과 3.3절(복잡도)을 배운 후 다시 도전하면 좋다.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재귀 함수의 성질을 증명하는 것은 수학적 귀납법과 정확히 같은 구조이다.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74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"알고리즘이 올바르다"를 증명하는 것 — 이것이 Lean 4의 진정한 힘이다.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 예고: 3.2 함수의 증가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3.2에서 배울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표기법: O, Omega, Theta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알고리즘이 얼마나 빠른가?"를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수학적으로 정밀하게 표현하는 방법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이진 탐색이 O(log n)이란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정확히 무슨 뜻인가?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5720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789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3.3에서 배울 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 클래스: P vs NP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"빠르게 풀 수 있는 문제"와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"빠르게 검증할 수 있는 문제"의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컴퓨터과학 최대의 미해결 문제: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NP 인가?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" cy="5943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66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3.1에서 알고리즘을 배웠고, 3.2에서는 알고리즘의 "속도"를 측정하고, 3.3에서는 문제의 "난이도"를 분류한다.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3.1 완료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알고리즘의 정의, 탐색, 정렬, 욕심쟁이, 정지 문제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4로 수학적 알고리즘을 형식화하는 첫 걸음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Ch3.1 Algorithms</dc:title>
  <dc:subject>PptxGenJS Presentation</dc:subject>
  <dc:creator>Discrete Math + Lean 4</dc:creator>
  <cp:lastModifiedBy>Discrete Math + Lean 4</cp:lastModifiedBy>
  <cp:revision>1</cp:revision>
  <dcterms:created xsi:type="dcterms:W3CDTF">2026-04-04T15:02:34Z</dcterms:created>
  <dcterms:modified xsi:type="dcterms:W3CDTF">2026-04-04T15:02:34Z</dcterms:modified>
</cp:coreProperties>
</file>