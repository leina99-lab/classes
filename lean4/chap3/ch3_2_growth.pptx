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3.2: 함수의 증가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(Growth of Functions)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Big-O, Big-Omega, Big-Theta — 알고리즘의 속도를 재는 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 Ch.3.2 + Lean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증가율을 배우는가?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상수는 잊고, 증가 속도만 본다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함수의 증가율이 중요한가?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3.1절에서 남은 질문: O(n), O(log n)이 정확히 무슨 뜻인가?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5720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361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알고리즘 비교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A: 정확히 1000n 단계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B: 정확히 n² 단계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n=10: A=10,000 B=100 → B 빠름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n=100: A=100,000 B=10,000 → B 빠름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n=10,000: A=10M B=100M → A 빠름!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45720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361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교훈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알고리즘이 "더 빠른가"는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n이 충분히 클 때의 행동으로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판단해야 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앞에 붙은 상수(1000)는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n이 커지면 중요하지 않다.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이것이 Big-O의 핵심이다.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5661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Big-O는 "n이 충분히 커졌을 때, 어떤 함수가 다른 함수보다 빨리 자라는가?"를 비교하는 도구이다.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증가 함수의 계층</a:t>
            </a:r>
            <a:endParaRPr lang="en-US" sz="2400" dirty="0"/>
          </a:p>
        </p:txBody>
      </p:sp>
      <p:pic>
        <p:nvPicPr>
          <p:cNvPr id="4" name="Image 0" descr="/home/claude/images/growth_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303520" cy="27432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91440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log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선형로그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39319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순서: 1 &lt; log n &lt; n &lt; n log n &lt; n² &lt; n³ &lt; 2ⁿ &lt; n!  — 이 계층을 기억하라.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1,000,000일 때 각 함수의 값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731520"/>
                <a:gridCol w="914400"/>
                <a:gridCol w="13716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복잡도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n=1,000,000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 알고리즘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배열 인덱스 접근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이진 탐색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선형 탐색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선형로그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병합 정렬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10¹²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버블 정렬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10³⁰¹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부분집합 열거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84048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840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O(n²)에서 O(n log n)으로 개선하면 n=100만일 때 50,000배 빨라진다. 알고리즘 선택이 곧 성능이다.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Big-O: 상한(Upper Bound)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f(n)은 g(n)보다 빨리 자라지 않는다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Big-O의 정의 (Rosen Definition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515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/home/claude/images/math/bigO_de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51560"/>
            <a:ext cx="7680960" cy="777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9456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194560"/>
            <a:ext cx="45720" cy="14630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26771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정의를 한 줄씩 풀면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5603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"양의 상수 C, k가 존재하여"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특정한 숫자를 찾을 수 있다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"모든 n &gt; k에 대해"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n이 충분히 클 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"|f(n)| ≤ C|g(n)|"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f는 Cg보다 작거나 같다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219456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194560"/>
            <a:ext cx="45720" cy="14630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22677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비유: 택배 도착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256032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택배는 3일 이내에 도착"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이것이 상한이다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실제로는 1일 만에 올 수도 있지만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3일을 넘지 않는다.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Big-O도 마찬가지: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"Cg(n)의 천장을 넘지 않는다"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88620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직관: f(n) ∈ O(g(n)) = "f(n)은 g(n)보다 빨리 증가하지 않는다"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Big-O: 시각적 이해</a:t>
            </a:r>
            <a:endParaRPr lang="en-US" sz="2400" dirty="0"/>
          </a:p>
        </p:txBody>
      </p:sp>
      <p:pic>
        <p:nvPicPr>
          <p:cNvPr id="4" name="Image 0" descr="/home/claude/images/bigO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91440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914400"/>
            <a:ext cx="45720" cy="29260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987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해석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6480" y="1280160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빨간선: f(n) = 3n + 5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노란선: g(n) = 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파란선: Cg(n) = 4n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녹색점선: k = 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&gt; 5 (k) 이후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f(n)은 항상 Cg(n) 아래에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3n+5는 O(n)이다.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406908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4069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4, k = 5가 "목격자(witness)"이다. 이 두 상수의 존재가 Big-O 관계를 증명한다.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Big-O: Lean 4 형식 정의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Big-O의 형식 정의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BigO (f g : Nat → Nat) : Prop :=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∃ C : Nat, ∃ k : Nat, C &gt; 0 ∧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∀ n : Nat, n &gt; k → f n ≤ C * g 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914400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0" y="914400"/>
            <a:ext cx="45720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↔ 수학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12801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C k → "존재한다"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&gt; 0 → "양의 상수"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n → "모든 n에 대해"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&gt; k → → "충분히 클 때"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n ≤ C * g n → 상한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9077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Proof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증명: 3n + 5 는 O(n)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linear_bigO 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BigO (fun n =&gt; 3*n + 5) (fun n =&gt; n) :=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4, 5     -- C = 4, k = 5 (목격자)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omega      -- 4 &gt; 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intro n hn; omega  -- 3n+5 ≤ 4n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834640"/>
            <a:ext cx="2651760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83464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목격자를 제시하는 전술.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omega: 선형 부등식 자동 해결.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예제: 3n + 5는 O(n) — 증명 과정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4, k = 5로 놓자. n &gt; 5일 때: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5720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361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수학적 증명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 + 5 ≤ 3n + n  (왜? 5 &lt; n)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= 4n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= C * 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&gt; 5이면 5 &lt; n이므로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 + 5 &lt; 3n + n = 4n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C=4, k=5가 존재하므로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 + 5는 O(n)이다.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45720" cy="16459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361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트릭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차수의 항(+5)을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차수의 항(n)으로 흡수한다.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&lt; n (n &gt; 5일 때)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5를 n으로 바꿔도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부등식이 성립한다.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Big-O 증명의 핵심이다.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3756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37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전략: 각 항을 가장 높은 차수의 항으로 바운드 → C를 계수의 합으로 잡는다.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예제: n²은 O(n)이 아니다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CE8E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n²은 O(n)이 아니다! 어떤 C, k를 잡아도 n이 충분히 크면 n² &gt; Cn이 된다.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45720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933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귀류법 증명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 ≤ Cn이라 가정하면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 / n ≤ C (n &gt; 0)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≤ C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n은 얼마든지 커질 수 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C + 1로 잡으면 모순!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n²은 O(n)이 아니다.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20240"/>
            <a:ext cx="45720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9933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직관적 이해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n이 2배 되면: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n은 2배 증가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n²은 4배 증가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n²이 n보다 항상 빠르게 자라므로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상수 C를 곱해도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n²이 Cn을 추월한다.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빠르게 자라는 함수는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느린 함수의 O가 아니다.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97764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77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O의 방향을 기억하자: f가 O(g) = "f는 g 이하로 자란다". n²은 n보다 빨리 자라므로 O(n)이 아니다.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예제: 5n² + 3n + 7은 O(n²)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789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증명: C = 6, k = 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&gt; 7일 때: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 ≤ n * n = n²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(왜? n ≥ 1이므로 3 ≤ n &lt; n²/n)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≤ n ≤ n²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(왜? n &gt; 7이므로)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5n² + 3n + 7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5n² + n² + n²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6n²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6 * n² = C * g(n)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0789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quad_bigO 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BigO (fun n =&gt; 5*n^2+3*n+7)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(fun n =&gt; n^2) :=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6, 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omega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intro n hn; nlinarith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560320"/>
            <a:ext cx="4023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560320"/>
            <a:ext cx="45720" cy="7315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6334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nlinarith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9260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부등식(n² 등)을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자동으로 처리하는 전술이다.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omega는 선형(+, *)만 가능.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2044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20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공식: a_m*nᵐ + ... + a_0은 항상 O(nᵐ)이다. C = |a_m| + ... + |a_0|로 잡으면 된다.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증명의 일반 전략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78992"/>
            <a:ext cx="7909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전략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909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주어진 f(n)의 각 항을 g(n)의 배수로 바운드한다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C를 모든 계수의 합보다 크게 잡는다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k를 모든 부등식이 성립할 만큼 크게 잡는다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420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General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예: f(n) = a*n² + b*n + c 가 O(n²)임을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증명하려면: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-- 1. b*n ≤ b*n² (n ≥ 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-- 2. c ≤ c*n² (n ≥ 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-- 3. f(n) ≤ (a+b+c)*n²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-- 4. C = a+b+c, k = 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poly_bigO (a b c : Nat) 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BigO (fun n =&gt; a*n^2+b*n+c)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(fun n =&gt; n^2) :=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a+b+c+1, 1; constructor; · omega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intro n hn; nlinarith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2468880"/>
            <a:ext cx="2926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2468880"/>
            <a:ext cx="45720" cy="182880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5420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+1을 더하는가?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8346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&gt; 0이어야 하므로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a+b+c가 0일 수 있는 경우를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대비하여 +1을 더한다.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이것은 증명 테크닉이다.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수학적 본질은 아니지만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4가 요구하는 조건.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Big-O: 빈칸 연습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BigO (f g : Nat → Nat) : Prop :=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∃ C : Nat, ∃ k : Nat, ___ ∧         -- (a)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∀ n : Nat, ___ → f n ≤ ___         -- (b)(c)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-- 2n + 1 은 O(n)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ex_bigO 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BigO (fun n =&gt; 2*n+1) (fun n =&gt; n) :=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___, ___    -- (d) C, k?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constructor; · ___  -- (e) C &gt; 0?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intro n hn; ___   -- (f) 부등식?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914400"/>
            <a:ext cx="24688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914400"/>
            <a:ext cx="45720" cy="274320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9875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28016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C에 대한 조건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n에 대한 조건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상한 표현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C=3, k=1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omega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(f) omega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(a) C &gt; 0 (b) n &gt; k (c) C * g n (d) 3, 1 (e) omega (f) omega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Big-Omega: 하한(Lower Bound)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f(n)은 g(n)보다 느리게 자라지 않는다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Big-Omega의 정의 (Definition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/home/claude/images/math/bigOmega_de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51560"/>
            <a:ext cx="768096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0312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103120"/>
            <a:ext cx="45720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1762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vs Big-Omega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Big-O: f ≤ Cg (천장)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Big-Omega: f ≥ Cg (바닥)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Big-O가 &lt;=이라면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Big-Omega는 &gt;=이다.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방향만 반대!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210312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103120"/>
            <a:ext cx="45720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21762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비유: 공사 기간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246888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공사는 최소 6개월"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이것이 하한(Omega)이다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실제로는 1년 걸릴 수도 있지만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6개월보다 빨리 끝나지는 않는다.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8221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4069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BigOmega (f g : Nat → Nat) : Prop :=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∃ C : Nat, ∃ k : Nat, C &gt; 0 ∧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∀ n : Nat, n &gt; k → f n ≥ C * g 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760720" y="3749040"/>
            <a:ext cx="2926080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74904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관계: f가 O(g) ↔ g가 Omega(f)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Big-Theta: 동일한 차수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f(n)과 g(n)이 같은 속도로 증가한다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Big-Theta의 정의 (Definition 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EF7E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/home/claude/images/math/bigTheta_de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51560"/>
            <a:ext cx="7680960" cy="685800"/>
          </a:xfrm>
          <a:prstGeom prst="rect">
            <a:avLst/>
          </a:prstGeom>
        </p:spPr>
      </p:pic>
      <p:pic>
        <p:nvPicPr>
          <p:cNvPr id="6" name="Image 1" descr="/home/claude/images/bigTheta_vis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02920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0" y="2011680"/>
            <a:ext cx="32004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0" y="2011680"/>
            <a:ext cx="45720" cy="2560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5"/>
          <p:cNvSpPr/>
          <p:nvPr/>
        </p:nvSpPr>
        <p:spPr>
          <a:xfrm>
            <a:off x="5669280" y="208483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해석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69280" y="237744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빨간선: f(n) = 3n + 5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녹색 점선: C1*n = 3n (하한)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파란 점선: C2*n = 4n (상한)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&gt; 5 이후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f(n)은 항상 두 선 사이에 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3n+5는 Θ(n)이다.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"n과 같은 속도로 증가"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Big-Theta: Lean 4 형식화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BigTheta (f g : Nat → Nat) : Prop :=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BigO f g ∧ BigOmega f 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84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Proof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-- 3n + 5 는 Θ(n)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linear_theta 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BigTheta (fun n =&gt; 3*n+5) (fun n =&gt; n) :=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O(n) 방향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use 4, 5; constructor; · omega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intro n hn; omega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Omega(n) 방향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use 3, 0; constructor; · omega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intro n hn; omega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0" y="914400"/>
            <a:ext cx="45720" cy="33832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분석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28016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BigTheta = BigO AND BigOmega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constructor로 두 방향 분리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(↔ 증명과 같은 구조!)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방향: C=4, k=5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3n+5 ≤ 4n (n&gt;5)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 방향: C=3, k=0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3n+5 ≥ 3n (항상)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방향 모두 성립하므로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Θ(n)이다.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표기법 비교 정리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  <a:gridCol w="164592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표기법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≤ Cg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천장 (상한)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≤ Cg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n ≤ C * 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Omega(g)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≥ Cg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바닥 (하한)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≥ Cg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n ≥ C * 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Theta(g)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O이고 Omega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구간 (양쪽)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C1g ≤ f ≤ C2g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BigO ∧ BigOmega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2560320"/>
            <a:ext cx="54864" cy="6400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560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f가 Theta(g) ↔ f가 O(g) AND f가 Omega(g).  이것은 ↔ (필요충분조건)의 구조와 정확히 같다!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474720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3474720"/>
            <a:ext cx="45720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5478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Omega, Theta의 관계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84048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Theta(g) ⊂ O(g)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Theta(g) ⊂ Omega(g)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Theta가 가장 강한 조건이다.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"정확한 속도"를 말해준다.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347472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3474720"/>
            <a:ext cx="45720" cy="1188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35478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실전에서는...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384048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분석에서는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주로 Big-O를 사용한다.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"최악의 경우 이 정도"라는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상한이 가장 유용하기 때문이다.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계산 규칙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 규칙과 곱 규칙 — 복잡도를 조합하는 법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 규칙(Sum Rule)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E8F0FE"/>
          </a:solidFill>
          <a:ln/>
        </p:spPr>
      </p:sp>
      <p:pic>
        <p:nvPicPr>
          <p:cNvPr id="5" name="Image 0" descr="/home/claude/images/math/sum_r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51560"/>
            <a:ext cx="768096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92024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920240"/>
            <a:ext cx="45720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9933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28600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작업을 순서대로 수행하면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시간은 더 오래 걸리는 쪽에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지배된다.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O(n) + O(n²) = O(n²)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n²이 n보다 크므로 지배적.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92024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920240"/>
            <a:ext cx="45720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9933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비유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228600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 샤워 + 30분 식사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총 시간은 약 30분 수준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 쪽은 긴 쪽에 흡수된다.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(정확히는 35분이지만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"대략 30분"이 지배적)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5204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593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합 규칙의 특수 경우: f1, f2 모두 O(g)일 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sum_rule (h1 : BigO f1 g) (h2 : BigO f2 g) 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BigO (fun n =&gt; f1 n + f2 n) g :=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obtain ⟨C1, k1, hC1, h1⟩ := h1; obtain ⟨C2, k2, hC2, h2⟩ := h2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C1 + C2, max k1 k2; constructor; · omega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intro n hn; have := h1 n (by omega); have := h2 n (by omega); nlinarith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곱 규칙(Product Rule)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E8F0FE"/>
          </a:solidFill>
          <a:ln/>
        </p:spPr>
      </p:sp>
      <p:pic>
        <p:nvPicPr>
          <p:cNvPr id="5" name="Image 0" descr="/home/claude/images/math/product_r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51560"/>
            <a:ext cx="768096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92024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920240"/>
            <a:ext cx="45720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9933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직관: 중첩 반복문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28600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바깥 루프: n번 반복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안쪽 루프: n번 반복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총 n * n = n² 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* O(n) = O(n²)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920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</p:spPr>
      </p:sp>
      <p:sp>
        <p:nvSpPr>
          <p:cNvPr id="11" name="Text 8"/>
          <p:cNvSpPr/>
          <p:nvPr/>
        </p:nvSpPr>
        <p:spPr>
          <a:xfrm>
            <a:off x="4800600" y="19933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2240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이중 반복문의 복잡도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:= 1 to n      -- O(n)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j := 1 to n    -- O(n)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연산             -- O(1)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총: O(n) * O(n) = O(n²)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566160"/>
            <a:ext cx="3931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566160"/>
            <a:ext cx="45720" cy="10972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63931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삼중 반복문이면?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39319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* O(n) * O(n) = O(n³)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 곱셈이 대표적인 예이다.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개의 인덱스 i, j, k로 순회.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356616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3566160"/>
            <a:ext cx="45720" cy="109728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36393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독립적일 때만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46320" y="3931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곱 규칙은 두 반복문이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독립적일 때 적용된다.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안쪽 루프의 횟수가 바깥 루프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변수에 따라 변하면 분석이 달라짐.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참/거짓 판별 연습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5029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참/거짓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 + n 은 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≤ n²이므로 합이 2n² 이하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n³ 은 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n³/n² = n → 무한히 커짐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2ⁿ 은 O(n¹⁰⁰)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지수는 어떤 다항식보다 빠름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n 은 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로그는 선형보다 느림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은 O(n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≤ n log n (n ≥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100n 은 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100으로 잡으면 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65760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657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판별법: f/g가 n → 무한대 일 때 유한하면 O, 무한이면 not O. 상수이면 Theta.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도전 연습: 합 규칙 직접 증명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O(n) + O(n) ⊆ O(n) 을 증명하라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sum_rule_exercise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(hf : BigO f g) (hg : BigO h g) 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BigO (fun n =&gt; f n + h n) g :=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obtain ⟨C1, k1, hC1, h1⟩ := hf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obtain ⟨C2, k2, hC2, h2⟩ := hg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___, ___        -- (a) C와 k?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___               -- (b) C &gt; 0?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intro n hn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have hf := h1 n (by omega)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have hg := h2 n (by omega)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___               -- (c) f n + h n ≤ (C1+C2) * g n?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(a) C1+C2, max k1 k2  (b) omega  (c) nlinarith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종합 요약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Big-O, Big-Omega, Big-Theta 핵심 정리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3.2 핵심 요약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645920"/>
                <a:gridCol w="3291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4 핵심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≤ Cg (n&gt;k)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상한 (천장)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 C k, f n ≤ C * 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Omega(g)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≥ Cg (n&gt;k)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하한 (바닥)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 C k, f n ≥ C * 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Theta(g)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O이고 Omega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동일 차수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BigO ∧ BigOmega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 규칙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O(f)+O(g)=O(max)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느린 쪽 지배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obtain + nlinarith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곱 규칙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O(f)*O(g)=O(fg)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중첩은 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obtain + nlinarith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292608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926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증가 순서: 1 &lt; log n &lt; n &lt; n log n &lt; n² &lt; n³ &lt; 2ⁿ &lt; n!  — 이 계층이 알고리즘 분석의 기본이다.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3749040"/>
            <a:ext cx="45720" cy="6400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822192"/>
            <a:ext cx="7909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 예고: 3.3 복잡도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7909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시간복잡도 분석, 복잡도 클래스(P, NP), 그리고 컴퓨터과학 최대의 미해결 문제 P = NP?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3.2 완료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Big-O, Big-Omega, Big-Theta — 알고리즘의 속도를 재는 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4로 Big-O의 존재 증명을 형식화하다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Ch3.2 Growth of Functions</dc:title>
  <dc:subject>PptxGenJS Presentation</dc:subject>
  <dc:creator>Discrete Math + Lean 4</dc:creator>
  <cp:lastModifiedBy>Discrete Math + Lean 4</cp:lastModifiedBy>
  <cp:revision>1</cp:revision>
  <dcterms:created xsi:type="dcterms:W3CDTF">2026-04-04T15:02:35Z</dcterms:created>
  <dcterms:modified xsi:type="dcterms:W3CDTF">2026-04-04T15:02:35Z</dcterms:modified>
</cp:coreProperties>
</file>