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sqrt(2) 무리수 증명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 증명에서 Lean 4까지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귀류법  |  보조정리(lemma) vs 정리(theorem)  |  if(-&gt;) vs iff(&lt;-&gt;)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x Lean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sqrt(2)인가?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증명이 중요한 이유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귀류법(Proof by Contradiction)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7739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증명과의 비교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482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0482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 5단계 완전 해부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494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추론 + Lean 4 매칭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52374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lemma와 theorem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7249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벽돌과 건물의 관계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992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9992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if(-&gt;) vs if and only if(&lt;-&gt;)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단방향과 양방향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코드: 기초 -&gt; 완성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675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코드 작성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9502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Mathlib 한 줄의 의미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151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라이브러리의 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4256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4256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문제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6268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빈칸 / sorry / 자유 증명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sqrt(2)인가?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고대 그리스에서 시작된 가장 유명한 증명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피타고라스 학파의 위기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"모든 수는 정수의 비(ratio)로 나타낼 수 있다"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피타고라스 학파의 근본 믿음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68880" cy="237744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2468880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귀류법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by contradiction의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대표적 사례이다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468880" cy="237744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828800"/>
            <a:ext cx="246888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재사용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514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보조정리를 만들어 두 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사용하는 구조가 명확하다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468880" cy="23774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828800"/>
            <a:ext cx="246888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대응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증명의 매 단계가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전술에 대응한다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 가지가 이 증명을 형식 증명 입문에 최적으로 만든다.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귀류법이란 무엇인가?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by Contradiction — 직접 증명이 어려울 때 우회하는 방법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증명 vs 귀류법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657600" cy="320040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05840"/>
            <a:ext cx="3657600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증명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"P이면 Q이다"를 앞에서부터 따라가며 보인다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정문으로 들어간다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짝수 두 개의 합은 짝수이다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2m, b = 2n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= 2(m+n) = 짝수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657600" cy="320040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05840"/>
            <a:ext cx="365760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귀류법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"P가 아니라고 가정하면 모순이 생긴다"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뒷문이 막혀 있음을 확인한다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sqrt(2)는 무리수이다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유리수라고 가정 -&gt; 모순 발견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무리수이다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sqrt(2) 증명은 직접 증명이 어렵다. 귀류법이 자연스러운 선택이다.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귀류법의 3단계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560320" cy="256032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증명하려는 것의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반대를 가정한다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2286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by_contra 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1097280"/>
            <a:ext cx="2560320" cy="256032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03320" y="2743200"/>
            <a:ext cx="2286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obtain, have, 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2560320" cy="256032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모순이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발생한다!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2743200"/>
            <a:ext cx="2286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absurd / contradiction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7680960" cy="8686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931920"/>
            <a:ext cx="54864" cy="8686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0050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4에서 by_contra가 하는 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793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목표(goal)를 False로 바꾸고, 원래 명제의 부정(not P)을 가설(h)로 넣어준다.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모순(False)만 찾으면 증명이 끝난다.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 증명 5단계 완전 해부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추론의 매 단계를 Lean 4 전술과 1:1로 매칭한다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1단계: 유리수라고 가정한다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3152" cy="1828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가정: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sqrt(2)가 유리수라고 하자.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그러면 sqrt(2) = a/b 로 쓸 수 있다.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(단, a와 b는 서로소인 자연수, 즉 gcd(a, b) = 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657600" cy="137160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1371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76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서로소(coprime)란?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b의 최대공약수가 1이라는 뜻이다.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3과 5는 서로소 (gcd =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4와 6은 서로소가 아님 (gcd =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분수는 기약분수로 만들 수 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657600" cy="13716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103120"/>
            <a:ext cx="54864" cy="13716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176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기약분수인가?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50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"가장 간단한 형태"에서 모순을 찾으면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강력한 증명이 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나중에 5단계에서 이 가정이 핵심이 된다.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1단계 -&gt; Lean 4: by_contra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657600" cy="128016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05840"/>
            <a:ext cx="54864" cy="12801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"sqrt(2)가 유리수라고 가정하자"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657600" cy="128016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2801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329184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8132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sqrt2_irrational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Irrational (Real.sqrt 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by_contra 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514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InfoView 상태 변화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365760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9008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[by_contra 실행 전]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goal: Irrational (Real.sqrt 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365760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99008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[by_contra h 실행 후]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 : not Irrational (Real.sqrt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 : False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9136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by_contra인가?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1879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"Irrational이다"를 직접 증명하기는 어렵다.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대신 "유리수라고 가정하면 모순(False)이 생긴다"를 보이는 것이다.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by_contra는 목표를 False로 바꾸고, 부정을 가설(h)로 넣는다.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2단계: 양변을 제곱한다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sqrt(2) = a/b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양변을 제곱:  2 = a^2 / b^2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양변에 b^2를 곱하면: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011680"/>
            <a:ext cx="4572000" cy="73152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2b^2 = a^2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핵심 등식이 나머지 모든 추론의 출발점이다.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 -&gt; Lean 4: obtain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109728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0972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"sqrt(2) = a/b 로 놓자"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657600" cy="109728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10972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329184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4416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obtain &lt;a, b, hb, hab&gt; := 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a, b : 정수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hb : b !=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hab : sqrt 2 = a /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768096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395728"/>
            <a:ext cx="73152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[obtain 실행 후 InfoView]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: Z          -- 분자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: Z          -- 분모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hb : b != 0    -- 분모는 0이 아니다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hab : sqrt 2 = a /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hcop : gcd a b = 1  -- 서로소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 : False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520440"/>
            <a:ext cx="54864" cy="9144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935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obtain인가?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8679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obtain은 "존재한다(exists)" 형태의 가설을 분해하는 전술이다.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마치 상자를 열어서 안에 든 물건(a, b, 조건들)을 하나하나 꺼내는 것과 같다.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증명에서 "sqrt(2) = a/b로 놓자"에 해당한다.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3단계: a^2 짝수 -&gt; a 짝수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2b^2 = a^2 에서 a^2 = 2 x (b^2)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a^2은 2의 배수, 즉 짝수이다.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680960" cy="1645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00200"/>
            <a:ext cx="54864" cy="1645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459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사실 (보조정리 = lemma)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n^2이 짝수이면 n도 짝수이다.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 (대우): "n이 홀수이면 n^2도 홀수이다"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2k + 1 이면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 = 4k^2 + 4k + 1 = 2(2k^2 + 2k) + 1 --&gt; 홀수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보조정리는 4단계에서 한 번 더 사용된다!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3단계 -&gt; Lean 4: lemma 호출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91440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9144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"a^2이 짝수이므로, 핵심 사실에 의해 a도 짝수"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657600" cy="91440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9144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3291840" cy="502920"/>
          </a:xfrm>
          <a:prstGeom prst="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44168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ha_even : Even a :=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even_of_sq_even a h_a_sq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011680"/>
            <a:ext cx="768096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21408"/>
            <a:ext cx="73152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보조정리 (벽돌) 정의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lemma even_of_sq_even (n : Nat)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(h : Even (n ^ 2)) : Even n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by_contra h_odd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push_neg at h_odd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h_odd : not (Even n) = n은 홀수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n이 홀수이면 n^2도 홀수임을 보인다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: not (Even (n ^ 2))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rw [Nat.even_iff]; omega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contradiction  -- 가설 h와 모순!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136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lemma를 "호출"하는 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1879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even_of_sq_even a h_a_sq  &lt;-- 이름을 부르고 인자를 넘긴다.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복사하는 것이 아니라, 이미 검증된 벽돌을 가져다 놓는 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4단계: b도 짝수이다 (같은 lemma 재사용!)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201168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20116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2c로 놓으면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2b^2 = (2c)^2 = 4c^2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b^2 = 2c^2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b^2이 짝수이므로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(3단계와 같은 논리로)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b도 짝수이다.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657600" cy="201168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20116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329184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44168"/>
            <a:ext cx="292608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 = 2c 형태로 분해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obtain &lt;c, hc&gt; := ha_even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b^2 = 2c^2 유도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h_b_sq : Even (b^2)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c^2; nlinarith [hc]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동일한 lemma를 b에 적용!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hb_even : Even b :=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even_of_sq_even b h_b_sq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00400"/>
            <a:ext cx="54864" cy="9144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735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재사용의 핵심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5478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증명한 lemma는 이름만 부르면 어디서든 다시 쓸 수 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증명의 "같은 논리로" = Lean의 "같은 lemma 이름을 한 번 더"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복사하는 것이 아니라, 이름을 부르는 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5단계: 모순! = absurd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0" cy="164592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914400"/>
            <a:ext cx="54864" cy="16459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a도 짝수, b도 짝수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 2가 공약수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 gcd(a, b) &gt;=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 서로소(gcd = 1) 가정에 모순!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sqrt(2)는 무리수이다. QED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657600" cy="1645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16459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3291840" cy="109728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441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둘 다 짝수 -&gt; 서로소 아님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h_contra :=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not_coprime_of_both_even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ha_even hb_even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모순 선언!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absurd h_coprime h_contra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1097280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077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absurd의 작동 원리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18211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absurd는 두 개의 증거를 받는다: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P가 참이라는 증거 (h_coprime: 서로소이다)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P가 거짓이라는 증거 (h_contra: 서로소가 아니다)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P와 not P가 동시에 참일 수 없으므로 False가 증명된다.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1:1 대응표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256032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 증명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 전술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전술의 역할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유리수라고 가정하자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by_contra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부정을 가설로 넣는다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b를 꺼내자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obtain &lt;a,b,...&gt; :=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존재 가설을 분해한다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a^2 짝수 -&gt; a 짝수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even_of_sq_even a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lemma를 호출한다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b에도 같은 논리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even_of_sq_even b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lemma 재사용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모순이다!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absurd h_cop h_contra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P와 not P -&gt; 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수학적 추론 한 걸음 = Lean 코드 한 줄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lemma와 theorem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벽돌과 건물의 관계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벽돌(lemma)과 건물(theorem)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2926080" cy="73152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lemma: even_of_sq_even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 짝수 -&gt; n 짝수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3200400"/>
            <a:ext cx="2926080" cy="73152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lemma: not_coprime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짝수 -&gt; 서로소 아님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벽돌 (재사용 가능)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103120"/>
            <a:ext cx="5486400" cy="73152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148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by_contra + obtain + lemma + absurd = 귀류법 조립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097280"/>
            <a:ext cx="4572000" cy="6400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097280"/>
            <a:ext cx="457200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sqrt(2)는 무리수이다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 (최종 결론)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83464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83464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4에서 lemma vs theorem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24128"/>
            <a:ext cx="73152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lemma: 중간 단계의 작은 사실 (벽돌)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lemma even_of_sq_even (n : Nat) (h : Even (n ^ 2)) : Even n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theorem: 최종 결론 (건물)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sqrt2_irrational : Irrational (Real.sqrt 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68880"/>
            <a:ext cx="54864" cy="9144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420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컴파일러는 lemma와 theorem을 완전히 동일하게 취급한다.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차이는 순전히 인간을 위한 것이다.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"이것은 중간 부품이다(lemma)" vs "이것이 최종 결론이다(theorem)"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정리 증명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정리 증명 (동일)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관례적 용도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 단계, 보조 사실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결론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재사용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증명에서 이름으로 호출 가능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증명에서 이름으로 호출 가능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벽돌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if(-&gt;) vs if and only if(&lt;-&gt;)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화살표와 양방향 화살표의 차이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if(-&gt;): 한 방향 화살표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"P이면 Q이다" = P -&gt; Q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164592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54864" cy="16459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예시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"비가 오면 땅이 젖는다" (P -&gt; Q)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비가 온다 -&gt; 땅이 젖는다   (참)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땅이 젖는다 -&gt; 비가 온다   (거짓!)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(물을 뿌렸을 수도 있다)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1645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16459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3291840" cy="109728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8013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: P -&gt; Q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intro 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hp : P   (P가 참이라 가정)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goal : Q (Q를 증명해야 한다)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548640"/>
          </a:xfrm>
          <a:prstGeom prst="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0156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[intro hp 전]   goal: P -&gt; 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[intro hp 후]   hp : P,   goal: Q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방향만 성립한다. 역방향은 별도로 증명해야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and only if(&lt;-&gt;): 양방향 화살표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"P일 때 그리고 그때에만 Q" = P &lt;-&gt; Q = (P -&gt; Q) and (Q -&gt; P)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146304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54864" cy="146304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증명에서의 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 짝수 &lt;-&gt; n 짝수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방향: n^2 짝수이면 n 짝수 (사용!)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 방향: n 짝수이면 n^2 짝수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146304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329184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801368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: P &lt;-&gt; Q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 intro hp  -- -&gt; 방향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 intro hq  -- &lt;- 방향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&lt;-&gt; 에서 한 방향만 꺼내기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768096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38728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 : P &lt;-&gt; Q  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h.mp  : P -&gt; Q   (-&gt; 방향, modus ponens)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h.mpr : Q -&gt; P   (&lt;- 방향, modus ponens reverse)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(h : P &lt;-&gt; Q) (hp : P) : Q := h.mp hp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297680"/>
            <a:ext cx="54864" cy="64008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70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증명에서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64515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완전한 사실은 &lt;-&gt; (양방향)이지만, 우리는 -&gt; 방향(한 쪽)만 필요했다.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4 코드: 기초에서 완성까지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단계별로 코드를 쌓아 올린다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뼈대(Skeleton): sorry로 구조 잡기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24128"/>
            <a:ext cx="731520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[뼈대] 전체 구조를 먼저 확인한다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벽돌 1: 핵심 보조정리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lemma even_of_sq_even (n : Nat) (h : Even (n^2)) : Even n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  -- 대우 증명으로 채울 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건물: 본 정리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sqrt2_irrational : Irrational (Real.sqrt 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by_contra h        -- 1단계: 가정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 ... := h    -- 2단계: 분해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              -- 3~5단계: lemma 적용 + 모순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383280"/>
            <a:ext cx="54864" cy="9144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564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뼈대부터 잡는가?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sorry는 "아직 증명하지 않았다"는 표시이다.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전체 구조를 세운 뒤, sorry를 하나씩 실제 증명으로 교체한다.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방식이 길을 잃지 않는 가장 좋은 방법이다.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완성 코드 (핵심 흐름)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7680960" cy="3840480"/>
          </a:xfrm>
          <a:prstGeom prst="rect">
            <a:avLst>
              <a:gd name="adj" fmla="val 190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32688"/>
            <a:ext cx="731520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[벽돌] 보조정리: n^2 짝수 -&gt; n 짝수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lemma even_of_sq_even (n : Nat) (h : Even (n^2)) : Even n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by_contra h_odd; push_neg at h_odd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: not (Even (n^2)) := by rw [Nat.even_iff]; omega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contradiction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[건물] 본 정리: sqrt(2) 무리수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sqrt2_irrational : Irrational (Real.sqrt 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by_contra h                              -- 1단계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 &lt;a, b, hb, hab, hcop&gt; := ...      -- 2단계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key : 2 * b^2 = a^2 := by linarith  -- 핵심 등식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-- 3단계: a 짝수  (lemma 호출)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ha_even : Even a := even_of_sq_even a (by use b^2; linarith)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-- 4단계: b 짝수  (같은 lemma 재사용!)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obtain &lt;c, hc&gt; := ha_even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hb_even : Even b := even_of_sq_even b (by use c^2; nlinarith)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-- 5단계: 모순!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: 2 | gcd a b :=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omega  -- gcd = 1 인데 2 | gcd -&gt; 모순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Mathlib 한 줄의 의미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30줄의 증명이 검증된 채로 저장되어 있다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Mathlib: 한 줄로 완성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207008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#check irrational_sqrt_two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irrational_sqrt_two : Irrational (Real.sqrt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 줄에 위의 30줄이 전부 들어 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2560320" cy="2011680"/>
          </a:xfrm>
          <a:prstGeom prst="rect">
            <a:avLst/>
          </a:prstGeom>
          <a:solidFill>
            <a:srgbClr val="FEF3E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60320"/>
            <a:ext cx="256032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짓기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벽돌을 구워서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건물을 짓는다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749040"/>
            <a:ext cx="2286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7673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by_contra + obtain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lemma + absurd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560320"/>
            <a:ext cx="2560320" cy="20116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2560320"/>
            <a:ext cx="2560320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벽돌 가져다 쓰기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0332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구운 벽돌을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가져다 쓴다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3749040"/>
            <a:ext cx="2286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37673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even_of_sq_even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(lemma 호출)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560320"/>
            <a:ext cx="2560320" cy="201168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2560320"/>
            <a:ext cx="256032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건물 주소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완성된 건물의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주소를 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749040"/>
            <a:ext cx="2286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7673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irrational_sqrt_two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(Mathlib 한 줄)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연습 문제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빈칸 채우기 -&gt; sorry 완성 -&gt; 완전 자유 증명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빈칸 채우기 (1)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난이도: 기초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7680960" cy="109728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24128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귀류법의 시작: 빈칸을 채워라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sqrt2_step1 : Irrational (Real.sqrt 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 h     -- "유리수라고 가정하자"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86000"/>
            <a:ext cx="54864" cy="73152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91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귀류법을 시작하는 전술은 무엇인가?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False로 바꾸고 부정을 가설로 넣는 전술이다.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정답: 빈칸 채우기 (1)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24128"/>
            <a:ext cx="7315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sqrt2_step1 : Irrational (Real.sqrt 2)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by_contra h     -- 정답: by_contra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84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by_contra h 는 목표를 False로 바꾸고,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명제의 부정을 h : not (Irrational ...) 로 넣는다.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sorry 완성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난이도: 중급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76809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24128"/>
            <a:ext cx="7315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P와 not P가 동시에 있으면 False이다. sorry를 교체하라.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(hp : P) (hnp : not P) : False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73152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762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 또는 contradiction을 사용할 수 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absurd는 두 개의 모순되는 증거를 받는다.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정답: sorry 완성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1280160"/>
          </a:xfrm>
          <a:prstGeom prst="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24128"/>
            <a:ext cx="731520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방법 1: absurd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(hp : P) (hnp : not P) : False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exact absurd hp hnp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방법 2: contradiction (자동 탐색)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(hp : P) (hnp : not P) : False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contradiction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자유 증명: sqrt(3)으로 확장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난이도: 도전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768096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24128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sqrt(3)이 무리수임을 증명하라.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sqrt(2) 증명과 같은 구조이다.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sqrt3_irrational : Irrational (Real.sqrt 3) :=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84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59152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by_contra 로 유리수라고 가정한다.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obtain 으로 a, b를 꺼낸다.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핵심 등식: 3 * b^2 = a^2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새 lemma: "a^2이 3의 배수이면 a도 3의 배수이다"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a도 b도 3의 배수 -&gt; 서로소에 모순.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구조가 sqrt(2) 증명과 완전히 동일하다. 2를 3으로 바꾸기만 하면 된다.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대응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645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증명의 매 단계 = Lean 4의 전술 하나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= 벽돌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증명하면 이름만 부르면 어디서든 재사용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= 건물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lemma들을 조립하여 최종 결론을 완성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vs &lt;-&gt;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방향(if) vs 양방향(iff), &lt;-&gt; 에서 .mp로 한 쪽만 추출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Mathlib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389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30줄의 검증된 증명이 한 줄로 저장되어 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증명은 수학적 직관을 대체하는 것이 아니라,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직관을 기계가 검증할 수 있는 형태로 번역하는 것이다.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sqrt(2) 무리수 증명 - 손 증명에서 Lean 4까지</dc:title>
  <dc:subject>PptxGenJS Presentation</dc:subject>
  <dc:creator>Lean 4 Tutorial</dc:creator>
  <cp:lastModifiedBy>Lean 4 Tutorial</cp:lastModifiedBy>
  <cp:revision>1</cp:revision>
  <dcterms:created xsi:type="dcterms:W3CDTF">2026-03-26T09:09:59Z</dcterms:created>
  <dcterms:modified xsi:type="dcterms:W3CDTF">2026-03-26T09:09:59Z</dcterms:modified>
</cp:coreProperties>
</file>