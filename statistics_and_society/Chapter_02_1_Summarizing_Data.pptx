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image" Target="../media/image-4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097280"/>
            <a:ext cx="2011680" cy="2011680"/>
          </a:xfrm>
          <a:prstGeom prst="rect">
            <a:avLst/>
          </a:prstGeom>
          <a:solidFill>
            <a:srgbClr val="134074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371600"/>
            <a:ext cx="1463040" cy="1463040"/>
          </a:xfrm>
          <a:prstGeom prst="oval">
            <a:avLst/>
          </a:prstGeom>
          <a:solidFill>
            <a:srgbClr val="13678A">
              <a:alpha val="6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6916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5B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요약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Data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3246120"/>
            <a:ext cx="228600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474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수치형/범주형 데이터의 시각화와 요약 통계량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OpenIntro Statistics  |  통계적 추론과 데이터 분석  |  3시간 강의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91440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659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 데이터 탐색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659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산점도, 평균, 히스토그램, 분산, 상자그림, 강건한 통계량, 변환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103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65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데이터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1323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~45분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96596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분할표, 막대그래프, 모자이크, 심슨의 역설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017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96596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 연구: 말라리아 백신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13232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~40분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9659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 소개, 시뮬레이션 기반 추론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690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9659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 복습 및 연습문제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13232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~20분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9659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용어, 종합 연습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4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3200400" cy="3200400"/>
          </a:xfrm>
          <a:prstGeom prst="oval">
            <a:avLst/>
          </a:prstGeom>
          <a:solidFill>
            <a:srgbClr val="13678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B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수치형 데이터 탐색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Numerical 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수치형 데이터 탐색 로드맵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13385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1133856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630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산점도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변수의 관계를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시각적으로 탐색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17904" y="1280160"/>
            <a:ext cx="113385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17904" y="1280160"/>
            <a:ext cx="1133856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3" name="Text 11"/>
          <p:cNvSpPr/>
          <p:nvPr/>
        </p:nvSpPr>
        <p:spPr>
          <a:xfrm>
            <a:off x="1563624" y="14630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점도표/평균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63624" y="18288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일변량 분포의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중심 측정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61488" y="1280160"/>
            <a:ext cx="113385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61488" y="1280160"/>
            <a:ext cx="1133856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7" name="Text 15"/>
          <p:cNvSpPr/>
          <p:nvPr/>
        </p:nvSpPr>
        <p:spPr>
          <a:xfrm>
            <a:off x="2807208" y="14630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히스토그램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07208" y="18288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분포의 형태와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비대칭도 파악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05072" y="1280160"/>
            <a:ext cx="113385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05072" y="1280160"/>
            <a:ext cx="1133856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21" name="Text 19"/>
          <p:cNvSpPr/>
          <p:nvPr/>
        </p:nvSpPr>
        <p:spPr>
          <a:xfrm>
            <a:off x="4050792" y="14630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분산/표준편차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50792" y="18288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산포도의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수치적 측정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48656" y="1280160"/>
            <a:ext cx="113385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48656" y="1280160"/>
            <a:ext cx="1133856" cy="54864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25" name="Text 23"/>
          <p:cNvSpPr/>
          <p:nvPr/>
        </p:nvSpPr>
        <p:spPr>
          <a:xfrm>
            <a:off x="5294376" y="14630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상자그림/IQR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94376" y="18288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사분위수 기반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탐지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1280160"/>
            <a:ext cx="113385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1280160"/>
            <a:ext cx="1133856" cy="54864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14630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강건한 통계량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18288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저항하는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중앙값과 IQR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35824" y="1280160"/>
            <a:ext cx="1133856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35824" y="1280160"/>
            <a:ext cx="1133856" cy="54864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33" name="Text 31"/>
          <p:cNvSpPr/>
          <p:nvPr/>
        </p:nvSpPr>
        <p:spPr>
          <a:xfrm>
            <a:off x="7781544" y="1463040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변환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81544" y="182880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등 비선형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 적용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산점도 (Scatterplot)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수치형 변수의 관계를 점으로 표현한다. 각 점은 하나의 관측치(케이스)에 해당한다.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산점도에서 파악하는 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방향: 양의 연관 / 음의 연관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형태: 선형 / 비선형 (곡선)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강도: 강한 / 약한 연관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이상치: 전체 패턴에서 벗어난 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군집: 데이터의 하위 그룹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주의사항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2402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추세가 있으면 단순 상관계수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(피어슨 r)만으로 판단할 수 없다.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곡률(curvature)이 관찰되면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모형이나 변환을 고려해야 한다.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변수(x축)와 반응 변수(y축)의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배치에 주의한다.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plt.scatter(x, y)  |  pandas: df.plot.scatter(x='col1', y='col2')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산점도의 역사적 의의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프랜시스 골턴 (1822-1911)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부모-자녀 키 관계 연구에서 산점도를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체계화하였다.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이를 통해 '평균으로의 회귀' 현상을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발견하였으며, 이는 현대 회귀분석의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시초가 되었다.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키가 큰 부모의 자녀는 부모보다 평균에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가까운 키를 가지는 경향이 있다는 것을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산점도로 시각적으로 보여주었다.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평균으로의 회귀 (Regression to the Mean)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극단적인 관측값 이후의 측정은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평균에 더 가까워지는 경향이 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현상은 통계적 원리이며,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변화가 아닐 수 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매우 높은 시험 점수 → 다음 시험 하락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매우 나쁜 경기 성적 → 다음 경기 개선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극단적 키의 부모 → 자녀 키 평균 회귀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점도표와 평균 (Dot Plot &amp; Mean)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점도표 (Dot Plot)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일변량 수치 데이터의 분포를 표시한다.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점이 하나의 관측값을 나타낸다.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데이터에서 분포의 형태를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직관적으로 파악할 수 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표본평균 (Sample Mean)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x-bar = (x1 + x2 + ... + xn) / 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관측값의 합을 표본 크기로 나눈 값이다.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물리적으로 데이터의 '무게 중심'에 해당한다.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154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가중평균 (Weighted Mean)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가중평균 = Sum(wi * xi) / Sum(wi)  |  범주별 크기가 다를 때, 각 관측값에 가중치를 부여하여 계산한다.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A 학급(30명, 평균 80), B 학급(20명, 평균 90) → 가중평균 = (30*80 + 20*90)/50 = 84 (단순 평균 85와 다름)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2.2 / 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모수 vs 통계량, 평균의 물리적 의미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모수 (Parameter)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통계량 (Statistic)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그리스 문자: μ, σ,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라틴 문자: x-bar, s, p-hat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모집단 전체의 참값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표본에서 계산한 추정값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 알 수 없음 (추정)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데이터로부터 계산 가능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283464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평균의 물리적 의미: 시소의 균형점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수직선 위에 각 관측값을 동일한 무게의 추로 놓으면, 평균은 시소의 균형점(fulcrum)이다.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직관은 이상치가 평균을 강하게 끌어당기는 이유를 설명한다.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{1, 2, 3, 4, 100} → 평균 = 22 (이상치 100이 균형점을 크게 이동시킴)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히스토그램 (Histogram)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 데이터를 구간(bin)으로 나누어 빈도를 막대로 표시한다. 구간 너비에 따라 분포의 모습이 달라질 수 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분포의 형태 (Shape)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대칭 (Symmetric): 좌우 대칭, 종 모양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치우침 (Right-skewed): 오른쪽 꼬리가 긺 (소득 분포)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치우침 (Left-skewed): 왼쪽 꼬리가 긺 (시험 성적)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봉우리(Mode)의 수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28600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봉우리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단봉(Unimodal)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일반적 형태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이봉(Bimodal)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두 하위 집단 존재 가능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다봉(Multimodal)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혼합 분포의 징후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균등(Uniform)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값이 비슷한 빈도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plt.hist(data, bins=30) | sns.histplot(data, kde=True)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히스토그램의 구간 너비 선택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82880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적합한 경우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Sturges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 + 3.322 log10(n)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소규모 데이터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단순하나 대규모에서 과소 추정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3.49 s n^(-1/3)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정규분포 가정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 기반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Freedman-Diaconis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2 IQR n^(-1/3)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이상치가 있는 경우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기반, 이상치에 강건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364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291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구간이 너무 좁으면 잡음이, 너무 넓으면 정보가 손실된다. 여러 너비를 시도해 보는 것이 좋다.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분산 (Variance)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s² = Σ(xi - x-bar)² / (n - 1)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관측값과 평균의 편차를 제곱한 후 합산하여 (n-1)로 나눈다.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분모가 n이 아닌 (n-1)인 이유: 자유도(degrees of freedom) 보정. 표본 분산이 모집단 분산의 불편 추정량이 되도록 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과정 예시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{2, 4, 6, 8, 10}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편차: -4, -2, 0, 2,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편차 제곱: 16, 4, 0, 4,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합: 40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분산: 40/(5-1) = 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편차를 제곱하는가?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편차의 합은 항상 0이다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(양수와 음수가 상쇄)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절댓값 대신 제곱을 사용하면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미분 가능하여 수학적 처리에 유리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큰 편차에 더 큰 패널티를 부과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표준편차 (Standard Deviation)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sqrt(s²) = sqrt[ Σ(xi - x-bar)² / (n-1)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분산의 제곱근으로, 원래 데이터와 동일한 단위를 가진다. '데이터가 평균에서 대략 얼마나 떨어져 있는가'를 측정한다.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분산 (s²)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원래 단위의 제곱 (cm², $²)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원래 단위와 동일 (cm, 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직관적 해석 어려움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평균으로부터의 평균 거리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수학적 계산에 편리 (가법성)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 및 해석에 사용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체비셰프 부등식과 경험적 규칙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체비셰프 (임의 분포)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경험적 규칙 (정규 분포)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± 1σ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± 2σ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± 3σ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2918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체비셰프 부등식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분포의 형태에 관계없이 성립한다.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최소한의 보장을 제공하므로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보수적인 추정에 사용된다.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32918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경험적 규칙 (68-95-99.7)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 모양(정규) 분포에서만 적용된다.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정확한 추정을 제공하지만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가정이 필요하다.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상자그림의 구조 (Box Plot)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5720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상자그림 구성 요소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109728" cy="2743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 (Q2): 상자 내부 굵은 선. 데이터의 50% 지점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109728" cy="27432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(25번째 백분위수): 상자의 아래쪽 가장자리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109728" cy="27432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(75번째 백분위수): 상자의 위쪽 가장자리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109728" cy="27432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Q3 - Q1: 상자의 높이. 데이터의 중간 50%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109728" cy="274320"/>
          </a:xfrm>
          <a:prstGeom prst="rect">
            <a:avLst/>
          </a:prstGeom>
          <a:solidFill>
            <a:srgbClr val="5A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수염 (Whisker): Q1 - 1.5*IQR ~ Q3 + 1.5*IQR 범위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109728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(Outlier): 수염 바깥의 점. 극단적 관측값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1234440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판별 기준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17373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관측값 &lt; Q1 - 1.5 * IQR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관측값 &gt; Q3 + 1.5 * IQR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이면 이상치로 표시한다.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Q1=25, Q3=75, IQR=50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하한 = 25 - 75 = -50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상한 = 75 + 75 = 150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150 초과, -50 미만은 이상치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중앙값 (Median)과 사분위수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 (Median)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정렬된 데이터의 정확히 중간 위치의 값.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홀수: 가운데 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짝수: 가운데 두 값의 평균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영향받지 않는 강건한 중심 측도.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백분위수 (Percentile)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p번째 백분위수: 데이터의 p%가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값 이하인 지점.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25번째 백분위수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= 50번째 백분위수 (= 중앙값)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= 75번째 백분위수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337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예시: {3, 7, 8, 12, 15, 18, 22, 25, 30}  (n=9)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7.5 (2번째와 3번째의 평균)  |  Q2 = 15 (5번째)  |  Q3 = 23.5 (7번째와 8번째의 평균)  |  IQR = 23.5 - 7.5 = 16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강건한 통계량 (Robust Statistics)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42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이상치에 민감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이상치에 강건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중심 측도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(x-bar)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중앙값 (Median)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산포 측도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274320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기준: 언제 무엇을 사용하는가?</a:t>
            </a:r>
            <a:endParaRPr lang="en-US" sz="14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931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권장 측도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대칭 분포, 이상치 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+ 표준편차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치우친 분포 또는 이상치 존재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중앙값 + IQR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 대상이 비전문가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중앙값 (직관적 해석)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후속 통계 분석이 필요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분포 형태에 따라 판단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평균과 중앙값의 선택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소득 분포의 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소득 분포에서 평균은 일부 고소득자에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의해 위로 끌려간다.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 경제 보고서에서 '평균 소득'과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'중위 소득'이 크게 다른 이유이다.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'대표적인 시민의 경험'을 반영하려면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중앙값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'전체 자원의 크기'를 반영하려면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평균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통찰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측도가 '올바른가'가 아니라,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질문에 답하느냐가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선택의 기준이다.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치우친 분포에서: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&gt; 중앙값 → 오른쪽 치우침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&lt; 중앙값 → 왼쪽 치우침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= 중앙값 → 대칭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관계는 치우침의 방향을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빠르게 판별하는 데 유용하다.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변환 (Transformation)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42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효과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적합한 경우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 변환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오른쪽 치우침 → 대칭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소득, 인구, 농도 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제곱근 변환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분산 안정화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빈도 데이터 (count)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역수 변환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극단적 치우침 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비율, 속도 데이터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변환의 해석: 산술평균 vs 기하평균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기하평균이란?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변환 후의 평균을 역변환하면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기하평균이 된다.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기하평균 = exp(mean(log(x)))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비율, 배수, 성장률처럼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곱셈적 구조를 가진 데이터에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적절한 '평균'이다.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연간 수익률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수익률: +50%, -33%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산술평균 = (+50 + (-33)) /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+8.5% (과대평가!)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기하평균: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* 1.5 * 0.67 = 100.5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수익률 = 약 0% (정확!)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산술평균은 곱셈적 과정에서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체계적으로 과대 추정한다.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4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3200400" cy="3200400"/>
          </a:xfrm>
          <a:prstGeom prst="oval">
            <a:avLst/>
          </a:prstGeom>
          <a:solidFill>
            <a:srgbClr val="13678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B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범주형 데이터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범주형 데이터 분석 도구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965960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범주형 변수 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빈도를 행렬로 정리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234440"/>
            <a:ext cx="1965960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막대그래프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737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103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범주별 빈도를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높이로 표현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34440"/>
            <a:ext cx="1965960" cy="54864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모자이크 그래프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Plot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103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면적으로 빈도를 표현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변수의 관계 시각화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234440"/>
            <a:ext cx="19659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 그래프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737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21031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대비 비율 표시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비교에 부적합 → 비권장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분할표 (Contingency Table)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범주형 변수 간의 관계를 빈도표로 정리한다.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흡연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비흡연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폐암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흡연자 중 폐암 비율: 40/100 = 40%   vs   비흡연자 중 폐암 비율: 10/100 = 10%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pd.crosstab(df['smoking'], df['cancer'], margins=True)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비율의 세 가지 유형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64008" cy="1005840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07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비율 (Row Proportion)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합계를 기준으로 계산한 비율이다.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'흡연자 중 몇 %가 폐암인가?'에 답한다.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40/100 = 40%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77440"/>
            <a:ext cx="64008" cy="1005840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50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비율 (Column Proportion)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합계를 기준으로 계산한 비율이다.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'폐암 환자 중 몇 %가 흡연자인가?'에 답한다.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40/50 = 80%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20440"/>
            <a:ext cx="64008" cy="10058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93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비율 (Overall Proportion)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총합계를 기준으로 계산한 비율이다.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'전체 중 흡연+폐암인 비율은?'에 답한다.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40/200 = 20%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07992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4434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비율을 사용할지는 연구 질문에 따라 달라진다. 질문의 방향을 먼저 파악하라.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막대그래프 유형과 그룹 비교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325880"/>
            <a:ext cx="365760" cy="36576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막대그래프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범주별 빈도를 독립된 막대로 표시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011680"/>
            <a:ext cx="365760" cy="36576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막대그래프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막대를 쌓아 하위 범주의 구성비 표시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697480"/>
            <a:ext cx="365760" cy="36576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막대그래프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8803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그룹별 막대를 나란히 배치하여 비교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383280"/>
            <a:ext cx="365760" cy="36576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 막대그래프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5661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막대 높이를 100%로 맞추어 비율 비교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상자그림(side-by-side boxplot): 여러 그룹의 분포를 동시에 비교하는 가장 효과적인 도구이다.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심슨의 역설 (Simpson's Paradox)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그룹에서 성립하는 관계가 전체 데이터에서 뒤집힐 수 있다!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148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1973년 대학원 입학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합격률은 남성이 높았지만, 각 학과별로 보면 여성의 합격률이 같거나 높았다.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여성이 합격률이 낮은 경쟁 학과에 주로 지원했기 때문이다.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교란변수(학과 선택)가 숨어 있으면 전체와 부분의 결론이 반대가 될 수 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37744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 1: 전체 데이터만 보면 잘못된 결론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 2: 하위 그룹 분석(층화 분석) 필수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237744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749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 3: 교란변수의 존재를 항상 의심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심슨의 역설 - 수치 예시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42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54480"/>
                <a:gridCol w="137160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남성 지원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남성 합격률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여성 지원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여성 합격률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(쉬운 학과)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(쉬운 학과)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(어려운 학과)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(어려운 학과)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1363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여성이 경쟁 학과(C,D)에 집중 지원 → 전체 합격률이 낮아 보이지만, 학과별로는 동등 이상!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34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3200400" cy="3200400"/>
          </a:xfrm>
          <a:prstGeom prst="oval">
            <a:avLst/>
          </a:prstGeom>
          <a:solidFill>
            <a:srgbClr val="13678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B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사례 연구: 말라리아 백신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Malaria Vaccine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말라리아 백신 연구 배경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설계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생후 5~17개월 영아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14,713명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처리: 백신군 vs 위약군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(무작위 배정)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 변수: 말라리아 양성 여부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설계: 이중 맹검(Double-Blind)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실험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결과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3736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91440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93776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백신군 양성률: 69.6%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위약군 양성률: 88.7%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차이: 19.1%p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차이가 우연일 수 있는가?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가설검정으로 확인!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가설검정이란?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 (H0)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'차이가 없다' 또는 '효과가 없다'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백신과 위약의 효과에 차이가 없다.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관측된 차이는 우연에 의한 것이다.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대립가설 (HA)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'차이가 있다' 또는 '효과가 있다'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백신이 말라리아 감소에 효과가 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관측된 차이는 우연이 아니다.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논리: 귀납적 추론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귀무가설이 참이라고 가정한다.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그 가정 하에서 관측된 결과가 나올 확률(p값)을 계산한다.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p값이 매우 작으면 (보통 &lt; 0.05), 귀무가설을 기각한다.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'우연만으로 설명하기 어렵다' → 처치에 효과가 있다고 결론짓는다.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시뮬레이션 기반 가설검정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457200"/>
          </a:xfrm>
          <a:prstGeom prst="oval">
            <a:avLst/>
          </a:prstGeom>
          <a:solidFill>
            <a:srgbClr val="1367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 설정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백신과 위약의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차이 없음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23444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371600"/>
            <a:ext cx="457200" cy="457200"/>
          </a:xfrm>
          <a:prstGeom prst="oval">
            <a:avLst/>
          </a:prstGeom>
          <a:solidFill>
            <a:srgbClr val="1E8C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통계량 계산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양성률 차이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p1-hat - p2-hat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19.1%p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1371600"/>
            <a:ext cx="457200" cy="457200"/>
          </a:xfrm>
          <a:prstGeom prst="oval">
            <a:avLst/>
          </a:prstGeom>
          <a:solidFill>
            <a:srgbClr val="E883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반복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하에서 10,000회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라벨을 무작위로 섞기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23444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1371600"/>
            <a:ext cx="457200" cy="457200"/>
          </a:xfrm>
          <a:prstGeom prst="oval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p값 계산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중 관측값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극단적 비율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섞기(Shuffling)의 직관: 만약 백신이 정말 효과가 없다면, '백신'/'위약' 라벨은 의미가 없다.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라벨을 무작위로 재배정해도 비슷한 차이가 나와야 한다. 실제 관측된 19.1%p 차이가 시뮬레이션에서 거의 나타나지 않으면,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우연이 아닌 실제 효과가 있다고 결론짓는다.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p값의 의미와 해석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p값 (p-value)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귀무가설이 참일 때, 관측된 통계량만큼 또는 그 이상으로 극단적인 결과가 나올 확률이다.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p값이 작을수록 → 귀무가설에 대한 증거가 강하다  |  p값이 클수록 → 귀무가설과 일치하는 결과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p값 범위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증거의 강도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매우 강한 증거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귀무가설 기각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&lt; p &lt; 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강한 증거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귀무가설 기각 (전통적 기준)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&lt; p &lt; 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약한 증거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경계 영역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&gt; 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약하거나 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귀무가설 기각 실패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p값은 효과의 크기를 측정하지 않는다! p가 작다 = 효과가 크다가 아님에 주의.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시뮬레이션에서 공식으로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기반 추론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귀무가설 하에서 '우연만으로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발생할 수 있는 결과'의 분포를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컴퓨터 시뮬레이션으로 생성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실제 관측값이 이 분포에서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얼마나 극단적인지 확인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p값이 작으면 (&lt; 0.05)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귀무가설을 기각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직관적이며, 복잡한 수학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없이도 핵심 논리를 이해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기반 추론 (이후 장에서)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표본이 충분히 크면 시뮬레이션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분포가 특정 수학적 분포에 수렴한다.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(정규분포, t분포 등)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성질을 이용하면 시뮬레이션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없이도 p값을 계산할 수 있다.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중심극한정리(CLT)가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전환의 핵심 근거이다.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시뮬레이션과 공식은 같은 질문에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답하는 두 가지 경로이다.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말라리아 백신 연구 결론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결과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10,000회 시뮬레이션 중 관측된 19.1%p 차이 이상의 결과는 단 한 번도 나타나지 않았다.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p값 &lt; 0.0001 → 귀무가설 기각 → 백신은 말라리아 감소에 통계적으로 유의한 효과가 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834640"/>
            <a:ext cx="64008" cy="5303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인과관계 확립 가능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880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배정 실험 → 교란 변수 통제됨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74720"/>
            <a:ext cx="64008" cy="5303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일반화 주의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연령/지역의 영아에게만 적용 가능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114800"/>
            <a:ext cx="64008" cy="5303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크기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4160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양성률 19.1%p 감소는 임상적으로 의미 있음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4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3200400" cy="3200400"/>
          </a:xfrm>
          <a:prstGeom prst="oval">
            <a:avLst/>
          </a:prstGeom>
          <a:solidFill>
            <a:srgbClr val="13678A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5B7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 복습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Review &amp; Exercises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용어 정리 (1/2)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산점도 (scatterplot)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 관계 시각화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점도표 (dot plot)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일변량 분포 표시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(mean)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관측값 합/n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가중평균 (weighted mean)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고려 평균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히스토그램 (histogram)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구간별 빈도 시각화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치우침 (skewness)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분포의 비대칭도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단봉/이봉 (uni/bimodal)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봉우리 수에 따른 분류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(variance)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편차 제곱의 평균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표준편차 (SD)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2" name="Text 40"/>
          <p:cNvSpPr/>
          <p:nvPr/>
        </p:nvSpPr>
        <p:spPr>
          <a:xfrm>
            <a:off x="265176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분산의 제곱근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상자그림 (box plot)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7512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사분위수 기반 시각화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사분위수 (quartile)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65176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25/50/75번째 백분위수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7512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Q3 - Q1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(outlier)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6032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8" name="Text 56"/>
          <p:cNvSpPr/>
          <p:nvPr/>
        </p:nvSpPr>
        <p:spPr>
          <a:xfrm>
            <a:off x="265176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1.5*IQR 바깥의 값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 (median)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67512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중간값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용어 정리 (2/2)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백분위수 (percentile)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p% 이하 지점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강건한 통계량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234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저항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변환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치우침 교정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기하평균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691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곱셈적 평균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범주 빈도표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행/열 비율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21488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1488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기준별 비율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모자이크 그래프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면적으로 비율 표현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심슨의 역설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26060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2606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전체와 부분 결론 반전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 (H0)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2" name="Text 40"/>
          <p:cNvSpPr/>
          <p:nvPr/>
        </p:nvSpPr>
        <p:spPr>
          <a:xfrm>
            <a:off x="265176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 없음 가설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대립가설 (HA)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75120" y="30632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3063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 있음 가설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p값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65176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극단적 결과 확률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75120" y="3520440"/>
            <a:ext cx="19202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기준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 (parameter)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6032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8" name="Text 56"/>
          <p:cNvSpPr/>
          <p:nvPr/>
        </p:nvSpPr>
        <p:spPr>
          <a:xfrm>
            <a:off x="265176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 특성 (mu, sigma)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통계량 (statistic)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675120" y="3977640"/>
            <a:ext cx="1920240" cy="402336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0" y="3977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계산값 (x-bar, s)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산점도와 연관성 파악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키와 체중 데이터의 산점도를 그리고, 양의 연관/음의 연관/연관 없음 중 어떤 패턴이 보이는지 설명하라.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양의 연관: 키가 클수록 체중이 증가하는 경향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관계이며 상관계수 r &gt; 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이상치(매우 가벼운 키 큰 사람 등)가 존재하면 r을 왜곡할 수 있음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히스토그램과 분포 해석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주어진 소득 데이터의 히스토그램을 그리고 치우침의 방향, 봉우리 수, 적절한 중심 측도를 결정하라.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치우침(right-skewed): 소수의 고소득자가 꼬리를 형성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단봉(unimodal): 하나의 주요 봉우리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 + IQR이 적절 (이상치에 강건)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분할표와 비율 계산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흡연 여부와 폐질환 발생의 분할표에서 행 비율, 열 비율, 전체 비율을 각각 계산하고 해석하라.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비율: 흡연자 중 폐질환 비율 (위험도 추정에 사용)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비율: 폐질환 환자 중 흡연자 비율 (원인 추정)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비율의 선택은 연구 질문의 방향에 따라 달라진다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시뮬레이션 기반 가설검정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E3F2F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075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그룹의 평균 차이가 통계적으로 유의한지 시뮬레이션(라벨 섞기)으로 검정하라.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011680"/>
            <a:ext cx="64008" cy="566928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10,000회 라벨 섞기 후 차이 분포 생성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974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697480"/>
            <a:ext cx="64008" cy="566928"/>
          </a:xfrm>
          <a:prstGeom prst="rect">
            <a:avLst/>
          </a:prstGeom>
          <a:solidFill>
            <a:srgbClr val="13678A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관측된 차이가 분포의 극단에 위치하면 유의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383280"/>
            <a:ext cx="64008" cy="56692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4564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p값 &lt; 0.05이면 귀무가설 기각 → 유의한 차이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풀이 핵심 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42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4206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개념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산점도, 연관성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시각적 패턴 파악이 분석의 출발점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히스토그램, 치우침, 중심 측도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분포 형태에 따라 적절한 요약 통계량 선택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분할표, 비율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 질문의 방향이 비율 선택을 결정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시뮬레이션, p값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우연으로 설명 불가 → 실제 효과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C8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제2장 학습 완료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45B7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 데이터: 히스토그램과 상자그림으로 분포의 형태를 파악하고, 적절한 중심 측도와 산포 측도를 선택한다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45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vs 중앙값: 분포의 형태와 연구 질문에 따라 적절한 대표값을 선택한다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60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변환: 로그 변환으로 치우친 분포를 대칭으로 만들 수 있으며, 기하평균과 연결된다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1752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데이터: 분할표와 막대그래프로 그룹 간 비교를 수행한다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2900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심슨의 역설: 하위 그룹 분석 없이 전체만 보면 잘못된 결론에 도달할 수 있다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4048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추론: 시뮬레이션을 통해 '우연만으로 설명 가능한지' 검증하는 가설검정의 논리를 이해한다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25196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3444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장: 제3장 확률 (Probability)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OpenIntro Statistics  |  Chapter 2: Summarizing Data  |  3시간 강의 완료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제2장 데이터 요약 (3시간 강의)</dc:title>
  <dc:subject>PptxGenJS Presentation</dc:subject>
  <dc:creator>PptxGenJS</dc:creator>
  <cp:lastModifiedBy>PptxGenJS</cp:lastModifiedBy>
  <cp:revision>1</cp:revision>
  <dcterms:created xsi:type="dcterms:W3CDTF">2026-03-02T01:32:45Z</dcterms:created>
  <dcterms:modified xsi:type="dcterms:W3CDTF">2026-03-02T01:32:45Z</dcterms:modified>
</cp:coreProperties>
</file>