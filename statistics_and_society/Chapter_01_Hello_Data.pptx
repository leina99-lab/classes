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20"/>
    <p:sldId id="270" r:id="rId21"/>
    <p:sldId id="271" r:id="rId22"/>
    <p:sldId id="272" r:id="rId23"/>
    <p:sldId id="273" r:id="rId24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7.xml"/><Relationship Id="rId14" Type="http://schemas.openxmlformats.org/officeDocument/2006/relationships/slide" Target="slides/slide1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데이터와의 만남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Data — 통계적 사고의 첫 걸음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OpenIntro Statistics · 3시간 수업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754880"/>
            <a:ext cx="4572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추론과 데이터 분석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3시간 수업 구성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73152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0" y="731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51960" y="731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 연구: 뇌졸중 예방을 위한 스텐트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795528"/>
            <a:ext cx="822960" cy="274320"/>
          </a:xfrm>
          <a:prstGeom prst="rect">
            <a:avLst/>
          </a:prstGeom>
          <a:solidFill>
            <a:srgbClr val="F0EDE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863840" y="795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298448"/>
            <a:ext cx="411480" cy="411480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1.2.1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51960" y="12984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관측치, 변수, 데이터 행렬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1362456"/>
            <a:ext cx="822960" cy="274320"/>
          </a:xfrm>
          <a:prstGeom prst="rect">
            <a:avLst/>
          </a:prstGeom>
          <a:solidFill>
            <a:srgbClr val="F0EDE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63840" y="13624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1865376"/>
            <a:ext cx="411480" cy="411480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0" y="1865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1.2.2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51960" y="18653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변수의 유형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63840" y="1929384"/>
            <a:ext cx="822960" cy="274320"/>
          </a:xfrm>
          <a:prstGeom prst="rect">
            <a:avLst/>
          </a:prstGeom>
          <a:solidFill>
            <a:srgbClr val="F0EDE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63840" y="19293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2432304"/>
            <a:ext cx="411480" cy="411480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657600" y="2432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1.2.3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51960" y="24323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간의 관계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0" y="2496312"/>
            <a:ext cx="822960" cy="274320"/>
          </a:xfrm>
          <a:prstGeom prst="rect">
            <a:avLst/>
          </a:prstGeom>
          <a:solidFill>
            <a:srgbClr val="F0EDE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863840" y="24963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0" y="2999232"/>
            <a:ext cx="411480" cy="411480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57600" y="2999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1.2.4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51960" y="29992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변수와 반응 변수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863840" y="3063240"/>
            <a:ext cx="822960" cy="274320"/>
          </a:xfrm>
          <a:prstGeom prst="rect">
            <a:avLst/>
          </a:prstGeom>
          <a:solidFill>
            <a:srgbClr val="F0EDE8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86384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0" y="3566160"/>
            <a:ext cx="411480" cy="411480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576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1.2.5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51960" y="3566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연구와 실험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863840" y="3630168"/>
            <a:ext cx="822960" cy="274320"/>
          </a:xfrm>
          <a:prstGeom prst="rect">
            <a:avLst/>
          </a:prstGeom>
          <a:solidFill>
            <a:srgbClr val="F0EDE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863840" y="3630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0" y="4133088"/>
            <a:ext cx="411480" cy="411480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65760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51960" y="413308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 복습 및 연습문제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863840" y="4197096"/>
            <a:ext cx="822960" cy="274320"/>
          </a:xfrm>
          <a:prstGeom prst="rect">
            <a:avLst/>
          </a:prstGeom>
          <a:solidFill>
            <a:srgbClr val="F0EDE8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863840" y="41970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15분</a:t>
            </a:r>
            <a:endParaRPr lang="en-US" sz="900" dirty="0"/>
          </a:p>
        </p:txBody>
      </p:sp>
      <p:sp>
        <p:nvSpPr>
          <p:cNvPr id="42" name="Rectangle 41"/>
          <p:cNvSpPr/>
          <p:nvPr/>
        </p:nvSpPr>
        <p:spPr>
          <a:xfrm>
            <a:off x="548640" y="3749039"/>
            <a:ext cx="3657600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7947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B8A72"/>
                </a:solidFill>
                <a:latin typeface="Georgia"/>
              </a:defRPr>
            </a:pPr>
            <a:r>
              <a:t>1.3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379475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C2C2C"/>
                </a:solidFill>
                <a:latin typeface="Calibri"/>
              </a:defRPr>
            </a:pPr>
            <a:r>
              <a:t>표본추출 원리와 전략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3794759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25분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749039"/>
            <a:ext cx="3657600" cy="43891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59" y="37947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392B"/>
                </a:solidFill>
                <a:latin typeface="Georgia"/>
              </a:defRPr>
            </a:pPr>
            <a:r>
              <a:t>1.4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379475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C2C2C"/>
                </a:solidFill>
                <a:latin typeface="Calibri"/>
              </a:defRPr>
            </a:pPr>
            <a:r>
              <a:t>실험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3794759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25분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사례 연구: 뇌졸중 예방을 위한 스텐트 사용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DF6E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질문: 스텐트 사용이 뇌졸중 위험을 줄이는가?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3840480" cy="54864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치료군 (Treatment)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224명 배정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스텐트 + 의학적 관리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(약물, 위험 요인 관리, 생활 방식 개선)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103120"/>
            <a:ext cx="38404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대조군 (Control)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227명 배정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의학적 관리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(스텐트 없음 — 기준점 역할)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Chimowitz et al. (2011) — 무작위 대조 시험(RCT)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스텐트 연구 결과: 놀라운 발견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02920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005840"/>
            <a:ext cx="2926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365일 뇌졸중 비율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6072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31520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C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76072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치료군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대조군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+8%p 차이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FDF2F2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놀라운 결과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3337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치료군에서 추가로 8%의 환자가 뇌졸중을 겪었다!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이는 스텐트가 뇌졸중을 줄일 것이라는 기대와 정반대의 결과이다.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이 연구에서 스텐트에 의한 해로움의 강력한 증거가 발견되었다.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3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새로운 시각 1.1–1.2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비율과 백분율의 직관적 이해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파이 조각으로 생각하기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224명 중 45명 ≈ 전체의 1/5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100명 기준 스케일링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224명 중 45명 → 100명 중 ~20명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실생활 비유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동전 224개 중 45개를 꺼내면 약 20%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과학적 겸손의 중요성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기대와 다른 결과가 발생하는 이유: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선택 편향(Selection Bias)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시술 위험(Procedural Risk)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교란 변수(Confounders)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대조 시험(RCT)이기에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직관보다 증거를 신뢰할 수 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3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1.2.1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관측치, 변수, 데이터 행렬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4864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00584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097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용어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= 케이스/관측치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 = 변수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= 단일 값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651760"/>
            <a:ext cx="73152" cy="182880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정돈 데이터 (Tidy Data)의 3원칙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5B8A72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45920" y="3246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변수는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64592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자신만의 열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0" y="3246120"/>
            <a:ext cx="457200" cy="457200"/>
          </a:xfrm>
          <a:prstGeom prst="ellipse">
            <a:avLst/>
          </a:prstGeom>
          <a:solidFill>
            <a:srgbClr val="5B8A72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206240" y="3246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관측치는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0624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자신만의 행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3246120"/>
            <a:ext cx="457200" cy="457200"/>
          </a:xfrm>
          <a:prstGeom prst="ellipse">
            <a:avLst/>
          </a:prstGeom>
          <a:solidFill>
            <a:srgbClr val="5B8A72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766560" y="3246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값은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6656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자신만의 셀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3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1.2.2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변수의 유형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유형에 따라 사용할 수 있는 통계량, 시각화, 검정 방법이 모두 달라진다. 올바른 분류가 분석의 첫 걸음이다.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3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새로운 시각 1.4 — 변수 유형 파악의 실용적 중요성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54864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통계량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수치형: 평균, 중앙값,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분산, 표준편차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범주형: 최빈값, 빈도,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697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80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시각화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18288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수치형: 히스토그램,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박스플롯, 산점도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108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범주형: 막대그래프,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파이차트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280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통계적 검정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수치형×수치형: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상관, 회귀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범주형×범주형: χ² 검정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수치형+범주형: t-검정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3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1.2.3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변수 간의 관계 — 산점도와 연관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389120" cy="29260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38912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3840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음의 연관 (Negative)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0" y="3840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양의 연관 (Positive)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연관(associated) = 패턴이 있음  |  독립(independent) = 패턴이 없음  |  연관 ≠ 인과관계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3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1.2.4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설명 변수와 반응 변수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2560320" cy="1097280"/>
          </a:xfrm>
          <a:prstGeom prst="rect">
            <a:avLst/>
          </a:prstGeom>
          <a:solidFill>
            <a:srgbClr val="4A7CC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변수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Explanatory Variable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영향을 미칠 수 있음  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645920"/>
            <a:ext cx="2560320" cy="10972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 변수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Variable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0F7F4"/>
          </a:solidFill>
          <a:ln w="12700">
            <a:solidFill>
              <a:srgbClr val="B8D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"상관관계는 인과관계를 의미하지 않는다"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교란 변수: 교육↔소득 관계에서 사회경제적 배경이 둘 다에 영향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역인과관계: 운동→건강? 아니면 건강→운동?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우연의 일치: 많은 변수 검토 시 우연한 상관관계 발생 가능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3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1.2.5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관찰 연구와 실험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관찰 연구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연구자 개입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처치 할당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인과관계 확립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윤리적 제약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많을 수 있음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상대적으로 낮음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3200400"/>
            <a:ext cx="7315200" cy="1280160"/>
          </a:xfrm>
          <a:prstGeom prst="rect">
            <a:avLst/>
          </a:prstGeom>
          <a:solidFill>
            <a:srgbClr val="FDF6E3"/>
          </a:solidFill>
          <a:ln w="12700">
            <a:solidFill>
              <a:srgbClr val="E8D5A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3200400"/>
            <a:ext cx="73152" cy="1280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항상 실험을 하지 않는가?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36118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윤리적 제약: 흡연↔폐암 연구를 위해 흡연을 강제할 수 없다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실행 불가능: 지진의 경제적 영향을 위해 지진을 유발할 수 없다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비용: 대규모 장기 실험은 매우 비싸다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3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731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2332"/>
                </a:solidFill>
                <a:latin typeface="Georgia"/>
              </a:defRPr>
            </a:pPr>
            <a:r>
              <a:t>표본추출 원리와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A5A5A"/>
                </a:solidFill>
                <a:latin typeface="Calibri"/>
              </a:defRPr>
            </a:pPr>
            <a:r>
              <a:t>Sampling Principles and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1828800" cy="25603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828800"/>
            <a:ext cx="1828800" cy="137160"/>
          </a:xfrm>
          <a:prstGeom prst="rect">
            <a:avLst/>
          </a:prstGeom>
          <a:solidFill>
            <a:srgbClr val="4A7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2332"/>
                </a:solidFill>
                <a:latin typeface="Georgia"/>
              </a:defRPr>
            </a:pPr>
            <a:r>
              <a:t>단순 무작위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Calibri"/>
              </a:defRPr>
            </a:pPr>
            <a:r>
              <a:t>Simple Random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16459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2C2C"/>
                </a:solidFill>
                <a:latin typeface="Calibri"/>
              </a:defRPr>
            </a:pPr>
            <a:r>
              <a:t>동등한 확률로 개체 선택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39" y="1828800"/>
            <a:ext cx="1828800" cy="25603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39" y="1828800"/>
            <a:ext cx="1828800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214884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2332"/>
                </a:solidFill>
                <a:latin typeface="Georgia"/>
              </a:defRPr>
            </a:pPr>
            <a:r>
              <a:t>층화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5146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Calibri"/>
              </a:defRPr>
            </a:pPr>
            <a:r>
              <a:t>Stratified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2926080"/>
            <a:ext cx="16459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2C2C"/>
                </a:solidFill>
                <a:latin typeface="Calibri"/>
              </a:defRPr>
            </a:pPr>
            <a:r>
              <a:t>동질적 층으로 나눈 후 추출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828800"/>
            <a:ext cx="1828800" cy="25603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828800"/>
            <a:ext cx="1828800" cy="137160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4884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2332"/>
                </a:solidFill>
                <a:latin typeface="Georgia"/>
              </a:defRPr>
            </a:pPr>
            <a:r>
              <a:t>군집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5146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Calibri"/>
              </a:defRPr>
            </a:pPr>
            <a:r>
              <a:t>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926080"/>
            <a:ext cx="16459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2C2C"/>
                </a:solidFill>
                <a:latin typeface="Calibri"/>
              </a:defRPr>
            </a:pPr>
            <a:r>
              <a:t>군집 선택 → 전원 조사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59" y="1828800"/>
            <a:ext cx="1828800" cy="25603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59" y="1828800"/>
            <a:ext cx="1828800" cy="137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599" y="214884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2332"/>
                </a:solidFill>
                <a:latin typeface="Georgia"/>
              </a:defRPr>
            </a:pPr>
            <a:r>
              <a:t>다단계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599" y="25146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Calibri"/>
              </a:defRPr>
            </a:pPr>
            <a:r>
              <a:t>Multistage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599" y="2926080"/>
            <a:ext cx="16459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2C2C"/>
                </a:solidFill>
                <a:latin typeface="Calibri"/>
              </a:defRPr>
            </a:pPr>
            <a:r>
              <a:t>군집 선택 → 내부 무작위 추출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572000"/>
            <a:ext cx="7589520" cy="411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6177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A7CC9"/>
                </a:solidFill>
                <a:latin typeface="Calibri"/>
              </a:defRPr>
            </a:pPr>
            <a:r>
              <a:t>💡 핵심: 층화 = 내부 동질적 | 군집 = 모집단 축소판(이질적) — 논리가 정반대이다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D4A843"/>
                </a:solidFill>
                <a:latin typeface="Georgia"/>
              </a:defRPr>
            </a:pPr>
            <a:r>
              <a:t>🔍 새로운 시각 1.8–1.9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35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" cy="3474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Georgia"/>
              </a:defRPr>
            </a:pPr>
            <a:r>
              <a:t>인지 편향과 일화적 증거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가용성 휴리스틱: 쉽게 떠오르는 예시에</a:t>
            </a:r>
            <a:br/>
            <a:r>
              <a:t>  더 큰 중요성을 부여하는 경향</a:t>
            </a:r>
            <a:br/>
            <a:br/>
            <a:r>
              <a:t>• 확증 편향: 기존 믿음을 확인하는</a:t>
            </a:r>
            <a:br/>
            <a:r>
              <a:t>  정보를 선택적으로 기억하는 경향</a:t>
            </a:r>
            <a:br/>
            <a:br/>
            <a:r>
              <a:t>• 대표성 휴리스틱: 작은 표본이</a:t>
            </a:r>
            <a:br/>
            <a:r>
              <a:t>  전체를 대표한다고 가정하는 경향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35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109728" cy="3474720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Georgia"/>
              </a:defRPr>
            </a:pPr>
            <a:r>
              <a:t>표본추출 방법의 실제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여론조사: 층화 표본추출</a:t>
            </a:r>
            <a:br/>
            <a:r>
              <a:t>  지역·연령·성별로 층화하여 대표성 확보</a:t>
            </a:r>
            <a:br/>
            <a:br/>
            <a:r>
              <a:t>• 의료 연구: 군집 표본추출</a:t>
            </a:r>
            <a:br/>
            <a:r>
              <a:t>  환자가 집중된 병원을 군집으로 설정</a:t>
            </a:r>
            <a:br/>
            <a:br/>
            <a:r>
              <a:t>• 교육 연구: 다단계 표본추출</a:t>
            </a:r>
            <a:br/>
            <a:r>
              <a:t>  시·도 → 학교 → 학급 → 학생 순 선택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731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2332"/>
                </a:solidFill>
                <a:latin typeface="Georgia"/>
              </a:defRPr>
            </a:pPr>
            <a:r>
              <a:t>실험 설계의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686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A5A5A"/>
                </a:solidFill>
                <a:latin typeface="Calibri"/>
              </a:defRPr>
            </a:pPr>
            <a:r>
              <a:t>Principles of Experimental Design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1645920"/>
            <a:ext cx="457200" cy="457200"/>
          </a:xfrm>
          <a:prstGeom prst="ellipse">
            <a:avLst/>
          </a:prstGeom>
          <a:solidFill>
            <a:srgbClr val="4A7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67335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286000"/>
            <a:ext cx="1828800" cy="219456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23160"/>
            <a:ext cx="16459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2332"/>
                </a:solidFill>
                <a:latin typeface="Georgia"/>
              </a:defRPr>
            </a:pPr>
            <a:r>
              <a:t>통제</a:t>
            </a:r>
            <a:br/>
            <a: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63240"/>
            <a:ext cx="16459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50" b="0">
                <a:solidFill>
                  <a:srgbClr val="2C2C2C"/>
                </a:solidFill>
                <a:latin typeface="Calibri"/>
              </a:defRPr>
            </a:pPr>
            <a:r>
              <a:t>잠재적 혼란 변수를</a:t>
            </a:r>
            <a:br/>
            <a:r>
              <a:t>가능한 한 통제한다</a:t>
            </a:r>
          </a:p>
        </p:txBody>
      </p:sp>
      <p:sp>
        <p:nvSpPr>
          <p:cNvPr id="11" name="Oval 10"/>
          <p:cNvSpPr/>
          <p:nvPr/>
        </p:nvSpPr>
        <p:spPr>
          <a:xfrm>
            <a:off x="3703320" y="1645920"/>
            <a:ext cx="457200" cy="4572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67335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39" y="2286000"/>
            <a:ext cx="1828800" cy="219456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79" y="2423160"/>
            <a:ext cx="16459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2332"/>
                </a:solidFill>
                <a:latin typeface="Georgia"/>
              </a:defRPr>
            </a:pPr>
            <a:r>
              <a:t>무작위화</a:t>
            </a:r>
            <a:br/>
            <a:r>
              <a:t>Randomize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3063240"/>
            <a:ext cx="16459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50" b="0">
                <a:solidFill>
                  <a:srgbClr val="2C2C2C"/>
                </a:solidFill>
                <a:latin typeface="Calibri"/>
              </a:defRPr>
            </a:pPr>
            <a:r>
              <a:t>처치를 무작위 배정하여</a:t>
            </a:r>
            <a:br/>
            <a:r>
              <a:t>알려지지 않은 변수를 균형 배분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0" y="1645920"/>
            <a:ext cx="457200" cy="457200"/>
          </a:xfrm>
          <a:prstGeom prst="ellipse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67335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286000"/>
            <a:ext cx="1828800" cy="219456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423160"/>
            <a:ext cx="16459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2332"/>
                </a:solidFill>
                <a:latin typeface="Georgia"/>
              </a:defRPr>
            </a:pPr>
            <a:r>
              <a:t>반복</a:t>
            </a:r>
            <a:br/>
            <a:r>
              <a:t>Replicate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063240"/>
            <a:ext cx="16459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50" b="0">
                <a:solidFill>
                  <a:srgbClr val="2C2C2C"/>
                </a:solidFill>
                <a:latin typeface="Calibri"/>
              </a:defRPr>
            </a:pPr>
            <a:r>
              <a:t>충분한 표본 크기로</a:t>
            </a:r>
            <a:br/>
            <a:r>
              <a:t>추정 정밀도를 높인다</a:t>
            </a:r>
          </a:p>
        </p:txBody>
      </p:sp>
      <p:sp>
        <p:nvSpPr>
          <p:cNvPr id="21" name="Oval 20"/>
          <p:cNvSpPr/>
          <p:nvPr/>
        </p:nvSpPr>
        <p:spPr>
          <a:xfrm>
            <a:off x="763524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67335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59" y="2286000"/>
            <a:ext cx="1828800" cy="219456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599" y="2423160"/>
            <a:ext cx="16459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2332"/>
                </a:solidFill>
                <a:latin typeface="Georgia"/>
              </a:defRPr>
            </a:pPr>
            <a:r>
              <a:t>블로킹</a:t>
            </a:r>
            <a:br/>
            <a:r>
              <a:t>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599" y="3063240"/>
            <a:ext cx="16459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50" b="0">
                <a:solidFill>
                  <a:srgbClr val="2C2C2C"/>
                </a:solidFill>
                <a:latin typeface="Calibri"/>
              </a:defRPr>
            </a:pPr>
            <a:r>
              <a:t>알려진 변동 원인을</a:t>
            </a:r>
            <a:br/>
            <a:r>
              <a:t>블록으로 분리 후 무작위화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572000"/>
            <a:ext cx="7589520" cy="41148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6177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8860B"/>
                </a:solidFill>
                <a:latin typeface="Calibri"/>
              </a:defRPr>
            </a:pPr>
            <a:r>
              <a:t>💡 피셔: "통제할 수 있으면 블록화하고, 통제할 수 없으면 무작위화하라"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731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2332"/>
                </a:solidFill>
                <a:latin typeface="Georgia"/>
              </a:defRPr>
            </a:pPr>
            <a:r>
              <a:t>인체 실험에서 편향 줄이기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09728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설계 유형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환자의 인식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연구자의 인식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편향 통제 수준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공개 (Open)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알고 있음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알고 있음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낮음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단일 맹검 (Blind)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모름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알고 있음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중간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이중 맹검 (Double-blind)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모름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모름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높음 ✓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97280" y="3200400"/>
            <a:ext cx="2377440" cy="1645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2377440" cy="109728"/>
          </a:xfrm>
          <a:prstGeom prst="rect">
            <a:avLst/>
          </a:prstGeom>
          <a:solidFill>
            <a:srgbClr val="4A7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2332"/>
                </a:solidFill>
                <a:latin typeface="Georgia"/>
              </a:defRPr>
            </a:pPr>
            <a:r>
              <a:t>위약 (Placebo)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9476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C2C2C"/>
                </a:solidFill>
                <a:latin typeface="Calibri"/>
              </a:defRPr>
            </a:pPr>
            <a:r>
              <a:t>가짜 처치. 심리적 효과만으로도</a:t>
            </a:r>
            <a:br/>
            <a:r>
              <a:t>약간의 개선이 나타나며, 이를</a:t>
            </a:r>
            <a:br/>
            <a:r>
              <a:t>위약 효과라고 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200400"/>
            <a:ext cx="2377440" cy="1645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3200400"/>
            <a:ext cx="2377440" cy="10972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34290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2332"/>
                </a:solidFill>
                <a:latin typeface="Georgia"/>
              </a:defRPr>
            </a:pPr>
            <a:r>
              <a:t>위약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79476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C2C2C"/>
                </a:solidFill>
                <a:latin typeface="Calibri"/>
              </a:defRPr>
            </a:pPr>
            <a:r>
              <a:t>환자가 '진짜 약을 받고 있다'고</a:t>
            </a:r>
            <a:br/>
            <a:r>
              <a:t>생각하면 심리적으로 개선이</a:t>
            </a:r>
            <a:br/>
            <a:r>
              <a:t>발생하는 현상이다.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2377440" cy="164592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200400"/>
            <a:ext cx="237744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4290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2332"/>
                </a:solidFill>
                <a:latin typeface="Georgia"/>
              </a:defRPr>
            </a:pPr>
            <a:r>
              <a:t>이중 맹검의 의의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794760"/>
            <a:ext cx="2194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C2C2C"/>
                </a:solidFill>
                <a:latin typeface="Calibri"/>
              </a:defRPr>
            </a:pPr>
            <a:r>
              <a:t>연구자의 무의식적 편향까지</a:t>
            </a:r>
            <a:br/>
            <a:r>
              <a:t>통제하는 가장 강력한</a:t>
            </a:r>
            <a:br/>
            <a:r>
              <a:t>실험 설계이다.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D4A843"/>
                </a:solidFill>
                <a:latin typeface="Georgia"/>
              </a:defRPr>
            </a:pPr>
            <a:r>
              <a:t>🔍 새로운 시각 1.10–1.11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35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" cy="3474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Georgia"/>
              </a:defRPr>
            </a:pPr>
            <a:r>
              <a:t>피셔의 유산과 현대 실험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로널드 피셔(1890–1962)는 로댐스테드</a:t>
            </a:r>
            <a:br/>
            <a:r>
              <a:t>농업 실험소에서 비료 실험을 설계하며</a:t>
            </a:r>
            <a:br/>
            <a:r>
              <a:t>현대 통계학의 기초를 세웠다.</a:t>
            </a:r>
            <a:br/>
            <a:br/>
            <a:r>
              <a:t>핵심 통찰:</a:t>
            </a:r>
            <a:br/>
            <a:r>
              <a:t>"무작위화는 우리가 모르는 것으로부터</a:t>
            </a:r>
            <a:br/>
            <a:r>
              <a:t>우리를 보호한다."</a:t>
            </a:r>
            <a:br/>
            <a:br/>
            <a:r>
              <a:t>현대의 A/B 테스트(웹사이트, 앱)는</a:t>
            </a:r>
            <a:br/>
            <a:r>
              <a:t>피셔 원칙의 디지털 버전이다.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354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109728" cy="3474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Georgia"/>
              </a:defRPr>
            </a:pPr>
            <a:r>
              <a:t>실험 윤리와 관찰 연구의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실험이 불가능한 경우:</a:t>
            </a:r>
            <a:br/>
            <a:br/>
            <a:r>
              <a:t>• 윤리적 제약: 흡연↔폐암 연구를 위해</a:t>
            </a:r>
            <a:br/>
            <a:r>
              <a:t>  사람에게 흡연을 강제할 수 없다</a:t>
            </a:r>
            <a:br/>
            <a:br/>
            <a:r>
              <a:t>• 실행 불가능: 지구 온난화의 영향을</a:t>
            </a:r>
            <a:br/>
            <a:r>
              <a:t>  실험으로 검증할 수 없다</a:t>
            </a:r>
            <a:br/>
            <a:br/>
            <a:r>
              <a:t>• 비용과 시간: 대규모 장기 실험은</a:t>
            </a:r>
            <a:br/>
            <a:r>
              <a:t>  수십 년의 시간이 소요될 수 있다</a:t>
            </a:r>
            <a:br/>
            <a:br/>
            <a:r>
              <a:t>→ 전향적 코호트 연구 + 메타 분석이 대안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 복습 — 핵심 용어 정리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한국어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한국어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statistics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통계학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케이스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observation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관측치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 frame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프레임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tidy data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정돈 데이터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numerical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수치형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categorical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범주형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discrete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이산형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continuous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연속형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ordinal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순서형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nominal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명목형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associated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연관된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independent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독립적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scatterplot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산점도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explanatory var.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 변수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 var.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반응 변수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experiment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CC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observational study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관찰 연구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Calibri"/>
              </a:defRPr>
            </a:pPr>
            <a:r>
              <a:t>추가 용어: population 모집단 | sample 표본 | SRS 단순 무작위 표본 | stratified 층화 | cluster 군집 | multistage 다단계 | placebo 위약 | blind 맹검 | double-blind 이중 맹검 | blocking 블로킹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제1장 완료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장에서는 데이터를 요약하고 시각화하는 방법을 학습한다.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30175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정돈 데이터(tidy data)로 구조화하라.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유형을 정확히 분류하라.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 ≠ 인과관계를 항상 기억하라.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인과 관계 확립에는 무작위 실험이 필요하다.</a:t>
            </a:r>
            <a:endParaRPr lang="en-US" sz="1300" dirty="0"/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  <a:r>
              <a:t>표본추출 방법의 선택이 연구 결과의 대표성을 결정한다.</a:t>
            </a:r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  <a:r>
              <a:t>이중 맹검 실험이 편향 통제의 최고 표준이다.</a:t>
            </a:r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3E6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OpenIntro Statistics · Chapter 1: Hello 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제1장: 데이터와의 만남 (Hello Data)</dc:title>
  <dc:subject>PptxGenJS Presentation</dc:subject>
  <dc:creator>OpenIntro Statistics</dc:creator>
  <cp:lastModifiedBy>OpenIntro Statistics</cp:lastModifiedBy>
  <cp:revision>1</cp:revision>
  <dcterms:created xsi:type="dcterms:W3CDTF">2026-03-01T08:47:23Z</dcterms:created>
  <dcterms:modified xsi:type="dcterms:W3CDTF">2026-03-01T08:47:23Z</dcterms:modified>
</cp:coreProperties>
</file>