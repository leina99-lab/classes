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요약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Summarizing 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수치형·범주형 데이터의 시각화와 요약 통계량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기반 통계적 추론의 첫걸음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OpenIntro Statistics 기반  |  3시간 강의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수치형 데이터 탐색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 · 평균 · 히스토그램 · 분산 · 상자그림 · 강건한 통계량 · 변환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148840"/>
            <a:ext cx="54864" cy="77724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범주형 데이터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분할표 · 막대그래프 · 모자이크 · 심슨의 역설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108960"/>
            <a:ext cx="54864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사례 연구: 말라리아 백신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가설검정 소개 · 시뮬레이션 기반 추론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4069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069080"/>
            <a:ext cx="54864" cy="7772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160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114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 복습 및 연습문제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480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용어 · 종합 연습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42062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 수치형 데이터 탐색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변수의 관계를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시각적으로 탐색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280160"/>
            <a:ext cx="54864" cy="14630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점도표·평균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8892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일변량 분포의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 측정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54864" cy="146304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분포의 형태와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비대칭도 파악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280160"/>
            <a:ext cx="54864" cy="146304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분산·표준편차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8660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산포도의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수치적 측정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17520"/>
            <a:ext cx="54864" cy="146304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상자그림·IQR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사분위수 기반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탐지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0175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06040" y="3017520"/>
            <a:ext cx="54864" cy="146304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강건한 통계량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8892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저항하는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중앙값과 IQR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017520"/>
            <a:ext cx="54864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변환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37760" y="3657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등 비선형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 적용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2.1.1–2.1.2  산점도 · 점도표 · 평균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47472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 (Scatterplot)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수치형 변수의 관계를 점으로 표현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 = 하나의 관측치(사례)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추세: 양/음의 연관, 선형/비선형 판별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및 군집 시각적 탐지 가능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3474720" cy="5486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추세도 관찰 가능 — 곡률이 있으면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2C3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상관계수만으로 판단 불가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474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점도표 · 평균 (Dot Plot &amp; Mean)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83480" y="1737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점도표: 일변량 수치 데이터의 분포 표시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점이 하나의 관측값을 나타냄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표본평균:  x̄ = Σxᵢ / 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가중평균: 범주별 크기를 고려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83480" y="3383280"/>
            <a:ext cx="3474720" cy="548640"/>
          </a:xfrm>
          <a:prstGeom prst="rect">
            <a:avLst/>
          </a:prstGeom>
          <a:solidFill>
            <a:srgbClr val="FDF6E8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 = 물리적 균형점(fulcrum)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데이터의 무게 중심에 해당한다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수식     x̄ = (x₁ + x₂ + ··· + xₙ) / n     |     가중평균 = Σ(wᵢ · xᵢ) / Σwᵢ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산점도의 역사 · 모수와 통계량 · 평균의 의미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산점도의 역사적 의의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프랜시스 골턴(1822–1911)이 부모-자녀 키 관계 연구에서 산점도를 체계화하였다.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이를 통해 '평균으로의 회귀' 현상을 발견하였으며, 이는 현대 회귀분석의 시초가 되었다.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3552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371600"/>
            <a:ext cx="54864" cy="320040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모수 vs 통계량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56432" y="19659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모수(μ, σ, p): 모집단 전체의 참값 → 그리스 문자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통계량(x̄, s, p̂): 표본에서 계산한 추정값 → 라틴 문자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기호 체계 자체가 '알려진 것'과 '추정하는 것'의 구분을 반영한다.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371600"/>
            <a:ext cx="54864" cy="32004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평균의 물리적 의미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수직선 위에 각 관측값을 동일한 무게의 추로 놓으면, 평균은 시소의 균형점(fulcrum)이다.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직관은 이상치가 평균을 강하게 끌어당기는 이유를 설명해 준다.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2.1.3  히스토그램과 분포의 형태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5720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182880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 (Histogram)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데이터를 구간(bin)으로 나누어 빈도를 막대로 표시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구간 너비에 따라 분포의 모습이 달라질 수 있음</a:t>
            </a:r>
            <a:endParaRPr lang="en-US" sz="12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Sturges, Scott, Freedman-Diaconis 규칙으로 최적 구간 결정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097280"/>
            <a:ext cx="33832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09728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5321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분포의 형태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532120" y="1691640"/>
            <a:ext cx="228600" cy="228600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6916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  —  좌우 대칭 (종 모양)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2039112"/>
            <a:ext cx="228600" cy="2286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0391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오른쪽 치우침  —  오른쪽 꼬리가 긺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2386584"/>
            <a:ext cx="228600" cy="22860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3865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왼쪽 치우침  —  왼쪽 꼬리가 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봉우리(Mode)의 수에 따른 분류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3794760"/>
            <a:ext cx="1828800" cy="868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794760"/>
            <a:ext cx="1828800" cy="36576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단봉(Unimodal)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 1개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일반적 형태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3794760"/>
            <a:ext cx="1828800" cy="868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2697480" y="3794760"/>
            <a:ext cx="18288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이봉(Bimodal)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 2개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하위 집단 존재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794760"/>
            <a:ext cx="1828800" cy="868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Shape 27"/>
          <p:cNvSpPr/>
          <p:nvPr/>
        </p:nvSpPr>
        <p:spPr>
          <a:xfrm>
            <a:off x="4709160" y="3794760"/>
            <a:ext cx="1828800" cy="365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다봉(Multimodal)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 3개 이상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 분포의 징후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20840" y="3794760"/>
            <a:ext cx="1828800" cy="8686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720840" y="3794760"/>
            <a:ext cx="1828800" cy="36576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균등(Uniform)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1228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봉우리 없음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값이 비슷한 빈도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2.1.4  분산과 표준편차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19456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분산 (Variance)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s² = Σ(xᵢ − x̄)² / (n − 1)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관측값과 평균의 편차를 제곱한 후 합산하여 (n−1)로 나눈다.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분모가 n이 아닌 (n−1)인 이유는 자유도 보정 때문이다.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2194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표준편차 (Standard Deviation)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8348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√s²  =  √[ Σ(xᵢ − x̄)² / (n−1) ]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분산의 제곱근으로 원래 데이터와 동일한 단위를 가진다.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'데이터가 평균에서 대략 얼마나 떨어져 있는가'를 측정한다.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128016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속성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분산 (s²)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 (s)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원래 단위의 제곱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원래 단위와 동일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직관적 해석 어려움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평균으로부터 평균 거리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수학적 계산에 편리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보고 및 해석에 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히스토그램 구간 너비 · 체비셰프 부등식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히스토그램의 구간 너비 선택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011680"/>
            <a:ext cx="3474720" cy="59436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Sturges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13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 = 1 + 3.322·log₁₀(n)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057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소규모 데이터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2743200"/>
            <a:ext cx="3474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Scott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 = 3.49·s·n^(-1/3)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788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정규분포 가정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3474720" cy="59436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20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Freedman-Diaconis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776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CC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 = 2·IQR·n^(-1/3)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강건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371600"/>
            <a:ext cx="54864" cy="320040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체비셰프 부등식과 경험적 규칙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965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0644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체비셰프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경험적 규칙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331720"/>
            <a:ext cx="347472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377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0644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68%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983480" y="2971800"/>
            <a:ext cx="3474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017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2σ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95%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3611880"/>
            <a:ext cx="347472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657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0644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89%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0408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99.7%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98348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2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체비셰프: 임의의 분포 | 경험적 규칙: 종 모양(정규) 분포에만 적용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2.1.5  상자그림 · 사분위수 · 중앙값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365760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상자그림의 구조 (Box Plot Anatomy)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중앙값 (Q₂)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965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 내부의 굵은 선 — 데이터의 50% 지점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258568"/>
            <a:ext cx="164592" cy="164592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212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Q₁ (25번째 백분위수)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414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상자의 아래쪽 가장자리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734056"/>
            <a:ext cx="164592" cy="164592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88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Q₃ (75번째 백분위수)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9169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상자의 위쪽 가장자리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209544"/>
            <a:ext cx="164592" cy="164592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1638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IQR = Q₃ − Q₁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392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상자의 높이 — 데이터의 중간 50%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685032"/>
            <a:ext cx="164592" cy="164592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6393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수염 (Whisker)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867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 − 1.5·IQR ~ Q₃ + 1.5·IQR 범위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16052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이상치 (Outlier)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343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수염 바깥의 점 — 극단적 관측값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1097280"/>
            <a:ext cx="29260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0" y="109728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중앙값 (Median)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169164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정렬된 데이터의 정확히 중간 위치의 값이다.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홀수: 가운데 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n이 짝수: 가운데 두 값의 평균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이상치에 영향받지 않는 강건한 중심 측도이다.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3566160"/>
            <a:ext cx="29260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760720" y="3566160"/>
            <a:ext cx="54864" cy="1188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이상치 판별 기준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40233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 &lt; Q₁ − 1.5 × IQR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관측값 &gt; Q₃ + 1.5 × IQR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이상치로 표시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2.1.6–2.1.7  강건한 통계량 · 데이터 변환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1031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강건한 통계량 (Robust Statistics)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3474720" cy="109728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이상치에 민감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이상치에 강건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평균 (x̄)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중앙값 (Median)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표준편차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54864" cy="21031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변환 (Transformation)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691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 (log): 오른쪽 치우침을 대칭으로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제곱근 변환 (√): 분산 안정화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역수 변환 (1/x): 극단적 치우침 교정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후 해석: 기하평균과의 관계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474720"/>
            <a:ext cx="54864" cy="13716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611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핵심 판단 기준: 평균 vs 중앙값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4069080"/>
            <a:ext cx="1828800" cy="64008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85800" y="4069080"/>
            <a:ext cx="45720" cy="64008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대칭 분포, 이상치 없음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22960" y="4370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평균 + 표준편차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697480" y="4069080"/>
            <a:ext cx="1828800" cy="64008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20" name="Shape 17"/>
          <p:cNvSpPr/>
          <p:nvPr/>
        </p:nvSpPr>
        <p:spPr>
          <a:xfrm>
            <a:off x="2697480" y="4069080"/>
            <a:ext cx="45720" cy="6400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8"/>
          <p:cNvSpPr/>
          <p:nvPr/>
        </p:nvSpPr>
        <p:spPr>
          <a:xfrm>
            <a:off x="2834640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치우친 분포 또는 이상치 존재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834640" y="4370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중앙값 + IQR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4069080"/>
            <a:ext cx="1828800" cy="64008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24" name="Shape 21"/>
          <p:cNvSpPr/>
          <p:nvPr/>
        </p:nvSpPr>
        <p:spPr>
          <a:xfrm>
            <a:off x="4709160" y="4069080"/>
            <a:ext cx="45720" cy="6400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대상이 비전문가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6320" y="4370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중앙값 (직관적 해석)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720840" y="4069080"/>
            <a:ext cx="1828800" cy="640080"/>
          </a:xfrm>
          <a:prstGeom prst="rect">
            <a:avLst/>
          </a:prstGeom>
          <a:solidFill>
            <a:srgbClr val="F8F6F2"/>
          </a:solidFill>
          <a:ln/>
        </p:spPr>
      </p:sp>
      <p:sp>
        <p:nvSpPr>
          <p:cNvPr id="28" name="Shape 25"/>
          <p:cNvSpPr/>
          <p:nvPr/>
        </p:nvSpPr>
        <p:spPr>
          <a:xfrm>
            <a:off x="6720840" y="4069080"/>
            <a:ext cx="45720" cy="640080"/>
          </a:xfrm>
          <a:prstGeom prst="rect">
            <a:avLst/>
          </a:prstGeom>
          <a:solidFill>
            <a:srgbClr val="8A8279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40965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통계 분석이 필요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58000" y="43708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분포 형태에 따라 판단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평균 vs 중앙값 선택 · 변환의 해석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 평균과 중앙값의 선택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소득 분포에서 평균은 일부 고소득자에 의해 위로 끌려간다. 국가 경제 보고서에서 '평균 소득'과 '중위 소득'이 크게 다른 이유이다.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'대표적인 시민의 경험'을 반영하려면 → 중앙값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'전체 자원의 크기'를 반영하려면 → 평균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측도가 '올바른가'가 아니라, 어떤 질문에 답하느냐가 선택의 기준이다.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32004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 변환의 해석: 산술평균 vs 기하평균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 후의 평균을 역변환하면 기하평균이 된다.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 = exp(mean(log(x)))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이는 비율, 배수, 성장률처럼 곱셈적 구조를 가진 데이터에 더 적절한 '평균'이다.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연간 수익률이 +50%, −33%이면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산술평균 = +8.5% (과대평가)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 = 0% (실제 결과)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  범주형 데이터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55448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분할표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Table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범주형 변수 간 빈도를 행렬로 정리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행/열/전체 비율 계산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54864" cy="155448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막대그래프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7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범주별 빈도를 높이로 표현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누적·병렬 막대그래프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15544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모자이크 그래프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Plot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면적으로 빈도를 표현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변수의 관계 시각화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원 그래프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886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대비 비율 표시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단, 비교에 부적합 → 막대그래프 권장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2.2.1–2.2.3  분할표 · 비율 · 그룹 비교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228600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분할표 (Contingency Table) 예시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4572000" cy="109728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흡연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비흡연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폐암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8580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흡연자 중 폐암 비율: 40% vs 비흡연자: 10%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097280"/>
            <a:ext cx="29260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097280"/>
            <a:ext cx="54864" cy="2286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8"/>
          <p:cNvSpPr/>
          <p:nvPr/>
        </p:nvSpPr>
        <p:spPr>
          <a:xfrm>
            <a:off x="59893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비율의 세 가지 유형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89320" y="1691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 비율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합계 기준 비율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흡연자 중 폐암 비율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89320" y="2331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열 비율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893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 합계 기준 비율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폐암 환자 중 흡연 비율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89320" y="2971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전체 비율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89320" y="3200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총합계 기준 비율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중 흡연+폐암 비율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657600"/>
            <a:ext cx="54864" cy="128016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794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그룹 간 수치형 데이터 비교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4206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병렬 상자그림(side-by-side boxplot)은 여러 그룹의 분포를 동시에 비교하는 가장 효과적인 도구이다. 각 그룹의 중심(중앙값), 산포(IQR), 이상치를 한눈에 파악할 수 있으며, 히스토그램이 숨길 수 있는 그룹 간 차이를 명확하게 드러낸다.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심슨의 역설 (Simpson's Paradox)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하위 그룹에서 성립하는 관계가 전체 데이터에서 뒤집힐 수 있다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Berkeley 1973년 대학원 입학에서 전체 합격률은 남성이 높았지만, 각 학과별로 보면 여성의 합격률이 같거나 높았다. 여성이 합격률이 낮은 경쟁 학과에 주로 지원했기 때문이다. 이처럼 교란변수(학과 선택)가 숨어 있으면 전체와 부분의 결론이 반대가 될 수 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교훈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데이터만 보면 잘못된 결론에 도달할 수 있다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017520"/>
            <a:ext cx="54864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교훈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하위 그룹 분석(층화 분석)이 필수적이다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3017520"/>
            <a:ext cx="54864" cy="16459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8A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교훈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교란변수의 존재를 항상 의심해야 한다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 사례 연구: 말라리아 백신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182880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연구 설계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대상: 생후 5~17개월 영아 n = 14,713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처리: 백신군 vs 위약군 (무작위 배정)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반응: 말라리아 양성 여부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맹검(Double-Blind) 설계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8288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관측 결과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3474720" cy="100584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음성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291840"/>
            <a:ext cx="54864" cy="1645920"/>
          </a:xfrm>
          <a:prstGeom prst="rect">
            <a:avLst/>
          </a:prstGeom>
          <a:solidFill>
            <a:srgbClr val="2C3E6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 기반 가설검정 흐름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귀무가설 설정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3444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백신과 위약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 차이 없음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697480" y="3840480"/>
            <a:ext cx="457200" cy="45720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20" name="Text 17"/>
          <p:cNvSpPr/>
          <p:nvPr/>
        </p:nvSpPr>
        <p:spPr>
          <a:xfrm>
            <a:off x="26974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24612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관측 통계량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4612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양성률 차이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p̂₁ − p̂₂ 계산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3840480"/>
            <a:ext cx="457200" cy="45720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24" name="Text 21"/>
          <p:cNvSpPr/>
          <p:nvPr/>
        </p:nvSpPr>
        <p:spPr>
          <a:xfrm>
            <a:off x="47091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25780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하에서 10,000회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무작위 섞기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720840" y="3840480"/>
            <a:ext cx="457200" cy="457200"/>
          </a:xfrm>
          <a:prstGeom prst="ellipse">
            <a:avLst/>
          </a:prstGeom>
          <a:solidFill>
            <a:srgbClr val="4A7CC9"/>
          </a:solidFill>
          <a:ln/>
        </p:spPr>
      </p:sp>
      <p:sp>
        <p:nvSpPr>
          <p:cNvPr id="28" name="Text 25"/>
          <p:cNvSpPr/>
          <p:nvPr/>
        </p:nvSpPr>
        <p:spPr>
          <a:xfrm>
            <a:off x="67208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69480" y="3840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p값 계산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69480" y="4160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중 관측값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극단적 비율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새로운 시각 2.9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통계적 추론의 기초: 시뮬레이션에서 공식으로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시뮬레이션 기반 추론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귀무가설 하에서 '우연만으로 발생할 수 있는 결과'의 분포를 컴퓨터 시뮬레이션으로 생성한다.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실제 관측값이 이 분포에서 얼마나 극단적인지 확인한다.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p값이 작으면(보통 &lt; 0.05) 귀무가설을 기각한다.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장점: 직관적이며, 복잡한 수학 공식 없이도 핵심 논리를 이해할 수 있다.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32918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공식 기반 추론 (이후 장에서)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96596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표본이 충분히 크면 시뮬레이션 분포가 특정 수학적 분포(정규분포, t분포 등)에 수렴한다.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성질을 이용하면 시뮬레이션 없이도 p값을 계산할 수 있다.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중심극한정리(CLT)가 이 전환의 핵심 근거이다.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시뮬레이션과 공식은 같은 질문에 답하는 두 가지 경로이다.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 장 복습 — 핵심 용어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산점도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09728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214884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점도표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09728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23760" y="109728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097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히스토그램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치우침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16916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1488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단봉/이봉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6916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6916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5321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표준편차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69164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상자그림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사분위수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48840" y="228600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214884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228600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228600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553212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28600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286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백분위수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288036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강건한 통계량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288036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214884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변환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288036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분할표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532120" y="288036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553212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행/열 비율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288036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2880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모자이크 그래프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347472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심슨의 역설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148840" y="347472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7" name="Text 45"/>
          <p:cNvSpPr/>
          <p:nvPr/>
        </p:nvSpPr>
        <p:spPr>
          <a:xfrm>
            <a:off x="214884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40480" y="347472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대립가설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32120" y="347472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1" name="Text 49"/>
          <p:cNvSpPr/>
          <p:nvPr/>
        </p:nvSpPr>
        <p:spPr>
          <a:xfrm>
            <a:off x="553212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p값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23760" y="3474720"/>
            <a:ext cx="155448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0690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모수 (μ, σ)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148840" y="40690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14884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통계량 (x̄, s)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40480" y="40690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84048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기하평균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532120" y="40690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553212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체비셰프 부등식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23760" y="4069080"/>
            <a:ext cx="1554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722376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경험적 규칙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30개 핵심 용어  |  수치형 탐색 · 범주형 분석 · 시뮬레이션 추론의 기초를 포괄한다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제2장 완료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7C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데이터 요약 — Summarizing Data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2860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4A7CC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834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수치형 데이터: 히스토그램과 상자그림으로 분포의 형태를 파악하고, 적절한 중심 측도(평균/중앙값)와 산포 측도(SD/IQR)를 선택한다.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54864" cy="502920"/>
          </a:xfrm>
          <a:prstGeom prst="rect">
            <a:avLst/>
          </a:prstGeom>
          <a:solidFill>
            <a:srgbClr val="5B8A7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4747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범주형 데이터: 분할표와 막대그래프로 그룹 간 비교를 수행하되, 심슨의 역설에 유의하여 하위 그룹을 반드시 확인한다.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54864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14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0C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추론: 시뮬레이션을 통해 '우연만으로 설명 가능한지'를 검증하는 가설검정의 핵심 논리를 이해한다.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장 →  제3장: 확률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제2장: 데이터 요약 (Summarizing Data)</dc:title>
  <dc:subject>PptxGenJS Presentation</dc:subject>
  <dc:creator>OpenIntro Statistics Korean</dc:creator>
  <cp:lastModifiedBy>OpenIntro Statistics Korean</cp:lastModifiedBy>
  <cp:revision>1</cp:revision>
  <dcterms:created xsi:type="dcterms:W3CDTF">2026-03-01T10:34:17Z</dcterms:created>
  <dcterms:modified xsi:type="dcterms:W3CDTF">2026-03-01T10:34:17Z</dcterms:modified>
</cp:coreProperties>
</file>