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image" Target="../media/image-47-4.png"/><Relationship Id="rId5" Type="http://schemas.openxmlformats.org/officeDocument/2006/relationships/image" Target="../media/image-47-5.png"/><Relationship Id="rId6" Type="http://schemas.openxmlformats.org/officeDocument/2006/relationships/image" Target="../media/image-4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1097280"/>
            <a:ext cx="2011680" cy="2011680"/>
          </a:xfrm>
          <a:prstGeom prst="rect">
            <a:avLst/>
          </a:prstGeom>
          <a:solidFill>
            <a:srgbClr val="134074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0" y="1371600"/>
            <a:ext cx="1463040" cy="1463040"/>
          </a:xfrm>
          <a:prstGeom prst="oval">
            <a:avLst/>
          </a:prstGeom>
          <a:solidFill>
            <a:srgbClr val="13678A">
              <a:alpha val="6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169164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097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45B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164592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연구 설계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731520" y="2651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Design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731520" y="3246120"/>
            <a:ext cx="228600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34747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E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표집, 실험, 관찰 연구의 원리와 실습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1520" y="4389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OpenIntro Statistics  |  통계적 추론과 데이터 분석  |  3시간 강의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목차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91440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4300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258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188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96596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표집 원리와 전략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132320" y="1188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~70분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96596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모집단, 표본, 모수, 통계량, 편향, 표집 방법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" y="205740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402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2103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96596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132320" y="2103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~50분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965960" y="2468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원리, 교란 변수, 블록화, 맹검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48640" y="297180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15468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25880" y="30175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2.3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96596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관찰 연구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7132320" y="3017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~30분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196596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전향적/후향적 연구, 인과 vs 연관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48640" y="388620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06908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25880" y="3931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2.4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1965960" y="3931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 복습과 연습문제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7132320" y="3931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~30분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196596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추론의 범위, 용어 정리, 연습문제 풀이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40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5B7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5B7AA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914400"/>
            <a:ext cx="3200400" cy="3200400"/>
          </a:xfrm>
          <a:prstGeom prst="oval">
            <a:avLst/>
          </a:prstGeom>
          <a:solidFill>
            <a:srgbClr val="13678A">
              <a:alpha val="4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82880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5B7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31520" y="21031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표집 원리와 전략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31520" y="2834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Principles and Strategies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3337560"/>
            <a:ext cx="1828800" cy="36576"/>
          </a:xfrm>
          <a:prstGeom prst="rect">
            <a:avLst/>
          </a:prstGeom>
          <a:solidFill>
            <a:srgbClr val="45B7AA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모집단과 표본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280160"/>
            <a:ext cx="64008" cy="868680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3533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모집단(Population)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6916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질문이 대상으로 하는 전체 케이스의 집합. 관심 있는 모든 개체를 포함한다.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331720"/>
            <a:ext cx="64008" cy="868680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4048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전수조사(Census)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7432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모집단의 모든 케이스에 대해 데이터를 수집하는 것. 비용, 시간, 접근성 등의 이유로 대부분 불가능하다.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383280"/>
            <a:ext cx="64008" cy="868680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45643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표본(Sample)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37947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모집단에서 선택된 부분 집합. 실제로 수집하는 데이터이며, 모집단을 대표해야 한다.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8046720" cy="548640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370832"/>
            <a:ext cx="347472" cy="34747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88720" y="42976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표본은 모집단의 '축소판'이어야 한다. 좋은 표본 = 대표적인 표본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세 가지 연구 질문과 모집단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47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325880"/>
            <a:ext cx="365760" cy="365760"/>
          </a:xfrm>
          <a:prstGeom prst="oval">
            <a:avLst/>
          </a:prstGeom>
          <a:solidFill>
            <a:srgbClr val="13678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280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대서양의 황새치에 함유된 평균 수은 농도는?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5819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모집단: 대서양의 모든 황새치  |  케이스: 각 황새치 한 마리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1828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60마리 표본으로 추정 가능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2468880"/>
            <a:ext cx="365760" cy="365760"/>
          </a:xfrm>
          <a:prstGeom prst="oval">
            <a:avLst/>
          </a:prstGeom>
          <a:solidFill>
            <a:srgbClr val="13678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423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 5년간 듀크대 학부생의 평균 졸업 소요 시간은?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27249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모집단: 지난 5년간 졸업한 모든 학부생  |  케이스: 각 졸업생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88720" y="2971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졸업하지 않은 학생은 제외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3611880"/>
            <a:ext cx="365760" cy="365760"/>
          </a:xfrm>
          <a:prstGeom prst="oval">
            <a:avLst/>
          </a:prstGeom>
          <a:solidFill>
            <a:srgbClr val="13678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566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약물이 중증 심장 질환 환자의 사망을 줄이는가?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38679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모집단: 중증 심장 질환 환자 전체 (현재+미래)  |  케이스: 각 환자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4114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미래 환자 포함 → 전수조사 불가능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 2.1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모집단과 케이스 식별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47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8046720" cy="6400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34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위의 두 번째와 세 번째 질문에 대해 목표 모집단과 개별 케이스가 무엇인지 식별하라.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057400"/>
            <a:ext cx="8046720" cy="54864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94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듀크대 졸업 소요 시간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514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모집단: 지난 5년간 듀크대에서 졸업한 모든 학부생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743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케이스: 각 졸업생 한 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9718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주의: 졸업하지 않은 학생은 제외해야 한다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383280"/>
            <a:ext cx="8046720" cy="54864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520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새 약물의 심장 사망 감소 효과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3840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모집단: 중증 심장 질환을 가진 모든 사람 (현재+미래)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069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케이스: 중증 심장 질환을 가진 각 개인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29768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주의: 미래 환자도 포함하므로 전수조사 불가능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시각 2.1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왜 전체를 조사하지 않는가?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47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1600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371600"/>
            <a:ext cx="457200" cy="457200"/>
          </a:xfrm>
          <a:prstGeom prst="oval">
            <a:avLst/>
          </a:prstGeom>
          <a:solidFill>
            <a:srgbClr val="13678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3317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케이스를 조사하는 것은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경제적으로 불가능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1325880" cy="640080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632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미국 전 가구 소득 조사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수십억 달러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057400" y="1234440"/>
            <a:ext cx="1600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06040" y="1371600"/>
            <a:ext cx="457200" cy="457200"/>
          </a:xfrm>
          <a:prstGeom prst="oval">
            <a:avLst/>
          </a:prstGeom>
          <a:solidFill>
            <a:srgbClr val="13678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148840" y="19659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48840" y="23317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전수조사에는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수년이 소요될 수 있다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94560" y="3063240"/>
            <a:ext cx="1325880" cy="640080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18" name="Text 16"/>
          <p:cNvSpPr/>
          <p:nvPr/>
        </p:nvSpPr>
        <p:spPr>
          <a:xfrm>
            <a:off x="2194560" y="30632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졸업생 인터뷰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수년 소요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794760" y="1234440"/>
            <a:ext cx="1600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43400" y="1371600"/>
            <a:ext cx="457200" cy="457200"/>
          </a:xfrm>
          <a:prstGeom prst="oval">
            <a:avLst/>
          </a:prstGeom>
          <a:solidFill>
            <a:srgbClr val="13678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886200" y="19659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파괴적 검사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86200" y="23317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일부 측정은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대상을 파괴한다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931920" y="3063240"/>
            <a:ext cx="1325880" cy="640080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24" name="Text 22"/>
          <p:cNvSpPr/>
          <p:nvPr/>
        </p:nvSpPr>
        <p:spPr>
          <a:xfrm>
            <a:off x="3931920" y="30632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황새치 수은 측정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물고기 희생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532120" y="1234440"/>
            <a:ext cx="1600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80760" y="1371600"/>
            <a:ext cx="457200" cy="457200"/>
          </a:xfrm>
          <a:prstGeom prst="oval">
            <a:avLst/>
          </a:prstGeom>
          <a:solidFill>
            <a:srgbClr val="13678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623560" y="19659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불가능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23560" y="23317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미래의 환자를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연구할 수 없다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0" y="3063240"/>
            <a:ext cx="1325880" cy="640080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0" y="30632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미래 심장 질환 환자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접근 불가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269480" y="1234440"/>
            <a:ext cx="1600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818120" y="1371600"/>
            <a:ext cx="457200" cy="457200"/>
          </a:xfrm>
          <a:prstGeom prst="oval">
            <a:avLst/>
          </a:prstGeom>
          <a:solidFill>
            <a:srgbClr val="13678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360920" y="19659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무한 모집단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60920" y="23317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동전을 무한히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던질 수는 없다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406640" y="3063240"/>
            <a:ext cx="1325880" cy="640080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36" name="Text 34"/>
          <p:cNvSpPr/>
          <p:nvPr/>
        </p:nvSpPr>
        <p:spPr>
          <a:xfrm>
            <a:off x="7406640" y="30632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동전 던지기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무한 반복 불가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2.1.2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모수와 통계량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47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모수(parameter)</a:t>
            </a:r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모집단 전체의 수치적 특성 (보통 알 수 없음)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통계량(statistic)</a:t>
            </a:r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표본에서 계산된 수치적 값 (데이터로부터 구함)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31089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모수 (Parameter)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통계량 (Statistic)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모집단 전체의 특성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표본에서 계산된 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알 수 있는가?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보통 알 수 없음 (추정)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데이터로부터 계산 가능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기호 체계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그리스 문자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라틴 문자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평균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 (뮤, mu)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x̄ (x-bar)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표준편차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(시그마, sigma)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또는 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p̂ (p-hat)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상관계수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ρ (로, rho)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4434840"/>
            <a:ext cx="8046720" cy="548640"/>
          </a:xfrm>
          <a:prstGeom prst="rect">
            <a:avLst/>
          </a:prstGeom>
          <a:solidFill>
            <a:srgbClr val="FFF8E1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50799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44348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P-P, S-S: Parameter는 Population과, Statistic은 Sample과 함께 간다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시각 2.2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모수 vs 통계량 시뮬레이션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47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모집단에서 표본을 추출할 때마다 통계량은 달라지지만, 모수는 변하지 않는다.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920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모집단 (알 수 없음)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100 (모집단 평균)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15 (모집단 표준편차)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100,000명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실제로는 이 값을 모른다!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시뮬레이션이므로 알 수 있을 뿐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82880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920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표본 (n=100)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2860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x̄ = 101.23 (표본 평균)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14.87 (표본 표준편차)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100명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32918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매번 추출할 때마다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값이 나온다!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8046720" cy="5486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526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실습: 표본 크기를 50, 100, 500으로 바꾸어 추정 오차가 어떻게 변하는지 확인하라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2.1.3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일화적 증거 (Anecdotal Evidence)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47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일화적 증거란?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18745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즉흥적으로 수집된 데이터에 기반한 결론이다.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진실이고 검증 가능할 수 있지만,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예외적인 케이스만 대표할 수 있으므로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모집단의 좋은 대표가 아닐 수 있다.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3063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가장 비정상적인 케이스 대신,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모집단을 더 잘 대표하는 많은 케이스의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표본을 검토해야 한다.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46320" y="123444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029200" y="1325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잘못된 결론의 예시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29200" y="1783080"/>
            <a:ext cx="274320" cy="274320"/>
          </a:xfrm>
          <a:prstGeom prst="oval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40680" y="17647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남자가 황새치 먹고 수은 중독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40680" y="2011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황새치 수은 농도가 위험하게 높다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29200" y="2606040"/>
            <a:ext cx="274320" cy="274320"/>
          </a:xfrm>
          <a:prstGeom prst="oval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440680" y="25877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듀크대 졸업에 7년 걸린 두 학생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440680" y="2834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듀크대 졸업이 다른 대학보다 오래 걸린다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029200" y="3429000"/>
            <a:ext cx="274320" cy="274320"/>
          </a:xfrm>
          <a:prstGeom prst="oval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40680" y="34107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친구 아버지가 심장병 약 후 사망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40680" y="3657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그 약은 효과가 없다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시각 2.3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왜 우리는 일화에 끌리는가?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47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인간의 뇌는 추상적인 통계보다 구체적인 이야기에 더 잘 반응하도록 진화하였다.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73736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737360"/>
            <a:ext cx="1965960" cy="54864"/>
          </a:xfrm>
          <a:prstGeom prst="rect">
            <a:avLst/>
          </a:prstGeom>
          <a:solidFill>
            <a:srgbClr val="13678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920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생생함 효과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3317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감정적 정보가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잘 기억됨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1691640" cy="54864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1089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개인적 이야기 &gt; 건조한 통계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0" y="173736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0" y="1737360"/>
            <a:ext cx="1965960" cy="54864"/>
          </a:xfrm>
          <a:prstGeom prst="rect">
            <a:avLst/>
          </a:prstGeom>
          <a:solidFill>
            <a:srgbClr val="13678A"/>
          </a:solidFill>
          <a:ln/>
        </p:spPr>
      </p:sp>
      <p:sp>
        <p:nvSpPr>
          <p:cNvPr id="16" name="Text 14"/>
          <p:cNvSpPr/>
          <p:nvPr/>
        </p:nvSpPr>
        <p:spPr>
          <a:xfrm>
            <a:off x="2651760" y="1920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가용성 휴리스틱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51760" y="23317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쉽게 떠오르는 예시를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흔하다고 착각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97480" y="3108960"/>
            <a:ext cx="1691640" cy="54864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9" name="Text 17"/>
          <p:cNvSpPr/>
          <p:nvPr/>
        </p:nvSpPr>
        <p:spPr>
          <a:xfrm>
            <a:off x="2697480" y="31089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극적 사례가 더 쉽게 떠오름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173736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737360"/>
            <a:ext cx="1965960" cy="54864"/>
          </a:xfrm>
          <a:prstGeom prst="rect">
            <a:avLst/>
          </a:prstGeom>
          <a:solidFill>
            <a:srgbClr val="13678A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1920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확증 편향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23317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믿음을 확인하는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정보를 선호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3108960"/>
            <a:ext cx="1691640" cy="54864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1089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믿고 싶은 이야기를 더 기억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58000" y="173736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58000" y="1737360"/>
            <a:ext cx="1965960" cy="54864"/>
          </a:xfrm>
          <a:prstGeom prst="rect">
            <a:avLst/>
          </a:prstGeom>
          <a:solidFill>
            <a:srgbClr val="13678A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0" y="1920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대표성 휴리스틱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49440" y="23317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작은 표본이 전체를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대표한다고 착각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95160" y="3108960"/>
            <a:ext cx="1691640" cy="54864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31" name="Text 29"/>
          <p:cNvSpPr/>
          <p:nvPr/>
        </p:nvSpPr>
        <p:spPr>
          <a:xfrm>
            <a:off x="6995160" y="31089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한두 사례로 전체를 판단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4434840"/>
            <a:ext cx="8046720" cy="54864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44348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복권, 백신, 비행기 사례: 극적인 사건 기억 → 전체 빈도를 왜곡하여 판단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2.1.4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모집단에서 표집하기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47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무작위로 표본을 선택하면 편향을 최소화할 수 있다. 가장 기본적인 무작위 표본을 단순무작위표본이라고 한다.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384048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단순무작위표본(SRS)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모집단의 각 케이스가 포함될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동일한 기회를 가지며,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표본의 케이스들이 서로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관련되지 않는 표본이다.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마치 모자에서 이름을 뽑는 것과 같다.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920240"/>
            <a:ext cx="384048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편향이 발생하는 경우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42316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누군가가 표본을 직접 선택하면,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사람의 관심사를 과대 대표할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가능성이 있다.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영양학 전공자가 졸업생을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선택하면 건강 관련 전공이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과대 대표된다.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 2.2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편향된 표본 추출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47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8046720" cy="54864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34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영양학 전공 학생에게 졸업생 표본을 선택하도록 요청하면, 어떤 학생들을 선택할 것인가?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표본이 모든 졸업생을 대표하겠는가?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28346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편향 유형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전공 편향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건강 관련 전공 과대 대표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영양학, 생물학 등에 치우침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네트워크 편향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친구, 동아리 멤버 선택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비슷한 관심사 가진 사람들만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특성 편향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건강에 관심 많은 학생 과대 대표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생활 습관, 식습관 등 왜곡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3611880"/>
            <a:ext cx="8046720" cy="64008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36118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결론: 이 표본은 편향된 표본(biased sample)이다. 무작위 표집이 필수적이다.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4389120"/>
            <a:ext cx="8046720" cy="5486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4389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실습: 실제 전공 분포 vs 편향된 표본을 시뮬레이션으로 비교해 보라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2.1.4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비응답 편향과 편의 표본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47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80467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234440"/>
            <a:ext cx="64008" cy="150876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3258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비응답 편향(Non-response Bias)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691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무작위로 표집했더라도 응답률이 낮으면 결과가 왜곡된다.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응답자와 비응답자의 특성이 다를 수 있기 때문이다.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2286000"/>
            <a:ext cx="7132320" cy="320040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2860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설문 대상 중 30%만 응답 → 바쁜 직장인 과소 대표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80467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926080"/>
            <a:ext cx="64008" cy="1508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0175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편의 표본(Convenience Sample)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33832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쉽게 접근 가능한 개인이 표본에 포함될 가능성이 높은 표본.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하위 모집단을 대표하는지 분별하기 어렵다.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3977640"/>
            <a:ext cx="7132320" cy="320040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9776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브롱스에서 걷는 사람 설문 → 뉴욕시 전체 대표 불가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 2.3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온라인 리뷰의 자기 선택 편향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47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8046720" cy="54864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34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온라인 리뷰의 50%가 부정적이면, 구매자의 50%가 불만족한 것인가?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8046720" cy="64008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74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아니오! 자기 선택 편향과 부정성 편향으로 인해 리뷰는 실제와 다르다.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804672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651760"/>
            <a:ext cx="64008" cy="438912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자기 선택 편향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2697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강한 의견을 가진 사람만 리뷰 작성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182112"/>
            <a:ext cx="804672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182112"/>
            <a:ext cx="64008" cy="438912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2278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부정성 편향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322783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불만족 고객이 리뷰 작성 확률 2-3배 높음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712464"/>
            <a:ext cx="804672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712464"/>
            <a:ext cx="64008" cy="438912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7581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침묵하는 다수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0" y="375818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만족한 고객 대부분은 리뷰를 쓰지 않음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242816"/>
            <a:ext cx="804672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4242816"/>
            <a:ext cx="64008" cy="438912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2885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극단적 경험 과대 대표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0" y="428853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평범한 경험은 리뷰 동기 부족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시각 2.4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표집 편향의 다양한 형태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47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164592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34440"/>
            <a:ext cx="164592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417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 편향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783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그룹 포함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확률이 다름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423160"/>
            <a:ext cx="1463040" cy="59436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4231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유선전화만 사용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젊은 층 과소 대표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3108960"/>
            <a:ext cx="1463040" cy="4114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1089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다양한 접촉 방법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029968" y="1234440"/>
            <a:ext cx="164592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29968" y="1234440"/>
            <a:ext cx="164592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2075688" y="1417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비응답 편향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75688" y="1783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응답자/비응답자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특성이 다름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121408" y="2423160"/>
            <a:ext cx="1463040" cy="59436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20" name="Text 18"/>
          <p:cNvSpPr/>
          <p:nvPr/>
        </p:nvSpPr>
        <p:spPr>
          <a:xfrm>
            <a:off x="2121408" y="24231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바쁜 직장인은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시간이 없음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121408" y="3108960"/>
            <a:ext cx="1463040" cy="4114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2" name="Text 20"/>
          <p:cNvSpPr/>
          <p:nvPr/>
        </p:nvSpPr>
        <p:spPr>
          <a:xfrm>
            <a:off x="2121408" y="31089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추적 조사, 인센티브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785616" y="1234440"/>
            <a:ext cx="164592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85616" y="1234440"/>
            <a:ext cx="164592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3831336" y="1417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자발적 응답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31336" y="1783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참여자가 특정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특성을 가짐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877056" y="2423160"/>
            <a:ext cx="1463040" cy="59436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28" name="Text 26"/>
          <p:cNvSpPr/>
          <p:nvPr/>
        </p:nvSpPr>
        <p:spPr>
          <a:xfrm>
            <a:off x="3877056" y="24231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온라인 리뷰는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극단적 의견 과대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877056" y="3108960"/>
            <a:ext cx="1463040" cy="4114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0" name="Text 28"/>
          <p:cNvSpPr/>
          <p:nvPr/>
        </p:nvSpPr>
        <p:spPr>
          <a:xfrm>
            <a:off x="3877056" y="31089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무작위 표집 사용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541264" y="1234440"/>
            <a:ext cx="164592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541264" y="1234440"/>
            <a:ext cx="164592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3" name="Text 31"/>
          <p:cNvSpPr/>
          <p:nvPr/>
        </p:nvSpPr>
        <p:spPr>
          <a:xfrm>
            <a:off x="5586984" y="1417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편의 표집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86984" y="1783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쉽게 접근 가능한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대상만 선택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32704" y="2423160"/>
            <a:ext cx="1463040" cy="59436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36" name="Text 34"/>
          <p:cNvSpPr/>
          <p:nvPr/>
        </p:nvSpPr>
        <p:spPr>
          <a:xfrm>
            <a:off x="5632704" y="24231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대학가에서 설문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학생 과대 대표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632704" y="3108960"/>
            <a:ext cx="1463040" cy="4114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8" name="Text 36"/>
          <p:cNvSpPr/>
          <p:nvPr/>
        </p:nvSpPr>
        <p:spPr>
          <a:xfrm>
            <a:off x="5632704" y="31089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체계적 표집 설계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296912" y="1234440"/>
            <a:ext cx="164592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296912" y="1234440"/>
            <a:ext cx="164592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1" name="Text 39"/>
          <p:cNvSpPr/>
          <p:nvPr/>
        </p:nvSpPr>
        <p:spPr>
          <a:xfrm>
            <a:off x="7342632" y="1417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생존자 편향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342632" y="1783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살아남은 대상만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관찰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388352" y="2423160"/>
            <a:ext cx="1463040" cy="59436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44" name="Text 42"/>
          <p:cNvSpPr/>
          <p:nvPr/>
        </p:nvSpPr>
        <p:spPr>
          <a:xfrm>
            <a:off x="7388352" y="24231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성공 기업만 연구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성공 요인 왜곡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388352" y="3108960"/>
            <a:ext cx="1463040" cy="4114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6" name="Text 44"/>
          <p:cNvSpPr/>
          <p:nvPr/>
        </p:nvSpPr>
        <p:spPr>
          <a:xfrm>
            <a:off x="7388352" y="31089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 케이스도 포함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2.1.4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표집 방법 (1): 단순무작위 / 층화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47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80467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234440"/>
            <a:ext cx="64008" cy="1645920"/>
          </a:xfrm>
          <a:prstGeom prst="rect">
            <a:avLst/>
          </a:prstGeom>
          <a:solidFill>
            <a:srgbClr val="13678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71600"/>
            <a:ext cx="411480" cy="411480"/>
          </a:xfrm>
          <a:prstGeom prst="oval">
            <a:avLst/>
          </a:prstGeom>
          <a:solidFill>
            <a:srgbClr val="13678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단순무작위표집 (Simple Random Sampling)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17373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모집단의 각 케이스가 선택될 동일한 확률을 가진다.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모자에서 이름을 뽑는 것과 동일한 원리이다.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22402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장점: 가장 단순, 분석 용이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22402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단점: 모집단 접근이 어려우면 비실용적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80467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063240"/>
            <a:ext cx="64008" cy="1645920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200400"/>
            <a:ext cx="411480" cy="411480"/>
          </a:xfrm>
          <a:prstGeom prst="oval">
            <a:avLst/>
          </a:prstGeom>
          <a:solidFill>
            <a:srgbClr val="1E8C8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층화표집 (Stratified Sampling)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566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모집단을 유사한 그룹(층, strata)으로 나눈 후,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층에서 무작위 표본을 추출한다.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71600" y="4069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장점: 모든 그룹 대표성 보장, 정밀도 향상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4069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단점: 층 정보가 필요, 다소 복잡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2.1.4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표집 방법 (2): 군집 / 다단계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47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80467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234440"/>
            <a:ext cx="64008" cy="1645920"/>
          </a:xfrm>
          <a:prstGeom prst="rect">
            <a:avLst/>
          </a:prstGeom>
          <a:solidFill>
            <a:srgbClr val="45B7A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71600"/>
            <a:ext cx="411480" cy="411480"/>
          </a:xfrm>
          <a:prstGeom prst="oval">
            <a:avLst/>
          </a:prstGeom>
          <a:solidFill>
            <a:srgbClr val="45B7A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군집표집 (Cluster Sampling)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17373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모집단을 군집으로 분류한 후, 일부 군집을 무작위 선택하고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선택된 군집의 모든 케이스를 조사한다.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22402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장점: 비용 효율적 (지리적 분산 시)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22402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단점: 군집 수가 적으면 대표성 부족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80467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063240"/>
            <a:ext cx="64008" cy="164592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200400"/>
            <a:ext cx="411480" cy="411480"/>
          </a:xfrm>
          <a:prstGeom prst="oval">
            <a:avLst/>
          </a:prstGeom>
          <a:solidFill>
            <a:srgbClr val="E8833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다단계표집 (Multistage Sampling)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566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군집을 무작위 선택한 후, 선택된 각 군집 내에서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다시 무작위 표본을 추출한다. 군집표집의 확장이다.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71600" y="4069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장점: 비용 절감 + 추가 무작위화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4069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단점: 분석이 더 복잡해질 수 있음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8046720" cy="54864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4348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층화 vs 군집: 층화는 층 내 유사성, 군집은 군집 간 유사성을 활용한다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 2.5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인도네시아 말라리아 연구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47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8046720" cy="73152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344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인도네시아 열대 시골 지역에 30개 마을이 있다. 마을 간 거리가 멀다.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150명을 검사하고 싶다. 어떤 표집 방법을 사용해야 하는가?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  <a:gridCol w="20116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방법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적합성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방문 마을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예상 비용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단순무작위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비현실적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~27개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3,450만원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층화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8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어려움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많음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군집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1,250만원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다단계 (권장)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2,250만원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18795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41148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다단계표집: 15개 마을 무작위 선택 → 마을당 10명 무작위 추출 = 비용 절감 + 대표성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시각 2.5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표집 방법 선택 가이드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47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  <a:gridCol w="29260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권장 방법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모집단 동질적, 접근 용이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67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단순무작위표집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가장 단순, 분석 쉬움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알려진 그룹, 그룹 간 차이 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8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층화표집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모든 그룹 대표성 보장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자연스러운 군집, 군집 간 유사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군집표집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비용 효율적 (지리적 분산)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군집 내 전체 조사 불필요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8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다단계표집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군집표집 + 추가 무작위화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520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구분: 층화표집 vs 군집표집</a:t>
            </a:r>
            <a:endParaRPr lang="en-US" sz="140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8620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31089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층화표집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군집표집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그룹 내부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유사 (동질적)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다양 (이질적)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그룹 사이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다름 (이질적)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유사 (동질적)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선택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모든 그룹에서 일부 추출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일부 그룹만 전체 추출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340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5B7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5B7AA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914400"/>
            <a:ext cx="3200400" cy="3200400"/>
          </a:xfrm>
          <a:prstGeom prst="oval">
            <a:avLst/>
          </a:prstGeom>
          <a:solidFill>
            <a:srgbClr val="13678A">
              <a:alpha val="4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82880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5B7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2.2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31520" y="21031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실험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31520" y="2834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3337560"/>
            <a:ext cx="1828800" cy="36576"/>
          </a:xfrm>
          <a:prstGeom prst="rect">
            <a:avLst/>
          </a:prstGeom>
          <a:solidFill>
            <a:srgbClr val="45B7AA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47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실험이란 무엇인가?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47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</a:t>
            </a:r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(experiment): 연구자가 케이스에 </a:t>
            </a:r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처치</a:t>
            </a:r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(treatment)를 배정하는 연구이다.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무작위 실험</a:t>
            </a:r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(randomized experiment): 처치 배정에 무작위화를 포함하는 실험. 인과관계를 보여주기 위해 근본적으로 중요하다.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38404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처치군(Treatment Group)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관심 있는 처치를 받는 그룹.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새로운 약물을 투여받는 환자.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286000"/>
            <a:ext cx="38404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대조군(Control Group)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7432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처치를 받지 않거나 위약을 받는 그룹.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처치 효과의 비교 기준이 된다.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원리 1: 통제 (Control)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47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연구자는 케이스에 처치를 배정하고, 그룹 간의 다른 차이를 통제하기 위해 최선을 다한다.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80467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환자가 알약을 복용할 때, 일부는 물 한 모금만으로, 다른 환자는 물 한 잔과 함께 먹을 수 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모든 환자에게 12온스 물과 함께 복용하도록 지시하여 물 소비의 효과를 통제한다.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913632"/>
            <a:ext cx="347472" cy="3474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88720" y="3840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처치 외 모든 조건을 동일하게 유지하여 외부 요인을 최소화한다.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원리 2: 무작위화 (Randomization)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47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연구자는 통제할 수 없는 변수를 설명하기 위해 환자를 처치 그룹에 무작위로 배정한다.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80467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일부 환자는 식습관으로 인해 질병에 더 취약할 수 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무작위 배정으로 이러한 차이를 두 그룹에 균등하게 분배한다.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913632"/>
            <a:ext cx="347472" cy="3474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88720" y="3840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교란 변수의 영향을 두 그룹에 균형 있게 분배하여 인과 추론을 가능하게 한다.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원리 3: 반복 (Replication)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47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많은 케이스를 관찰할수록, 설명 변수가 반응에 미치는 효과를 더 정확하게 추정할 수 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80467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처치 그룹당 최소 여러 대상이 필요하다.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주의: 의사반복(pseudoreplication) - 같은 개인의 반복 측정을 독립적 관측치로 보고하면 안 된다.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913632"/>
            <a:ext cx="347472" cy="3474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88720" y="3840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충분히 큰 표본 크기로 추정의 정밀도를 향상시킨다.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원리 4: 블록화 (Blocking)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47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처치 외의 변수가 반응에 영향을 미칠 때, 먼저 그 변수를 기반으로 블록으로 그룹화한 후 각 블록 내에서 무작위 배정한다.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80467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심장마비 약물 연구에서 환자를 저위험/고위험 블록으로 나눈 후,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블록에서 절반을 처치군, 절반을 대조군에 배정한다.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913632"/>
            <a:ext cx="347472" cy="3474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88720" y="3840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알려진 변동 원인을 통제하여 처치 효과를 더 정밀하게 추정한다.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교란 변수 (Confounding Variable)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47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8046720" cy="64008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34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교란 변수: 설명 변수와 반응 변수 모두와 연관된 변수. 인과적 결론 도출을 방해한다.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 1: 아이스크림과 보트 사고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6060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아이스크림 판매량 ↑ → 보트 사고 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아이스크림이 보트 사고를 유발?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교란 변수: 외부 온도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온도 ↑ → 아이스크림 판매 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온도 ↑ → 물놀이 ↑ → 보트 사고 ↑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 2: 자외선 차단제와 피부암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6060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차단제 사용 ↑ → 피부암 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차단제가 피부암을 유발?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교란 변수: 자외선 노출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노출 ↑ → 차단제 사용 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노출 ↑ → 피부암 위험 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(차단제는 실제로 보호 효과!)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블록화 설계의 실제: 치아씨드 연구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47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80467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417320"/>
            <a:ext cx="1645920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76명 참가자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664208"/>
            <a:ext cx="54864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137160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(성별)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0" y="1325880"/>
            <a:ext cx="1371600" cy="411480"/>
          </a:xfrm>
          <a:prstGeom prst="rect">
            <a:avLst/>
          </a:prstGeom>
          <a:solidFill>
            <a:srgbClr val="13678A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1325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남성 38명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0" y="1828800"/>
            <a:ext cx="1371600" cy="411480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1828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여성 38명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74920" y="1527048"/>
            <a:ext cx="457200" cy="0"/>
          </a:xfrm>
          <a:prstGeom prst="line">
            <a:avLst/>
          </a:prstGeom>
          <a:noFill/>
          <a:ln w="12700">
            <a:solidFill>
              <a:srgbClr val="1367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74920" y="2029968"/>
            <a:ext cx="457200" cy="0"/>
          </a:xfrm>
          <a:prstGeom prst="line">
            <a:avLst/>
          </a:prstGeom>
          <a:noFill/>
          <a:ln w="12700">
            <a:solidFill>
              <a:srgbClr val="1E8C8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77840" y="1325880"/>
            <a:ext cx="1371600" cy="41148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9" name="Text 17"/>
          <p:cNvSpPr/>
          <p:nvPr/>
        </p:nvSpPr>
        <p:spPr>
          <a:xfrm>
            <a:off x="5577840" y="1325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처치 19명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132320" y="1325880"/>
            <a:ext cx="1371600" cy="411480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1325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대조 19명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577840" y="1828800"/>
            <a:ext cx="1371600" cy="41148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23" name="Text 21"/>
          <p:cNvSpPr/>
          <p:nvPr/>
        </p:nvSpPr>
        <p:spPr>
          <a:xfrm>
            <a:off x="5577840" y="1828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처치 19명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32320" y="1828800"/>
            <a:ext cx="1371600" cy="411480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0" y="1828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대조 19명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2468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설계: 12주간 이중 맹검 무작위 실험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2788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처치군: 매일 25g 치아씨드 (오트밀에 혼합)  |  대조군: 양귀비씨앗 (위약)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200400"/>
            <a:ext cx="8046720" cy="64008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32004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결과: 12주 후 두 그룹 간 체중 변화에 통계적으로 유의한 차이 없음!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3977640"/>
            <a:ext cx="8046720" cy="548640"/>
          </a:xfrm>
          <a:prstGeom prst="rect">
            <a:avLst/>
          </a:prstGeom>
          <a:solidFill>
            <a:srgbClr val="FFF8E1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050792"/>
            <a:ext cx="347472" cy="347472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188720" y="39776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블록화(성별)로 각 그룹에 남녀 비율이 동일하게 유지됨. 이중 맹검으로 위약 효과 통제.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시각 2.6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실험 설계의 네 가지 원리 요약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47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828800"/>
                <a:gridCol w="2560320"/>
                <a:gridCol w="23774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목적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구현 방법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통제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외부 요인 최소화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처치 외 조건 동일 유지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모든 환자에게 같은 양의 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무작위화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교란 변수 균형화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동전 던지기, 난수 등으로 배정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환자를 처치/대조군에 무작위 배정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반복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정밀도 향상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충분한 표본 크기 확보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각 처치 그룹에 최소 30명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블록화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알려진 변동 통제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그룹화 후 그룹 내 무작위 배정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성별로 나눈 후 각각 무작위 배정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통제 + 무작위화 = 인과관계 확립의 핵심  |  반복 = 정밀한 추정  |  블록화 = 효율성 향상 (선택적)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2.2.2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인간 실험에서 편향 줄이기: 맹검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47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234440"/>
            <a:ext cx="64008" cy="68580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307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위약 (Placebo)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5819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대조군에 주어지는 가짜 처치. 효과적인 위약은 맹검 연구의 핵심이다. 예: 설탕 알약.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039112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039112"/>
            <a:ext cx="64008" cy="68580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1122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위약 효과 (Placebo Effect)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38658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가짜 처치임에도 환자에게 약간이지만 실제적인 개선을 가져오는 현상.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843784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843784"/>
            <a:ext cx="64008" cy="685800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9169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맹검 (Blind)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19125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환자가 자신이 어떤 처치를 받는지 알지 못하는 설계. 감정적 효과를 통제한다.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648456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648456"/>
            <a:ext cx="64008" cy="685800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721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이중 맹검 (Double-blind)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9959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환자와 연구자 모두 누가 어떤 처치를 받는지 모르는 설계. 가장 강력한 편향 통제.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 2.6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스텐트 연구의 맹검 분석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47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9903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307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이것은 실험인가?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80160" y="16184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 - 연구자가 환자를 처치/대조 그룹에 배정하였다.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14884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1343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2221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연구가 맹검되었는가?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280160" y="25328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아니오 - 스텐트는 수술 절차이므로 환자가 수술 여부를 알 수 있다.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06324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2783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3136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이중 맹검이었는가?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280160" y="34472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아니오 - 단일 맹검도 아니므로 이중 맹검은 불가능하다.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solidFill>
            <a:srgbClr val="FFF8E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87952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88720" y="41148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수술적 처치에서는 가짜 수술(sham surgery)을 위약으로 사용할 수 있지만, 윤리적 문제가 발생한다.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 2.7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위약으로서의 가짜 수술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47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8046720" cy="54864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34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스텐트 연구에서 연구자들이 위약을 사용할 수 있었는가? 그렇다면 어떻게?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가짜 수술 절차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3774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환자를 마취시킨다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피부에 작은 절개를 한다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실제로는 스텐트를 삽입하지 않음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절개 부위를 봉합한다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환자는 수술을 받았다고 생각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92024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윤리적 고려사항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3774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추가 위험 발생: 마취, 절개, 감염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이익 없는 위험: 대조군은 위험만 감수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기만의 윤리성 문제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각 연구에서 신중하게 검토 필요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IRB(기관생명윤리위원회) 승인 필수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340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5B7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5B7AA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914400"/>
            <a:ext cx="3200400" cy="3200400"/>
          </a:xfrm>
          <a:prstGeom prst="oval">
            <a:avLst/>
          </a:prstGeom>
          <a:solidFill>
            <a:srgbClr val="13678A">
              <a:alpha val="4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82880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5B7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2.3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31520" y="21031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관찰 연구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31520" y="2834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Observational Studies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3337560"/>
            <a:ext cx="1828800" cy="36576"/>
          </a:xfrm>
          <a:prstGeom prst="rect">
            <a:avLst/>
          </a:prstGeom>
          <a:solidFill>
            <a:srgbClr val="45B7AA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47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관찰 연구란 무엇인가?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47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관찰 연구</a:t>
            </a:r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(observational study): 처치가 명시적으로 적용되지 않은 연구이다. 연구자는 자연 상태를 관찰하고 기록만 한다.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8046720" cy="64008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288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관찰 연구에서는 인과적 결론을 도출할 수 없다. 연관 관계만 확인 가능하다.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651760"/>
            <a:ext cx="64008" cy="1051560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7249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전향적 연구 (Prospective)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개인을 식별한 후 사건이 전개됨에 따라 정보를 수집.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미래를 향해 관찰한다.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0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간호사 건강 연구(1976~): 275,000명 이상 추적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840480"/>
            <a:ext cx="64008" cy="105156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9136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후향적 연구 (Retrospective)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사건이 발생한 후에 과거의 데이터를 수집.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과거를 돌아본다.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0" y="4206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의료 기록에서 과거 사건 검토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예제 2.1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자외선 차단제와 피부암: 교란 변수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47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관찰: 차단제 사용 ↑ → 피부암 ↑. 차단제가 피부암을 야기하는가? 아니오!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80467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920240"/>
            <a:ext cx="2377440" cy="594360"/>
          </a:xfrm>
          <a:prstGeom prst="rect">
            <a:avLst/>
          </a:prstGeom>
          <a:solidFill>
            <a:srgbClr val="13678A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9202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자외선 노출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(교란 변수)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3108960"/>
            <a:ext cx="2194560" cy="502920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108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차단제 사용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0" y="3108960"/>
            <a:ext cx="219456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5852160" y="3108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피부암 위험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0" y="2560320"/>
            <a:ext cx="-1371600" cy="594360"/>
          </a:xfrm>
          <a:prstGeom prst="line">
            <a:avLst/>
          </a:prstGeom>
          <a:noFill/>
          <a:ln w="25400">
            <a:solidFill>
              <a:srgbClr val="1367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20640" y="2560320"/>
            <a:ext cx="1371600" cy="594360"/>
          </a:xfrm>
          <a:prstGeom prst="line">
            <a:avLst/>
          </a:prstGeom>
          <a:noFill/>
          <a:ln w="25400">
            <a:solidFill>
              <a:srgbClr val="1367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54680" y="3355848"/>
            <a:ext cx="2651760" cy="0"/>
          </a:xfrm>
          <a:prstGeom prst="line">
            <a:avLst/>
          </a:prstGeom>
          <a:noFill/>
          <a:ln w="19050">
            <a:solidFill>
              <a:srgbClr val="5A6B8A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3017520" y="36118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관찰: 양의 상관 (허위 관계)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017520" y="37947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실제: 보호 효과 (음의 관계)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8046720" cy="5486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4348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실습: 교란 변수를 통제한 후 차단제의 실제 보호 효과가 드러나는 시뮬레이션 실행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실험 vs 관찰 연구 비교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47</a:t>
            </a:r>
            <a:endParaRPr lang="en-US" sz="9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31089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특성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실험 (Experiment)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관찰 연구 (Observational)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처치 배정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연구자가 처치를 배정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처치 적용 없음 (관찰만)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인과 추론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가능 (무작위 배정 시)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불가능 (연관만 확인)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교란 변수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무작위화로 통제 가능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통제 어려움 (항상 존재 가능)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일반화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자원자 대상 → 일반화 제한적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무작위 표집이면 일반화 가능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임상 시험, A/B 테스트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설문조사, 의료 기록 검토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연관(Association) =/= 인과(Causation). 관찰 연구는 가설 형성에 충분하지만, 인과 관계에는 실험이 필요하다.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340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5B7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5B7AA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914400"/>
            <a:ext cx="3200400" cy="3200400"/>
          </a:xfrm>
          <a:prstGeom prst="oval">
            <a:avLst/>
          </a:prstGeom>
          <a:solidFill>
            <a:srgbClr val="13678A">
              <a:alpha val="4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82880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5B7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2.4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31520" y="21031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장 복습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31520" y="2834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Review &amp; Exercises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3337560"/>
            <a:ext cx="1828800" cy="36576"/>
          </a:xfrm>
          <a:prstGeom prst="rect">
            <a:avLst/>
          </a:prstGeom>
          <a:solidFill>
            <a:srgbClr val="45B7AA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47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추론의 범위 요약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47</a:t>
            </a:r>
            <a:endParaRPr lang="en-US" sz="9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34440"/>
          <a:ext cx="7680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무작위 배정 있음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무작위 배정 없음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무작위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표집 있음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67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인과관계 + 일반화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(이상적이지만 매우 드묾)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연관 관계 + 일반화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(일반적 설문조사)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무작위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표집 없음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67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인과관계 (일반화 제한)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(대부분의 실험)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연관 관계 (일반화 제한)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(대부분의 관찰 연구)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31520" y="38404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좌상: 윤리적으로 처치의 무작위 배정은 자원자에게만 가능하므로 매우 드물다.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4251960"/>
            <a:ext cx="8046720" cy="548640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32511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42519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무작위 배정 → 인과관계 확립  |  무작위 표집 → 모집단으로 일반화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2.4.2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핵심 용어 정리 (1/2)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47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1920240" cy="438912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344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모집단 (population)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234440"/>
            <a:ext cx="1920240" cy="438912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2344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대상 전체 집합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1920240" cy="438912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2344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표본 (sample)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75120" y="1234440"/>
            <a:ext cx="1920240" cy="438912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12344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수집된 데이터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1737360"/>
            <a:ext cx="19202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7373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전수조사 (census)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0" y="1737360"/>
            <a:ext cx="19202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2651760" y="17373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모집단 전체 데이터 수집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1737360"/>
            <a:ext cx="19202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7373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모수 (parameter)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75120" y="1737360"/>
            <a:ext cx="19202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17373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모집단의 수치적 특성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2240280"/>
            <a:ext cx="1920240" cy="438912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24028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통계량 (statistic)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0" y="2240280"/>
            <a:ext cx="1920240" cy="438912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26" name="Text 24"/>
          <p:cNvSpPr/>
          <p:nvPr/>
        </p:nvSpPr>
        <p:spPr>
          <a:xfrm>
            <a:off x="2651760" y="224028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표본에서 계산된 값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2240280"/>
            <a:ext cx="1920240" cy="438912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224028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일화적 증거 (anecdotal)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675120" y="2240280"/>
            <a:ext cx="1920240" cy="438912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0" y="224028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즉흥적 데이터 기반 결론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2743200"/>
            <a:ext cx="19202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274320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단순무작위표본 (SRS)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0" y="2743200"/>
            <a:ext cx="19202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2651760" y="274320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케이스 동일 확률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2743200"/>
            <a:ext cx="19202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274320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층화표집 (stratified)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675120" y="2743200"/>
            <a:ext cx="19202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6766560" y="274320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층으로 나누어 추출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8640" y="3246120"/>
            <a:ext cx="1920240" cy="438912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32461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군집표집 (cluster)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60320" y="3246120"/>
            <a:ext cx="1920240" cy="438912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2" name="Text 40"/>
          <p:cNvSpPr/>
          <p:nvPr/>
        </p:nvSpPr>
        <p:spPr>
          <a:xfrm>
            <a:off x="2651760" y="32461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 선택 후 전체 조사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3246120"/>
            <a:ext cx="1920240" cy="438912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4" name="Text 42"/>
          <p:cNvSpPr/>
          <p:nvPr/>
        </p:nvSpPr>
        <p:spPr>
          <a:xfrm>
            <a:off x="4754880" y="32461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다단계표집 (multistage)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675120" y="3246120"/>
            <a:ext cx="1920240" cy="438912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6" name="Text 44"/>
          <p:cNvSpPr/>
          <p:nvPr/>
        </p:nvSpPr>
        <p:spPr>
          <a:xfrm>
            <a:off x="6766560" y="32461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 내 재표본 추출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48640" y="3749040"/>
            <a:ext cx="19202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" y="37490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편향 (bias)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560320" y="3749040"/>
            <a:ext cx="19202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2651760" y="37490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체계적 오류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63440" y="3749040"/>
            <a:ext cx="19202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4754880" y="37490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비응답 편향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675120" y="3749040"/>
            <a:ext cx="19202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6766560" y="37490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응답자 비대표성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2.4.2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핵심 용어 정리 (2/2)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47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344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(experiment)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2344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2344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연구자가 처치 배정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2344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관찰 연구 (observational)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75120" y="12344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12344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처치 없이 관찰만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1691640"/>
            <a:ext cx="19202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6916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통제 (control)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0" y="1691640"/>
            <a:ext cx="19202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2651760" y="16916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요인 최소화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1691640"/>
            <a:ext cx="19202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6916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무작위화 (randomization)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75120" y="1691640"/>
            <a:ext cx="19202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16916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그룹에 무작위 배정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21488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1488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(replication)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0" y="21488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26" name="Text 24"/>
          <p:cNvSpPr/>
          <p:nvPr/>
        </p:nvSpPr>
        <p:spPr>
          <a:xfrm>
            <a:off x="2651760" y="21488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충분한 표본 크기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21488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21488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블록화 (blocking)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675120" y="21488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0" y="21488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변동 원인 그룹화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2606040"/>
            <a:ext cx="19202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2606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교란 변수 (confounding)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0" y="2606040"/>
            <a:ext cx="19202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2651760" y="2606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설명+반응 변수 연관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2606040"/>
            <a:ext cx="19202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2606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처치군 / 대조군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675120" y="2606040"/>
            <a:ext cx="19202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6766560" y="2606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처치 받는/안 받는 그룹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8640" y="30632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30632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맹검 (blind)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60320" y="30632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2" name="Text 40"/>
          <p:cNvSpPr/>
          <p:nvPr/>
        </p:nvSpPr>
        <p:spPr>
          <a:xfrm>
            <a:off x="2651760" y="30632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환자 모름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30632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4" name="Text 42"/>
          <p:cNvSpPr/>
          <p:nvPr/>
        </p:nvSpPr>
        <p:spPr>
          <a:xfrm>
            <a:off x="4754880" y="30632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이중 맹검 (double-blind)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675120" y="30632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6" name="Text 44"/>
          <p:cNvSpPr/>
          <p:nvPr/>
        </p:nvSpPr>
        <p:spPr>
          <a:xfrm>
            <a:off x="6766560" y="30632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환자+연구자 모두 모름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48640" y="3520440"/>
            <a:ext cx="19202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" y="35204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위약 (placebo)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560320" y="3520440"/>
            <a:ext cx="19202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2651760" y="35204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가짜 처치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63440" y="3520440"/>
            <a:ext cx="19202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4754880" y="35204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위약 효과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675120" y="3520440"/>
            <a:ext cx="19202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6766560" y="35204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가짜 처치의 실제 효과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48640" y="39776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56" name="Text 54"/>
          <p:cNvSpPr/>
          <p:nvPr/>
        </p:nvSpPr>
        <p:spPr>
          <a:xfrm>
            <a:off x="640080" y="39776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전향적 (prospective)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560320" y="39776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58" name="Text 56"/>
          <p:cNvSpPr/>
          <p:nvPr/>
        </p:nvSpPr>
        <p:spPr>
          <a:xfrm>
            <a:off x="2651760" y="39776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미래 향해 관찰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663440" y="39776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60" name="Text 58"/>
          <p:cNvSpPr/>
          <p:nvPr/>
        </p:nvSpPr>
        <p:spPr>
          <a:xfrm>
            <a:off x="4754880" y="39776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후향적 (retrospective)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675120" y="39776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62" name="Text 60"/>
          <p:cNvSpPr/>
          <p:nvPr/>
        </p:nvSpPr>
        <p:spPr>
          <a:xfrm>
            <a:off x="6766560" y="39776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과거 돌아봄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연습문제 21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조명, 소음, 시험 성적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47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8046720" cy="594360"/>
          </a:xfrm>
          <a:prstGeom prst="rect">
            <a:avLst/>
          </a:prstGeom>
          <a:solidFill>
            <a:srgbClr val="E3F2F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0759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2344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조명과 소음이 시험 성적에 미치는 효과를 테스트. 안경 착용자와 비착용자를 균등 대표하고 싶다.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011680"/>
            <a:ext cx="64008" cy="566928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20848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실험 - 연구자가 처치(조명, 소음)를 배정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269748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2697480"/>
            <a:ext cx="64008" cy="566928"/>
          </a:xfrm>
          <a:prstGeom prst="rect">
            <a:avLst/>
          </a:prstGeom>
          <a:solidFill>
            <a:srgbClr val="13678A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27706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요인 2개: 조명(3수준), 소음(3수준) → 3x3=9개 처치 조합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338328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3383280"/>
            <a:ext cx="64008" cy="566928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34564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안경 착용 = 블록화 변수 (블록 내 무작위 배정)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연습문제 23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탄산음료 선호도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47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8046720" cy="594360"/>
          </a:xfrm>
          <a:prstGeom prst="rect">
            <a:avLst/>
          </a:prstGeom>
          <a:solidFill>
            <a:srgbClr val="E3F2F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0759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2344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사람들이 콜라 A와 B 중 어느 것을 선호하는지 알고 싶다. 100명의 자원자, 무작위 순서로 시음.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011680"/>
            <a:ext cx="64008" cy="566928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20848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유형: 무작위 실험 (맹검 설계)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269748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2697480"/>
            <a:ext cx="64008" cy="566928"/>
          </a:xfrm>
          <a:prstGeom prst="rect">
            <a:avLst/>
          </a:prstGeom>
          <a:solidFill>
            <a:srgbClr val="13678A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27706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순서를 무작위화하면 순서 효과(order effect) 통제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338328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3383280"/>
            <a:ext cx="64008" cy="566928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34564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무작위화 + 맹검으로 개인 선호 편향 최소화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연습문제 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치아씨드와 체중 감량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47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8046720" cy="594360"/>
          </a:xfrm>
          <a:prstGeom prst="rect">
            <a:avLst/>
          </a:prstGeom>
          <a:solidFill>
            <a:srgbClr val="E3F2F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0759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2344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76명을 성별로 블록화 후 처치군(치아씨드)/대조군(양귀비씨앗)에 배정. 12주 후 체중 변화 비교.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011680"/>
            <a:ext cx="64008" cy="566928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20848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블록화 변수: 성별 (남 38명, 여 38명)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269748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2697480"/>
            <a:ext cx="64008" cy="566928"/>
          </a:xfrm>
          <a:prstGeom prst="rect">
            <a:avLst/>
          </a:prstGeom>
          <a:solidFill>
            <a:srgbClr val="13678A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27706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이중 맹검 실험 (환자도 연구자도 모름)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338328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3383280"/>
            <a:ext cx="64008" cy="566928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34564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결과: 통계적으로 유의한 차이 없음 → 체중 감량 효과 없다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연습문제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결함 있는 추론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47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8046720" cy="594360"/>
          </a:xfrm>
          <a:prstGeom prst="rect">
            <a:avLst/>
          </a:prstGeom>
          <a:solidFill>
            <a:srgbClr val="E3F2F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0759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2344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가설적 시나리오에서 추론의 결함을 찾으라.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011680"/>
            <a:ext cx="64008" cy="566928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20848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편의 표본 → 일반화 불가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269748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2697480"/>
            <a:ext cx="64008" cy="566928"/>
          </a:xfrm>
          <a:prstGeom prst="rect">
            <a:avLst/>
          </a:prstGeom>
          <a:solidFill>
            <a:srgbClr val="13678A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27706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관찰 연구에서 인과 주장 → 교란 변수 고려 필요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338328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3383280"/>
            <a:ext cx="64008" cy="566928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34564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작은 표본 → 반복/정밀도 부족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연습문제 29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잘 먹고 기분 좋아지기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47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8046720" cy="594360"/>
          </a:xfrm>
          <a:prstGeom prst="rect">
            <a:avLst/>
          </a:prstGeom>
          <a:solidFill>
            <a:srgbClr val="E3F2F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0759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2344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식습관이 정신 건강에 미치는 영향을 연구하려 한다. 실험 설계와 관찰 설계를 각각 제안하라.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011680"/>
            <a:ext cx="64008" cy="566928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20848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실험: 참가자를 건강식단/일반식단에 무작위 배정 → 인과 가능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269748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2697480"/>
            <a:ext cx="64008" cy="566928"/>
          </a:xfrm>
          <a:prstGeom prst="rect">
            <a:avLst/>
          </a:prstGeom>
          <a:solidFill>
            <a:srgbClr val="13678A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27706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관찰: 식습관을 자가 보고 → 연관만 확인, 교란 변수(사회경제적 지위 등)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338328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3383280"/>
            <a:ext cx="64008" cy="566928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34564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실험이 더 강력하나, 장기간 식단 통제의 윤리적/실용적 어려움 존재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연습문제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풀이 핵심 요약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47</a:t>
            </a:r>
            <a:endParaRPr lang="en-US" sz="9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743200"/>
                <a:gridCol w="4389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문제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핵심 개념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요인 실험, 블록화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안경 착용 = 블록화 변수, 9개 처치 조합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맹검, 순서 효과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무작위 순서로 순서 효과 통제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블록화, 이중 맹검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치아씨드 체중 감량 효과 없음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편향, 교란 변수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관찰 → 인과 주장은 결함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실험 vs 관찰 설계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실험이 더 강력하나 윤리적 제한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제2장 학습 완료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828800" cy="36576"/>
          </a:xfrm>
          <a:prstGeom prst="rect">
            <a:avLst/>
          </a:prstGeom>
          <a:solidFill>
            <a:srgbClr val="45B7A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965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표집 방법(SRS, 층화, 군집, 다단계)이 데이터의 대표성을 결정한다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2316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423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편향(선택, 비응답, 자발적 응답)을 이해하고 피해야 한다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88036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880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무작위 실험(통제, 무작위화, 반복, 블록화)만이 인과관계를 확립한다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337560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3337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맹검과 이중 맹검으로 인간 실험에서 편향을 줄일 수 있다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794760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34440" y="3794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관찰 연구는 교란 변수 때문에 인과 추론이 불가능하다</a:t>
            </a:r>
            <a:endParaRPr lang="en-US" sz="12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251960"/>
            <a:ext cx="256032" cy="25603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234440" y="4251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추론의 범위는 무작위 배정(인과)과 무작위 표집(일반화)에 의해 결정된다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73152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OpenIntro Statistics  |  Chapter 2: Study Design  |  3시간 강의 완료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제2장 연구 설계 (3시간 강의)</dc:title>
  <dc:subject>PptxGenJS Presentation</dc:subject>
  <dc:creator>PptxGenJS</dc:creator>
  <cp:lastModifiedBy>PptxGenJS</cp:lastModifiedBy>
  <cp:revision>1</cp:revision>
  <dcterms:created xsi:type="dcterms:W3CDTF">2026-03-01T17:23:24Z</dcterms:created>
  <dcterms:modified xsi:type="dcterms:W3CDTF">2026-03-01T17:23:24Z</dcterms:modified>
</cp:coreProperties>
</file>