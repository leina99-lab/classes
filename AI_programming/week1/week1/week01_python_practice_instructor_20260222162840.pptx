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6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01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14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14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1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2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14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6695" y="0"/>
            <a:ext cx="57150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4286707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4592117"/>
            <a:ext cx="31400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코로나19 데이터로 배우는 파이썬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798418" y="4286707"/>
            <a:ext cx="1604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환경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055364" y="4592117"/>
            <a:ext cx="13057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59222" y="4286707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교수자용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59222" y="4592117"/>
            <a:ext cx="289041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01 - Instructor Guide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63" b="-63"/>
          <a:stretch/>
        </p:blipFill>
        <p:spPr>
          <a:xfrm>
            <a:off x="3798418" y="4644238"/>
            <a:ext cx="181051" cy="1901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209" b="-209"/>
          <a:stretch/>
        </p:blipFill>
        <p:spPr>
          <a:xfrm>
            <a:off x="533095" y="2037283"/>
            <a:ext cx="75895" cy="130484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1695" y="1980590"/>
            <a:ext cx="109728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파이썬 기초 ①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2830068"/>
            <a:ext cx="109728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kern="0" spc="-75" dirty="0">
                <a:solidFill>
                  <a:srgbClr val="224088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· 자료형 · 숫자 · 문자열</a:t>
            </a:r>
            <a:endParaRPr lang="en-US" sz="3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7779715" y="4305910"/>
            <a:ext cx="3650285" cy="17903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65008" y="4591202"/>
            <a:ext cx="32772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1주차 실습 예제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8065008" y="4835347"/>
            <a:ext cx="3200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today_cases </a:t>
            </a: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621328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8065008" y="5078578"/>
            <a:ext cx="3200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</a:t>
            </a: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"South Korea"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65008" y="5322722"/>
            <a:ext cx="33320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8E9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f"확진자: {today_cases:,}명"</a:t>
            </a:r>
            <a:r>
              <a:rPr lang="en-US" sz="1200" dirty="0">
                <a:solidFill>
                  <a:srgbClr val="E8E9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065008" y="5566867"/>
            <a:ext cx="3200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확진자: 621,328명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80644"/>
            <a:ext cx="333756" cy="2670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09751" y="571500"/>
            <a:ext cx="17465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 파이썬 실습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381305"/>
            <a:ext cx="13908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2240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6858000" y="761695"/>
            <a:ext cx="4572000" cy="1171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53351" y="1000354"/>
            <a:ext cx="4229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값을 변수에 저장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53351" y="1352398"/>
            <a:ext cx="41532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today_cases</a:t>
            </a: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621328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0" y="2219249"/>
            <a:ext cx="4572000" cy="2324405"/>
          </a:xfrm>
          <a:prstGeom prst="roundRect">
            <a:avLst>
              <a:gd name="adj" fmla="val 258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402" y="3143707"/>
            <a:ext cx="1638605" cy="476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4402" y="3143707"/>
            <a:ext cx="1638605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today_cases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3805" y="3209544"/>
            <a:ext cx="381305" cy="3813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239098" y="2809951"/>
            <a:ext cx="17145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50800">
            <a:solidFill>
              <a:srgbClr val="E8E9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9548165" y="3152851"/>
            <a:ext cx="1181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E9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621328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9170518" y="4695444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공간 (값 저장)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0" y="4828946"/>
            <a:ext cx="4572000" cy="1266444"/>
          </a:xfrm>
          <a:prstGeom prst="roundRect">
            <a:avLst>
              <a:gd name="adj" fmla="val 5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7010705" y="5020056"/>
            <a:ext cx="553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607601" y="5062118"/>
            <a:ext cx="20244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대입 연산자 (저장하라)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7048195" y="5458054"/>
            <a:ext cx="4190695" cy="91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0705" y="5562295"/>
            <a:ext cx="553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9684410" y="5605272"/>
            <a:ext cx="195681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연산자 (같은가?)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1642141" y="6344107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3179369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33856" y="3140964"/>
            <a:ext cx="35103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담는 </a:t>
            </a: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이름표가 붙은 상자</a:t>
            </a:r>
            <a:endParaRPr lang="en-US" sz="1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3731666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33856" y="3694176"/>
            <a:ext cx="44705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(등호)</a:t>
            </a:r>
            <a:r>
              <a:rPr lang="en-US" sz="16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'같다'가 아니라 </a:t>
            </a: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'저장하라(대입)'</a:t>
            </a:r>
            <a:r>
              <a:rPr lang="en-US" sz="16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의미</a:t>
            </a:r>
            <a:endParaRPr lang="en-US" sz="16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4598518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133856" y="4560113"/>
            <a:ext cx="47676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변수명을 통해 언제든 저장된 값을 </a:t>
            </a: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</a:t>
            </a:r>
            <a:r>
              <a:rPr lang="en-US" sz="16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</a:t>
            </a:r>
            <a:endParaRPr lang="en-US" sz="16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695" y="5150815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133856" y="5113325"/>
            <a:ext cx="26481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확인:</a:t>
            </a:r>
            <a:endParaRPr lang="en-US" sz="16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4832" y="5160874"/>
            <a:ext cx="1505102" cy="29535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084832" y="5160874"/>
            <a:ext cx="15051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type(변수명)</a:t>
            </a:r>
            <a:endParaRPr lang="en-US" sz="16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rcRect t="-209" b="-209"/>
          <a:stretch/>
        </p:blipFill>
        <p:spPr>
          <a:xfrm>
            <a:off x="533095" y="1431036"/>
            <a:ext cx="75895" cy="1367942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61695" y="1392631"/>
            <a:ext cx="50676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변수란?</a:t>
            </a:r>
            <a:endParaRPr lang="en-US" sz="4200" dirty="0"/>
          </a:p>
        </p:txBody>
      </p:sp>
      <p:sp>
        <p:nvSpPr>
          <p:cNvPr id="34" name="Text 22"/>
          <p:cNvSpPr txBox="1"/>
          <p:nvPr/>
        </p:nvSpPr>
        <p:spPr>
          <a:xfrm>
            <a:off x="761695" y="2074774"/>
            <a:ext cx="4877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Variable : 이름이 붙은 저장 공간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28" b="-228"/>
          <a:stretch/>
        </p:blipFill>
        <p:spPr>
          <a:xfrm>
            <a:off x="533095" y="609905"/>
            <a:ext cx="75895" cy="8577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571500"/>
            <a:ext cx="109728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자료형 4가지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1253642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Data Type : 데이터의 종류와 형태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761695" y="1976933"/>
            <a:ext cx="6858000" cy="5405933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976933"/>
          <a:ext cx="6857999" cy="3704782"/>
        </p:xfrm>
        <a:graphic>
          <a:graphicData uri="http://schemas.openxmlformats.org/drawingml/2006/table">
            <a:tbl>
              <a:tblPr/>
              <a:tblGrid>
                <a:gridCol w="110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3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E9E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타입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0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E9E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0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E9E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0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E9E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정수</a:t>
                      </a: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(Integer)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소수점이 없는 숫자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42, -7, 0</a:t>
                      </a:r>
                      <a:endParaRPr lang="en-US" sz="135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실수</a:t>
                      </a: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(Float)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소수점이 있는 숫자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3.14, -0.5, 2.0</a:t>
                      </a:r>
                      <a:endParaRPr lang="en-US" sz="135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34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문자열</a:t>
                      </a: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(String)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따옴표로 감싼 글자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"Hello", 'Python'</a:t>
                      </a:r>
                      <a:endParaRPr lang="en-US" sz="135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불리언</a:t>
                      </a: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(Boolean)</a:t>
                      </a:r>
                      <a:endParaRPr lang="en-US" sz="1200" dirty="0"/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참/거짓 논리값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True, False</a:t>
                      </a:r>
                      <a:endParaRPr lang="en-US" sz="135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8001000" y="1976933"/>
            <a:ext cx="3429000" cy="24094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467344" y="2205533"/>
            <a:ext cx="292516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포인트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528" r="-1528"/>
          <a:stretch/>
        </p:blipFill>
        <p:spPr>
          <a:xfrm>
            <a:off x="8229600" y="2258568"/>
            <a:ext cx="161849" cy="20939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229600" y="2634386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데이터는 자신만의 </a:t>
            </a:r>
            <a:r>
              <a:rPr lang="en-US" sz="1200" b="1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타입(Type)</a:t>
            </a:r>
            <a:r>
              <a:rPr lang="en-US" sz="12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가집니다.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8229600" y="3274466"/>
            <a:ext cx="3048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시, 숫자가 문자로 저장되어 계산이 안 되는 경우가 많으므로 타입 확인은 필수입니다.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6" r="-6"/>
          <a:stretch/>
        </p:blipFill>
        <p:spPr>
          <a:xfrm>
            <a:off x="8001000" y="4577486"/>
            <a:ext cx="3429000" cy="2805379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563356" y="4825289"/>
            <a:ext cx="28099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타입 확인 방법</a:t>
            </a:r>
            <a:endParaRPr lang="en-US" sz="16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l="-461" r="-461"/>
          <a:stretch/>
        </p:blipFill>
        <p:spPr>
          <a:xfrm>
            <a:off x="8248802" y="4877410"/>
            <a:ext cx="237744" cy="209398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248802" y="5253228"/>
            <a:ext cx="3010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type()</a:t>
            </a:r>
            <a:r>
              <a:rPr lang="en-US" sz="1200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함수를 사용하면 어떤 자료형인지 알 수 있습니다.</a:t>
            </a:r>
            <a:endParaRPr lang="en-US" sz="1200" dirty="0"/>
          </a:p>
        </p:txBody>
      </p:sp>
      <p:sp>
        <p:nvSpPr>
          <p:cNvPr id="18" name="Shape 9"/>
          <p:cNvSpPr/>
          <p:nvPr/>
        </p:nvSpPr>
        <p:spPr>
          <a:xfrm>
            <a:off x="8248802" y="5855818"/>
            <a:ext cx="2933395" cy="1285646"/>
          </a:xfrm>
          <a:prstGeom prst="roundRect">
            <a:avLst>
              <a:gd name="adj" fmla="val 421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0"/>
          <p:cNvSpPr/>
          <p:nvPr/>
        </p:nvSpPr>
        <p:spPr>
          <a:xfrm>
            <a:off x="8248802" y="5855818"/>
            <a:ext cx="38405" cy="1285646"/>
          </a:xfrm>
          <a:prstGeom prst="roundRect">
            <a:avLst>
              <a:gd name="adj" fmla="val 141093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1"/>
          <p:cNvSpPr txBox="1"/>
          <p:nvPr/>
        </p:nvSpPr>
        <p:spPr>
          <a:xfrm>
            <a:off x="8401507" y="5970118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type(42)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8401507" y="6270955"/>
            <a:ext cx="1457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'int'&gt;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8401507" y="6495898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type(3.14)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8401507" y="6796735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'float'&gt;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/>
        </p:blipFill>
        <p:spPr>
          <a:xfrm>
            <a:off x="9810598" y="4476902"/>
            <a:ext cx="2857500" cy="28575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28" b="-228"/>
          <a:stretch/>
        </p:blipFill>
        <p:spPr>
          <a:xfrm>
            <a:off x="533095" y="514807"/>
            <a:ext cx="75895" cy="8577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476402"/>
            <a:ext cx="109728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 연산자 7가지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111099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Operators : 수학과 같지만 조금 다른 파이썬 연산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61695" y="1739189"/>
            <a:ext cx="3019349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739189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1905610"/>
            <a:ext cx="476402" cy="476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0354" y="1905610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1619402" y="1881835"/>
            <a:ext cx="212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더하기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619402" y="2148840"/>
            <a:ext cx="20509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544775" y="2168042"/>
            <a:ext cx="286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919118" y="1739189"/>
            <a:ext cx="3019349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919118" y="1739189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777" y="1905610"/>
            <a:ext cx="476402" cy="476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57777" y="1905610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4776826" y="1881835"/>
            <a:ext cx="212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빼기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776826" y="2148840"/>
            <a:ext cx="20509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02198" y="2168042"/>
            <a:ext cx="181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61695" y="2691994"/>
            <a:ext cx="3019349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61695" y="2691994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2858414"/>
            <a:ext cx="476402" cy="476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0354" y="285841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1619402" y="2834640"/>
            <a:ext cx="212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곱하기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619402" y="3101645"/>
            <a:ext cx="20509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2544775" y="3119933"/>
            <a:ext cx="286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3919118" y="2691994"/>
            <a:ext cx="3019349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3919118" y="2691994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777" y="2858414"/>
            <a:ext cx="476402" cy="476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157777" y="285841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100" dirty="0"/>
          </a:p>
        </p:txBody>
      </p:sp>
      <p:sp>
        <p:nvSpPr>
          <p:cNvPr id="32" name="Text 25"/>
          <p:cNvSpPr txBox="1"/>
          <p:nvPr/>
        </p:nvSpPr>
        <p:spPr>
          <a:xfrm>
            <a:off x="4776826" y="2834640"/>
            <a:ext cx="212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나누기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975" y="2869387"/>
            <a:ext cx="828446" cy="20025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87975" y="2869387"/>
            <a:ext cx="8293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Always Float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4776826" y="3101645"/>
            <a:ext cx="20509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3.33..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5702198" y="3119933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3.33..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61695" y="3643884"/>
            <a:ext cx="3019349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761695" y="3643884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3811219"/>
            <a:ext cx="476402" cy="47640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00354" y="3811219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2100" dirty="0"/>
          </a:p>
        </p:txBody>
      </p:sp>
      <p:sp>
        <p:nvSpPr>
          <p:cNvPr id="41" name="Text 32"/>
          <p:cNvSpPr txBox="1"/>
          <p:nvPr/>
        </p:nvSpPr>
        <p:spPr>
          <a:xfrm>
            <a:off x="1619402" y="3787445"/>
            <a:ext cx="212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몫 (정수 나누기)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1619402" y="4053535"/>
            <a:ext cx="20509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2648102" y="4072738"/>
            <a:ext cx="181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3919118" y="3643884"/>
            <a:ext cx="3019349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6"/>
          <p:cNvSpPr/>
          <p:nvPr/>
        </p:nvSpPr>
        <p:spPr>
          <a:xfrm>
            <a:off x="3919118" y="3643884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777" y="3811219"/>
            <a:ext cx="476402" cy="47640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157777" y="3811219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2100" dirty="0"/>
          </a:p>
        </p:txBody>
      </p:sp>
      <p:sp>
        <p:nvSpPr>
          <p:cNvPr id="48" name="Text 38"/>
          <p:cNvSpPr txBox="1"/>
          <p:nvPr/>
        </p:nvSpPr>
        <p:spPr>
          <a:xfrm>
            <a:off x="4776826" y="3787445"/>
            <a:ext cx="212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4776826" y="4053535"/>
            <a:ext cx="20509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0"/>
          <p:cNvSpPr txBox="1"/>
          <p:nvPr/>
        </p:nvSpPr>
        <p:spPr>
          <a:xfrm>
            <a:off x="5702198" y="4072738"/>
            <a:ext cx="181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Shape 41"/>
          <p:cNvSpPr/>
          <p:nvPr/>
        </p:nvSpPr>
        <p:spPr>
          <a:xfrm>
            <a:off x="761695" y="4596689"/>
            <a:ext cx="6172200" cy="809244"/>
          </a:xfrm>
          <a:prstGeom prst="roundRect">
            <a:avLst>
              <a:gd name="adj" fmla="val 132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2"/>
          <p:cNvSpPr/>
          <p:nvPr/>
        </p:nvSpPr>
        <p:spPr>
          <a:xfrm>
            <a:off x="761695" y="4596689"/>
            <a:ext cx="47549" cy="809244"/>
          </a:xfrm>
          <a:prstGeom prst="roundRect">
            <a:avLst>
              <a:gd name="adj" fmla="val 226243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4763110"/>
            <a:ext cx="476402" cy="47640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000354" y="4763110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2100" dirty="0"/>
          </a:p>
        </p:txBody>
      </p:sp>
      <p:sp>
        <p:nvSpPr>
          <p:cNvPr id="55" name="Text 44"/>
          <p:cNvSpPr txBox="1"/>
          <p:nvPr/>
        </p:nvSpPr>
        <p:spPr>
          <a:xfrm>
            <a:off x="1619402" y="4739335"/>
            <a:ext cx="5315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거듭제곱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1619402" y="5006340"/>
            <a:ext cx="5239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4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** 3 = </a:t>
            </a:r>
            <a:r>
              <a:rPr lang="en-US" sz="1300" b="1" dirty="0">
                <a:solidFill>
                  <a:srgbClr val="F573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1300" dirty="0"/>
          </a:p>
        </p:txBody>
      </p:sp>
      <p:sp>
        <p:nvSpPr>
          <p:cNvPr id="58" name="Shape 47"/>
          <p:cNvSpPr/>
          <p:nvPr/>
        </p:nvSpPr>
        <p:spPr>
          <a:xfrm>
            <a:off x="7315200" y="1739189"/>
            <a:ext cx="4114800" cy="1314907"/>
          </a:xfrm>
          <a:prstGeom prst="roundRect">
            <a:avLst>
              <a:gd name="adj" fmla="val 6047"/>
            </a:avLst>
          </a:prstGeom>
          <a:solidFill>
            <a:srgbClr val="FFF5F5"/>
          </a:solidFill>
          <a:ln w="254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39298" y="1615745"/>
            <a:ext cx="381305" cy="381305"/>
          </a:xfrm>
          <a:prstGeom prst="rect">
            <a:avLst/>
          </a:prstGeom>
        </p:spPr>
      </p:pic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7"/>
          <a:srcRect l="-9615" r="-9615"/>
          <a:stretch/>
        </p:blipFill>
        <p:spPr>
          <a:xfrm>
            <a:off x="11015777" y="1710842"/>
            <a:ext cx="28346" cy="190195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7524598" y="194858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나누기 ( / )</a:t>
            </a:r>
            <a:endParaRPr lang="en-US" sz="1500" dirty="0"/>
          </a:p>
        </p:txBody>
      </p:sp>
      <p:sp>
        <p:nvSpPr>
          <p:cNvPr id="62" name="Text 49"/>
          <p:cNvSpPr txBox="1"/>
          <p:nvPr/>
        </p:nvSpPr>
        <p:spPr>
          <a:xfrm>
            <a:off x="7524598" y="2329891"/>
            <a:ext cx="37719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파이썬에서 </a:t>
            </a:r>
            <a:r>
              <a:rPr lang="en-US" sz="1200" b="1" dirty="0">
                <a:solidFill>
                  <a:srgbClr val="742A2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</a:t>
            </a:r>
            <a:r>
              <a:rPr lang="en-US" sz="1200" dirty="0">
                <a:solidFill>
                  <a:srgbClr val="74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연산자는 항상 </a:t>
            </a:r>
            <a:r>
              <a:rPr lang="en-US" sz="1200" b="1" dirty="0">
                <a:solidFill>
                  <a:srgbClr val="74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실수(float)</a:t>
            </a:r>
            <a:r>
              <a:rPr lang="en-US" sz="1200" dirty="0">
                <a:solidFill>
                  <a:srgbClr val="74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반환합니다.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4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(2가 아님!) </a:t>
            </a:r>
            <a:endParaRPr lang="en-US" sz="12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598" y="2644445"/>
            <a:ext cx="1181405" cy="171907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7524598" y="2644445"/>
            <a:ext cx="1181405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42A2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 / 5 = 2.0</a:t>
            </a:r>
            <a:endParaRPr lang="en-US" sz="1200" dirty="0"/>
          </a:p>
        </p:txBody>
      </p:sp>
      <p:sp>
        <p:nvSpPr>
          <p:cNvPr id="65" name="Shape 51"/>
          <p:cNvSpPr/>
          <p:nvPr/>
        </p:nvSpPr>
        <p:spPr>
          <a:xfrm>
            <a:off x="7315200" y="3244291"/>
            <a:ext cx="4114800" cy="3638398"/>
          </a:xfrm>
          <a:prstGeom prst="roundRect">
            <a:avLst>
              <a:gd name="adj" fmla="val 789"/>
            </a:avLst>
          </a:prstGeom>
          <a:solidFill>
            <a:srgbClr val="2240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2"/>
          <p:cNvSpPr txBox="1"/>
          <p:nvPr/>
        </p:nvSpPr>
        <p:spPr>
          <a:xfrm>
            <a:off x="7772400" y="3482035"/>
            <a:ext cx="36100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실전 활용: 단위 변환</a:t>
            </a:r>
            <a:endParaRPr lang="en-US" sz="1500" dirty="0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552944" y="3529584"/>
            <a:ext cx="142646" cy="190195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7552944" y="3910889"/>
            <a:ext cx="3753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확진자 24,591,073명을 '만 명' 단위로?</a:t>
            </a:r>
            <a:endParaRPr lang="en-US" sz="1000" dirty="0"/>
          </a:p>
        </p:txBody>
      </p:sp>
      <p:sp>
        <p:nvSpPr>
          <p:cNvPr id="69" name="Shape 54"/>
          <p:cNvSpPr/>
          <p:nvPr/>
        </p:nvSpPr>
        <p:spPr>
          <a:xfrm>
            <a:off x="7552944" y="4215384"/>
            <a:ext cx="3638398" cy="1809598"/>
          </a:xfrm>
          <a:prstGeom prst="roundRect">
            <a:avLst>
              <a:gd name="adj" fmla="val 212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5"/>
          <p:cNvSpPr/>
          <p:nvPr/>
        </p:nvSpPr>
        <p:spPr>
          <a:xfrm>
            <a:off x="7552944" y="4215384"/>
            <a:ext cx="38405" cy="1809598"/>
          </a:xfrm>
          <a:prstGeom prst="roundRect">
            <a:avLst>
              <a:gd name="adj" fmla="val 100250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6"/>
          <p:cNvSpPr txBox="1"/>
          <p:nvPr/>
        </p:nvSpPr>
        <p:spPr>
          <a:xfrm>
            <a:off x="7733995" y="4377233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200" dirty="0"/>
          </a:p>
        </p:txBody>
      </p:sp>
      <p:sp>
        <p:nvSpPr>
          <p:cNvPr id="72" name="Text 57"/>
          <p:cNvSpPr txBox="1"/>
          <p:nvPr/>
        </p:nvSpPr>
        <p:spPr>
          <a:xfrm>
            <a:off x="8283550" y="4377233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200" dirty="0"/>
          </a:p>
        </p:txBody>
      </p:sp>
      <p:sp>
        <p:nvSpPr>
          <p:cNvPr id="73" name="Text 58"/>
          <p:cNvSpPr txBox="1"/>
          <p:nvPr/>
        </p:nvSpPr>
        <p:spPr>
          <a:xfrm>
            <a:off x="8466430" y="4377233"/>
            <a:ext cx="810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24591073</a:t>
            </a:r>
            <a:endParaRPr lang="en-US" sz="1200" dirty="0"/>
          </a:p>
        </p:txBody>
      </p:sp>
      <p:sp>
        <p:nvSpPr>
          <p:cNvPr id="74" name="Text 59"/>
          <p:cNvSpPr txBox="1"/>
          <p:nvPr/>
        </p:nvSpPr>
        <p:spPr>
          <a:xfrm>
            <a:off x="7733995" y="4682642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몫(//)으로 만 단위 구하기</a:t>
            </a:r>
            <a:endParaRPr lang="en-US" sz="1200" dirty="0"/>
          </a:p>
        </p:txBody>
      </p:sp>
      <p:sp>
        <p:nvSpPr>
          <p:cNvPr id="75" name="Text 60"/>
          <p:cNvSpPr txBox="1"/>
          <p:nvPr/>
        </p:nvSpPr>
        <p:spPr>
          <a:xfrm>
            <a:off x="7733995" y="4987138"/>
            <a:ext cx="352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endParaRPr lang="en-US" sz="1200" dirty="0"/>
          </a:p>
        </p:txBody>
      </p:sp>
      <p:sp>
        <p:nvSpPr>
          <p:cNvPr id="76" name="Text 61"/>
          <p:cNvSpPr txBox="1"/>
          <p:nvPr/>
        </p:nvSpPr>
        <p:spPr>
          <a:xfrm>
            <a:off x="8100670" y="4987138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200" dirty="0"/>
          </a:p>
        </p:txBody>
      </p:sp>
      <p:sp>
        <p:nvSpPr>
          <p:cNvPr id="77" name="Text 62"/>
          <p:cNvSpPr txBox="1"/>
          <p:nvPr/>
        </p:nvSpPr>
        <p:spPr>
          <a:xfrm>
            <a:off x="8283550" y="4987138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200" dirty="0"/>
          </a:p>
        </p:txBody>
      </p:sp>
      <p:sp>
        <p:nvSpPr>
          <p:cNvPr id="78" name="Text 63"/>
          <p:cNvSpPr txBox="1"/>
          <p:nvPr/>
        </p:nvSpPr>
        <p:spPr>
          <a:xfrm>
            <a:off x="8832190" y="4987138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200" dirty="0"/>
          </a:p>
        </p:txBody>
      </p:sp>
      <p:sp>
        <p:nvSpPr>
          <p:cNvPr id="79" name="Text 64"/>
          <p:cNvSpPr txBox="1"/>
          <p:nvPr/>
        </p:nvSpPr>
        <p:spPr>
          <a:xfrm>
            <a:off x="9106510" y="4987138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200" dirty="0"/>
          </a:p>
        </p:txBody>
      </p:sp>
      <p:sp>
        <p:nvSpPr>
          <p:cNvPr id="80" name="Text 65"/>
          <p:cNvSpPr txBox="1"/>
          <p:nvPr/>
        </p:nvSpPr>
        <p:spPr>
          <a:xfrm>
            <a:off x="9655150" y="4987138"/>
            <a:ext cx="629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2459</a:t>
            </a:r>
            <a:endParaRPr lang="en-US" sz="1200" dirty="0"/>
          </a:p>
        </p:txBody>
      </p:sp>
      <p:sp>
        <p:nvSpPr>
          <p:cNvPr id="81" name="Text 66"/>
          <p:cNvSpPr txBox="1"/>
          <p:nvPr/>
        </p:nvSpPr>
        <p:spPr>
          <a:xfrm>
            <a:off x="7733995" y="5291633"/>
            <a:ext cx="23454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나머지(%)로 뒷자리 구하기</a:t>
            </a:r>
            <a:endParaRPr lang="en-US" sz="1200" dirty="0"/>
          </a:p>
        </p:txBody>
      </p:sp>
      <p:sp>
        <p:nvSpPr>
          <p:cNvPr id="82" name="Text 67"/>
          <p:cNvSpPr txBox="1"/>
          <p:nvPr/>
        </p:nvSpPr>
        <p:spPr>
          <a:xfrm>
            <a:off x="7733995" y="5597042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1200" dirty="0"/>
          </a:p>
        </p:txBody>
      </p:sp>
      <p:sp>
        <p:nvSpPr>
          <p:cNvPr id="83" name="Text 68"/>
          <p:cNvSpPr txBox="1"/>
          <p:nvPr/>
        </p:nvSpPr>
        <p:spPr>
          <a:xfrm>
            <a:off x="8191195" y="5597042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200" dirty="0"/>
          </a:p>
        </p:txBody>
      </p:sp>
      <p:sp>
        <p:nvSpPr>
          <p:cNvPr id="84" name="Text 69"/>
          <p:cNvSpPr txBox="1"/>
          <p:nvPr/>
        </p:nvSpPr>
        <p:spPr>
          <a:xfrm>
            <a:off x="8374990" y="5597042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200" dirty="0"/>
          </a:p>
        </p:txBody>
      </p:sp>
      <p:sp>
        <p:nvSpPr>
          <p:cNvPr id="85" name="Text 70"/>
          <p:cNvSpPr txBox="1"/>
          <p:nvPr/>
        </p:nvSpPr>
        <p:spPr>
          <a:xfrm>
            <a:off x="8923630" y="5597042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200" dirty="0"/>
          </a:p>
        </p:txBody>
      </p:sp>
      <p:sp>
        <p:nvSpPr>
          <p:cNvPr id="86" name="Text 71"/>
          <p:cNvSpPr txBox="1"/>
          <p:nvPr/>
        </p:nvSpPr>
        <p:spPr>
          <a:xfrm>
            <a:off x="9106510" y="5597042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200" dirty="0"/>
          </a:p>
        </p:txBody>
      </p:sp>
      <p:sp>
        <p:nvSpPr>
          <p:cNvPr id="87" name="Text 72"/>
          <p:cNvSpPr txBox="1"/>
          <p:nvPr/>
        </p:nvSpPr>
        <p:spPr>
          <a:xfrm>
            <a:off x="9655150" y="5597042"/>
            <a:ext cx="629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1073</a:t>
            </a:r>
            <a:endParaRPr lang="en-US" sz="1200" dirty="0"/>
          </a:p>
        </p:txBody>
      </p:sp>
      <p:sp>
        <p:nvSpPr>
          <p:cNvPr id="88" name="Shape 73"/>
          <p:cNvSpPr/>
          <p:nvPr/>
        </p:nvSpPr>
        <p:spPr>
          <a:xfrm>
            <a:off x="7552944" y="6168542"/>
            <a:ext cx="3638398" cy="476402"/>
          </a:xfrm>
          <a:prstGeom prst="roundRect">
            <a:avLst>
              <a:gd name="adj" fmla="val 3071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74"/>
          <p:cNvSpPr txBox="1"/>
          <p:nvPr/>
        </p:nvSpPr>
        <p:spPr>
          <a:xfrm>
            <a:off x="8656625" y="6263640"/>
            <a:ext cx="5056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2459</a:t>
            </a:r>
            <a:endParaRPr lang="en-US" sz="1500" dirty="0"/>
          </a:p>
        </p:txBody>
      </p:sp>
      <p:sp>
        <p:nvSpPr>
          <p:cNvPr id="90" name="Text 75"/>
          <p:cNvSpPr txBox="1"/>
          <p:nvPr/>
        </p:nvSpPr>
        <p:spPr>
          <a:xfrm>
            <a:off x="9155887" y="629198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1200" dirty="0"/>
          </a:p>
        </p:txBody>
      </p:sp>
      <p:sp>
        <p:nvSpPr>
          <p:cNvPr id="91" name="Text 76"/>
          <p:cNvSpPr txBox="1"/>
          <p:nvPr/>
        </p:nvSpPr>
        <p:spPr>
          <a:xfrm>
            <a:off x="9372600" y="6263640"/>
            <a:ext cx="5056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1073</a:t>
            </a:r>
            <a:endParaRPr lang="en-US" sz="1500" dirty="0"/>
          </a:p>
        </p:txBody>
      </p:sp>
      <p:sp>
        <p:nvSpPr>
          <p:cNvPr id="92" name="Text 77"/>
          <p:cNvSpPr txBox="1"/>
          <p:nvPr/>
        </p:nvSpPr>
        <p:spPr>
          <a:xfrm>
            <a:off x="9871862" y="629198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sz="1200" dirty="0"/>
          </a:p>
        </p:txBody>
      </p:sp>
      <p:sp>
        <p:nvSpPr>
          <p:cNvPr id="93" name="Text 78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28" b="-228"/>
          <a:stretch/>
        </p:blipFill>
        <p:spPr>
          <a:xfrm>
            <a:off x="533095" y="514807"/>
            <a:ext cx="75895" cy="8577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476402"/>
            <a:ext cx="109728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핵심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111099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String Operations : 인덱싱, 슬라이싱, 메서드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61695" y="1739189"/>
            <a:ext cx="5820156" cy="3161995"/>
          </a:xfrm>
          <a:prstGeom prst="roundRect">
            <a:avLst>
              <a:gd name="adj" fmla="val 10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224088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2339035"/>
            <a:ext cx="5438851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52805" y="193487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8700" y="2010766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929384"/>
            <a:ext cx="231251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인덱싱 (Indexing)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2500884"/>
            <a:ext cx="5629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문자열의 특정 위치 글자를 쏙 뽑아내기 (0부터 시작!)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1390" y="2834640"/>
            <a:ext cx="381305" cy="3813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31390" y="283464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587752" y="3263494"/>
            <a:ext cx="143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563978" y="3482035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-6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185" y="2834640"/>
            <a:ext cx="381305" cy="3813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50185" y="283464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y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3007462" y="3263494"/>
            <a:ext cx="143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983687" y="3482035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-5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980" y="2834640"/>
            <a:ext cx="381305" cy="3813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68980" y="283464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3426257" y="3263494"/>
            <a:ext cx="143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3402482" y="3482035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-4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690" y="2834640"/>
            <a:ext cx="381305" cy="38130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88690" y="283464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h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3845052" y="3263494"/>
            <a:ext cx="143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3821278" y="3482035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-3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485" y="2834640"/>
            <a:ext cx="381305" cy="38130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107485" y="283464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4264762" y="3263494"/>
            <a:ext cx="143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4240987" y="3482035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-2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834640"/>
            <a:ext cx="381305" cy="38130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526280" y="283464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</a:t>
            </a:r>
            <a:endParaRPr lang="en-US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4683557" y="3263494"/>
            <a:ext cx="143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4659782" y="3482035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-1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3796589"/>
            <a:ext cx="5438851" cy="9144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46404" y="3781043"/>
            <a:ext cx="5438851" cy="962864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F5732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 = "Python“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print(s[0])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'P' print(s[-1]) </a:t>
            </a:r>
          </a:p>
        </p:txBody>
      </p:sp>
      <p:sp>
        <p:nvSpPr>
          <p:cNvPr id="39" name="Text 28"/>
          <p:cNvSpPr txBox="1"/>
          <p:nvPr/>
        </p:nvSpPr>
        <p:spPr>
          <a:xfrm>
            <a:off x="4784598" y="4018075"/>
            <a:ext cx="1334567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‘P’(</a:t>
            </a:r>
            <a:r>
              <a:rPr lang="ko-KR" altLang="en-US" sz="1200" dirty="0" err="1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첫번째글자</a:t>
            </a:r>
            <a:r>
              <a:rPr lang="en-US" altLang="ko-KR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)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4743451" y="4293765"/>
            <a:ext cx="15617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'n' (마지막 글자)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761695" y="5092294"/>
            <a:ext cx="5820156" cy="2400300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224088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952805" y="5692140"/>
            <a:ext cx="5438851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2"/>
          <p:cNvSpPr/>
          <p:nvPr/>
        </p:nvSpPr>
        <p:spPr>
          <a:xfrm>
            <a:off x="952805" y="528706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700" y="5363870"/>
            <a:ext cx="152705" cy="15270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371600" y="5282489"/>
            <a:ext cx="230154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슬라이싱 (Slicing)</a:t>
            </a:r>
            <a:endParaRPr lang="en-US" sz="1600" dirty="0"/>
          </a:p>
        </p:txBody>
      </p:sp>
      <p:sp>
        <p:nvSpPr>
          <p:cNvPr id="46" name="Text 34"/>
          <p:cNvSpPr txBox="1"/>
          <p:nvPr/>
        </p:nvSpPr>
        <p:spPr>
          <a:xfrm>
            <a:off x="952805" y="5853989"/>
            <a:ext cx="56299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범위를 지정해 문자열 자르기:</a:t>
            </a:r>
            <a:endParaRPr lang="en-US" sz="10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1526" y="5892394"/>
            <a:ext cx="1152144" cy="152705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2611526" y="5892394"/>
            <a:ext cx="1153058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s[시작:끝:간격]</a:t>
            </a:r>
            <a:endParaRPr lang="en-US" sz="1000" dirty="0"/>
          </a:p>
        </p:txBody>
      </p:sp>
      <p:sp>
        <p:nvSpPr>
          <p:cNvPr id="49" name="Text 36"/>
          <p:cNvSpPr txBox="1"/>
          <p:nvPr/>
        </p:nvSpPr>
        <p:spPr>
          <a:xfrm>
            <a:off x="952805" y="6140196"/>
            <a:ext cx="5629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주의: '끝' 인덱스는 포함하지 않음!</a:t>
            </a:r>
            <a:endParaRPr lang="en-US" sz="9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9"/>
          <a:srcRect t="-406" b="-406"/>
          <a:stretch/>
        </p:blipFill>
        <p:spPr>
          <a:xfrm>
            <a:off x="1476756" y="6854342"/>
            <a:ext cx="1238098" cy="19202"/>
          </a:xfrm>
          <a:prstGeom prst="rect">
            <a:avLst/>
          </a:prstGeom>
        </p:spPr>
      </p:pic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9598" y="6663233"/>
            <a:ext cx="400507" cy="171907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1809598" y="6663233"/>
            <a:ext cx="400507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s[0:3]</a:t>
            </a:r>
            <a:endParaRPr lang="en-US" sz="9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6387084"/>
            <a:ext cx="5438851" cy="91440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952805" y="6387084"/>
            <a:ext cx="5438851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F5732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s[0:3]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s[2:]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s[::-1] </a:t>
            </a:r>
            <a:endParaRPr lang="en-US" sz="1200" dirty="0"/>
          </a:p>
        </p:txBody>
      </p:sp>
      <p:sp>
        <p:nvSpPr>
          <p:cNvPr id="55" name="Text 39"/>
          <p:cNvSpPr txBox="1"/>
          <p:nvPr/>
        </p:nvSpPr>
        <p:spPr>
          <a:xfrm>
            <a:off x="4077143" y="6572707"/>
            <a:ext cx="1667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'Pyt' (0,1,2번만)</a:t>
            </a:r>
            <a:endParaRPr lang="en-US" sz="1200" dirty="0"/>
          </a:p>
        </p:txBody>
      </p:sp>
      <p:sp>
        <p:nvSpPr>
          <p:cNvPr id="56" name="Text 40"/>
          <p:cNvSpPr txBox="1"/>
          <p:nvPr/>
        </p:nvSpPr>
        <p:spPr>
          <a:xfrm>
            <a:off x="4044391" y="6709408"/>
            <a:ext cx="20747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'thon' (2번부터 끝까지)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4033676" y="6940753"/>
            <a:ext cx="16322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'nohtyP' (거꾸로)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6957670" y="1739189"/>
            <a:ext cx="4476902" cy="5753405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224088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3"/>
          <p:cNvSpPr/>
          <p:nvPr/>
        </p:nvSpPr>
        <p:spPr>
          <a:xfrm>
            <a:off x="6957670" y="1739189"/>
            <a:ext cx="4476902" cy="47549"/>
          </a:xfrm>
          <a:prstGeom prst="roundRect">
            <a:avLst>
              <a:gd name="adj" fmla="val 49100"/>
            </a:avLst>
          </a:prstGeom>
          <a:solidFill>
            <a:srgbClr val="C026D3"/>
          </a:solidFill>
          <a:ln w="12700">
            <a:solidFill>
              <a:srgbClr val="C026D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4"/>
          <p:cNvSpPr/>
          <p:nvPr/>
        </p:nvSpPr>
        <p:spPr>
          <a:xfrm>
            <a:off x="7147865" y="2386584"/>
            <a:ext cx="4095598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5"/>
          <p:cNvSpPr/>
          <p:nvPr/>
        </p:nvSpPr>
        <p:spPr>
          <a:xfrm>
            <a:off x="7147865" y="198241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223760" y="2058314"/>
            <a:ext cx="152705" cy="152705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7566660" y="1976933"/>
            <a:ext cx="28337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주요 메서드 (Methods)</a:t>
            </a:r>
            <a:endParaRPr lang="en-US" sz="1600" dirty="0"/>
          </a:p>
        </p:txBody>
      </p:sp>
      <p:sp>
        <p:nvSpPr>
          <p:cNvPr id="64" name="Text 47"/>
          <p:cNvSpPr txBox="1"/>
          <p:nvPr/>
        </p:nvSpPr>
        <p:spPr>
          <a:xfrm>
            <a:off x="7147865" y="2548433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뒤에 을 찍어 사용하는 편리한 도구들</a:t>
            </a:r>
            <a:endParaRPr lang="en-US" sz="1000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6408" y="2586838"/>
            <a:ext cx="161849" cy="152705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7836408" y="2586838"/>
            <a:ext cx="162763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000" dirty="0"/>
          </a:p>
        </p:txBody>
      </p:sp>
      <p:sp>
        <p:nvSpPr>
          <p:cNvPr id="67" name="Shape 49"/>
          <p:cNvSpPr/>
          <p:nvPr/>
        </p:nvSpPr>
        <p:spPr>
          <a:xfrm>
            <a:off x="7147865" y="2910535"/>
            <a:ext cx="1990649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0"/>
          <p:cNvSpPr txBox="1"/>
          <p:nvPr/>
        </p:nvSpPr>
        <p:spPr>
          <a:xfrm>
            <a:off x="7271309" y="303489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.strip()</a:t>
            </a:r>
            <a:endParaRPr lang="en-US" sz="1200" dirty="0"/>
          </a:p>
        </p:txBody>
      </p:sp>
      <p:sp>
        <p:nvSpPr>
          <p:cNvPr id="69" name="Text 51"/>
          <p:cNvSpPr txBox="1"/>
          <p:nvPr/>
        </p:nvSpPr>
        <p:spPr>
          <a:xfrm>
            <a:off x="7271309" y="3330245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양쪽 공백 제거</a:t>
            </a:r>
            <a:endParaRPr lang="en-US" sz="1000" dirty="0"/>
          </a:p>
        </p:txBody>
      </p:sp>
      <p:sp>
        <p:nvSpPr>
          <p:cNvPr id="70" name="Shape 52"/>
          <p:cNvSpPr/>
          <p:nvPr/>
        </p:nvSpPr>
        <p:spPr>
          <a:xfrm>
            <a:off x="9250985" y="2910535"/>
            <a:ext cx="1990649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3"/>
          <p:cNvSpPr txBox="1"/>
          <p:nvPr/>
        </p:nvSpPr>
        <p:spPr>
          <a:xfrm>
            <a:off x="9374429" y="303489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.split()</a:t>
            </a:r>
            <a:endParaRPr lang="en-US" sz="1200" dirty="0"/>
          </a:p>
        </p:txBody>
      </p:sp>
      <p:sp>
        <p:nvSpPr>
          <p:cNvPr id="72" name="Text 54"/>
          <p:cNvSpPr txBox="1"/>
          <p:nvPr/>
        </p:nvSpPr>
        <p:spPr>
          <a:xfrm>
            <a:off x="9374429" y="3330245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공백/문자 기준 나누기</a:t>
            </a:r>
            <a:endParaRPr lang="en-US" sz="1000" dirty="0"/>
          </a:p>
        </p:txBody>
      </p:sp>
      <p:sp>
        <p:nvSpPr>
          <p:cNvPr id="73" name="Shape 55"/>
          <p:cNvSpPr/>
          <p:nvPr/>
        </p:nvSpPr>
        <p:spPr>
          <a:xfrm>
            <a:off x="7147865" y="3768242"/>
            <a:ext cx="1990649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56"/>
          <p:cNvSpPr txBox="1"/>
          <p:nvPr/>
        </p:nvSpPr>
        <p:spPr>
          <a:xfrm>
            <a:off x="7271309" y="389168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.replace(a, b)</a:t>
            </a:r>
            <a:endParaRPr lang="en-US" sz="1200" dirty="0"/>
          </a:p>
        </p:txBody>
      </p:sp>
      <p:sp>
        <p:nvSpPr>
          <p:cNvPr id="75" name="Text 57"/>
          <p:cNvSpPr txBox="1"/>
          <p:nvPr/>
        </p:nvSpPr>
        <p:spPr>
          <a:xfrm>
            <a:off x="7271309" y="4187038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a를 b로 바꾸기</a:t>
            </a:r>
            <a:endParaRPr lang="en-US" sz="1000" dirty="0"/>
          </a:p>
        </p:txBody>
      </p:sp>
      <p:sp>
        <p:nvSpPr>
          <p:cNvPr id="76" name="Shape 58"/>
          <p:cNvSpPr/>
          <p:nvPr/>
        </p:nvSpPr>
        <p:spPr>
          <a:xfrm>
            <a:off x="9250985" y="3768242"/>
            <a:ext cx="1990649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59"/>
          <p:cNvSpPr txBox="1"/>
          <p:nvPr/>
        </p:nvSpPr>
        <p:spPr>
          <a:xfrm>
            <a:off x="9374429" y="389168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.find('a')</a:t>
            </a:r>
            <a:endParaRPr lang="en-US" sz="1200" dirty="0"/>
          </a:p>
        </p:txBody>
      </p:sp>
      <p:sp>
        <p:nvSpPr>
          <p:cNvPr id="78" name="Text 60"/>
          <p:cNvSpPr txBox="1"/>
          <p:nvPr/>
        </p:nvSpPr>
        <p:spPr>
          <a:xfrm>
            <a:off x="9374429" y="4187038"/>
            <a:ext cx="14173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찾기 (없으면 -1)</a:t>
            </a:r>
            <a:endParaRPr lang="en-US" sz="1000" dirty="0"/>
          </a:p>
        </p:txBody>
      </p:sp>
      <p:sp>
        <p:nvSpPr>
          <p:cNvPr id="79" name="Shape 61"/>
          <p:cNvSpPr/>
          <p:nvPr/>
        </p:nvSpPr>
        <p:spPr>
          <a:xfrm>
            <a:off x="7147865" y="4625035"/>
            <a:ext cx="1990649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62"/>
          <p:cNvSpPr txBox="1"/>
          <p:nvPr/>
        </p:nvSpPr>
        <p:spPr>
          <a:xfrm>
            <a:off x="7271309" y="474939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.upper()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7271309" y="5044745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대문자로 변환</a:t>
            </a:r>
            <a:endParaRPr lang="en-US" sz="1000" dirty="0"/>
          </a:p>
        </p:txBody>
      </p:sp>
      <p:sp>
        <p:nvSpPr>
          <p:cNvPr id="82" name="Shape 64"/>
          <p:cNvSpPr/>
          <p:nvPr/>
        </p:nvSpPr>
        <p:spPr>
          <a:xfrm>
            <a:off x="9250985" y="4625035"/>
            <a:ext cx="1990649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65"/>
          <p:cNvSpPr txBox="1"/>
          <p:nvPr/>
        </p:nvSpPr>
        <p:spPr>
          <a:xfrm>
            <a:off x="9374429" y="474939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.lower()</a:t>
            </a:r>
            <a:endParaRPr lang="en-US" sz="1200" dirty="0"/>
          </a:p>
        </p:txBody>
      </p:sp>
      <p:sp>
        <p:nvSpPr>
          <p:cNvPr id="84" name="Text 66"/>
          <p:cNvSpPr txBox="1"/>
          <p:nvPr/>
        </p:nvSpPr>
        <p:spPr>
          <a:xfrm>
            <a:off x="9374429" y="5044745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소문자로 변환</a:t>
            </a:r>
            <a:endParaRPr lang="en-US" sz="1000" dirty="0"/>
          </a:p>
        </p:txBody>
      </p:sp>
      <p:sp>
        <p:nvSpPr>
          <p:cNvPr id="85" name="Shape 67"/>
          <p:cNvSpPr/>
          <p:nvPr/>
        </p:nvSpPr>
        <p:spPr>
          <a:xfrm>
            <a:off x="7147865" y="5482742"/>
            <a:ext cx="4095598" cy="743407"/>
          </a:xfrm>
          <a:prstGeom prst="roundRect">
            <a:avLst>
              <a:gd name="adj" fmla="val 126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68"/>
          <p:cNvSpPr txBox="1"/>
          <p:nvPr/>
        </p:nvSpPr>
        <p:spPr>
          <a:xfrm>
            <a:off x="7271309" y="5606186"/>
            <a:ext cx="396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26D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.count('a')</a:t>
            </a:r>
            <a:endParaRPr lang="en-US" sz="1200" dirty="0"/>
          </a:p>
        </p:txBody>
      </p:sp>
      <p:sp>
        <p:nvSpPr>
          <p:cNvPr id="87" name="Text 69"/>
          <p:cNvSpPr txBox="1"/>
          <p:nvPr/>
        </p:nvSpPr>
        <p:spPr>
          <a:xfrm>
            <a:off x="7271309" y="5901538"/>
            <a:ext cx="2070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문자가 몇 개 있는지 세기</a:t>
            </a:r>
            <a:endParaRPr lang="en-US" sz="1000" dirty="0"/>
          </a:p>
        </p:txBody>
      </p:sp>
      <p:sp>
        <p:nvSpPr>
          <p:cNvPr id="88" name="Shape 70"/>
          <p:cNvSpPr/>
          <p:nvPr/>
        </p:nvSpPr>
        <p:spPr>
          <a:xfrm>
            <a:off x="7147865" y="6377940"/>
            <a:ext cx="4095598" cy="743407"/>
          </a:xfrm>
          <a:prstGeom prst="roundRect">
            <a:avLst>
              <a:gd name="adj" fmla="val 1261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71"/>
          <p:cNvSpPr txBox="1"/>
          <p:nvPr/>
        </p:nvSpPr>
        <p:spPr>
          <a:xfrm>
            <a:off x="7426757" y="6501384"/>
            <a:ext cx="38075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 Tip</a:t>
            </a:r>
            <a:endParaRPr lang="en-US" sz="900" dirty="0"/>
          </a:p>
        </p:txBody>
      </p:sp>
      <p:pic>
        <p:nvPicPr>
          <p:cNvPr id="90" name="Image 16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7271309" y="6525158"/>
            <a:ext cx="85954" cy="114300"/>
          </a:xfrm>
          <a:prstGeom prst="rect">
            <a:avLst/>
          </a:prstGeom>
        </p:spPr>
      </p:pic>
      <p:sp>
        <p:nvSpPr>
          <p:cNvPr id="91" name="Text 72"/>
          <p:cNvSpPr txBox="1"/>
          <p:nvPr/>
        </p:nvSpPr>
        <p:spPr>
          <a:xfrm>
            <a:off x="7271309" y="6692494"/>
            <a:ext cx="39246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전처리(정제) 과정에서 가장 많이 사용되는 기능들입니다. 특히 공백 제거와 문자열 분리는 필수!</a:t>
            </a:r>
            <a:endParaRPr lang="en-US" sz="900" dirty="0"/>
          </a:p>
        </p:txBody>
      </p:sp>
      <p:sp>
        <p:nvSpPr>
          <p:cNvPr id="92" name="Text 73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28" b="-228"/>
          <a:stretch/>
        </p:blipFill>
        <p:spPr>
          <a:xfrm>
            <a:off x="533095" y="514807"/>
            <a:ext cx="75895" cy="8577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476402"/>
            <a:ext cx="10858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f-string 포맷팅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111099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Formatted String Literals : 파이썬 출력의 핵심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761695" y="1739189"/>
            <a:ext cx="5143500" cy="21808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14907" y="1976933"/>
            <a:ext cx="4543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문법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354" y="2025396"/>
            <a:ext cx="2377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2405786"/>
            <a:ext cx="4667098" cy="7242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0354" y="2405786"/>
            <a:ext cx="4668012" cy="7242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E8E9E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 "문자열 { 변수/식 } "</a:t>
            </a:r>
            <a:endParaRPr lang="en-US" sz="2100" dirty="0"/>
          </a:p>
        </p:txBody>
      </p:sp>
      <p:sp>
        <p:nvSpPr>
          <p:cNvPr id="12" name="Text 6"/>
          <p:cNvSpPr txBox="1"/>
          <p:nvPr/>
        </p:nvSpPr>
        <p:spPr>
          <a:xfrm>
            <a:off x="2028139" y="2634386"/>
            <a:ext cx="219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</a:t>
            </a:r>
            <a:endParaRPr lang="en-US" sz="2100" dirty="0"/>
          </a:p>
        </p:txBody>
      </p:sp>
      <p:sp>
        <p:nvSpPr>
          <p:cNvPr id="13" name="Text 7"/>
          <p:cNvSpPr txBox="1"/>
          <p:nvPr/>
        </p:nvSpPr>
        <p:spPr>
          <a:xfrm>
            <a:off x="3228746" y="2634386"/>
            <a:ext cx="219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{</a:t>
            </a:r>
            <a:endParaRPr lang="en-US" sz="2100" dirty="0"/>
          </a:p>
        </p:txBody>
      </p:sp>
      <p:sp>
        <p:nvSpPr>
          <p:cNvPr id="14" name="Text 8"/>
          <p:cNvSpPr txBox="1"/>
          <p:nvPr/>
        </p:nvSpPr>
        <p:spPr>
          <a:xfrm>
            <a:off x="3285283" y="2634386"/>
            <a:ext cx="10195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변수/식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4295851" y="2634386"/>
            <a:ext cx="219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732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1000354" y="3282696"/>
            <a:ext cx="4743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문자열 앞에 를 붙이고, 중괄호  안에 변수나 수식을 직접 넣습니다. 가장 직관적이고 빠릅니다. 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982" y="3320186"/>
            <a:ext cx="161849" cy="152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87982" y="3320186"/>
            <a:ext cx="162763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3320186"/>
            <a:ext cx="237744" cy="15270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852928" y="3320186"/>
            <a:ext cx="238658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{}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5" r="-5"/>
          <a:stretch/>
        </p:blipFill>
        <p:spPr>
          <a:xfrm>
            <a:off x="761695" y="4111142"/>
            <a:ext cx="5143500" cy="316199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61695" y="4111142"/>
            <a:ext cx="5143500" cy="466344"/>
          </a:xfrm>
          <a:prstGeom prst="roundRect">
            <a:avLst>
              <a:gd name="adj" fmla="val 480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4"/>
          <p:cNvSpPr/>
          <p:nvPr/>
        </p:nvSpPr>
        <p:spPr>
          <a:xfrm>
            <a:off x="761695" y="4568342"/>
            <a:ext cx="5143500" cy="9144"/>
          </a:xfrm>
          <a:prstGeom prst="roundRect">
            <a:avLst>
              <a:gd name="adj" fmla="val 244898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5"/>
          <p:cNvSpPr txBox="1"/>
          <p:nvPr/>
        </p:nvSpPr>
        <p:spPr>
          <a:xfrm>
            <a:off x="1104595" y="4225442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포맷 지정자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75995" y="4262933"/>
            <a:ext cx="152705" cy="152705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4577486"/>
          <a:ext cx="5143500" cy="2695650"/>
        </p:xfrm>
        <a:graphic>
          <a:graphicData uri="http://schemas.openxmlformats.org/drawingml/2006/table">
            <a:tbl>
              <a:tblPr/>
              <a:tblGrid>
                <a:gridCol w="1285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포맷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 예시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Nanum Gothic Coding" pitchFamily="34" charset="0"/>
                          <a:ea typeface="Nanum Gothic Coding" pitchFamily="34" charset="-122"/>
                          <a:cs typeface="Nanum Gothic Coding" pitchFamily="34" charset="-120"/>
                        </a:rPr>
                        <a:t>{:,}</a:t>
                      </a:r>
                      <a:endParaRPr lang="en-US" sz="1200" dirty="0"/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천 단위 쉼표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1234 → 1,234</a:t>
                      </a:r>
                      <a:endParaRPr lang="en-US" sz="12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Nanum Gothic Coding" pitchFamily="34" charset="0"/>
                          <a:ea typeface="Nanum Gothic Coding" pitchFamily="34" charset="-122"/>
                          <a:cs typeface="Nanum Gothic Coding" pitchFamily="34" charset="-120"/>
                        </a:rPr>
                        <a:t>{:.2f}</a:t>
                      </a:r>
                      <a:endParaRPr lang="en-US" sz="1200" dirty="0"/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소수점 2자리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3.14159 → 3.14</a:t>
                      </a:r>
                      <a:endParaRPr lang="en-US" sz="12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Nanum Gothic Coding" pitchFamily="34" charset="0"/>
                          <a:ea typeface="Nanum Gothic Coding" pitchFamily="34" charset="-122"/>
                          <a:cs typeface="Nanum Gothic Coding" pitchFamily="34" charset="-120"/>
                        </a:rPr>
                        <a:t>{:.1%}</a:t>
                      </a:r>
                      <a:endParaRPr lang="en-US" sz="1200" dirty="0"/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퍼센트 변환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0.071 → 7.1%</a:t>
                      </a:r>
                      <a:endParaRPr lang="en-US" sz="12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Nanum Gothic Coding" pitchFamily="34" charset="0"/>
                          <a:ea typeface="Nanum Gothic Coding" pitchFamily="34" charset="-122"/>
                          <a:cs typeface="Nanum Gothic Coding" pitchFamily="34" charset="-120"/>
                        </a:rPr>
                        <a:t>{:&gt;10}</a:t>
                      </a:r>
                      <a:endParaRPr lang="en-US" sz="1200" dirty="0"/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오른쪽 정렬 (10칸)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" Python"</a:t>
                      </a:r>
                      <a:endParaRPr lang="en-US" sz="12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Shape 16"/>
          <p:cNvSpPr/>
          <p:nvPr/>
        </p:nvSpPr>
        <p:spPr>
          <a:xfrm>
            <a:off x="6286500" y="1739189"/>
            <a:ext cx="5143500" cy="5533949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7"/>
          <p:cNvSpPr/>
          <p:nvPr/>
        </p:nvSpPr>
        <p:spPr>
          <a:xfrm>
            <a:off x="6286500" y="1739189"/>
            <a:ext cx="47549" cy="5533949"/>
          </a:xfrm>
          <a:prstGeom prst="roundRect">
            <a:avLst>
              <a:gd name="adj" fmla="val 42735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8"/>
          <p:cNvSpPr txBox="1"/>
          <p:nvPr/>
        </p:nvSpPr>
        <p:spPr>
          <a:xfrm>
            <a:off x="6915607" y="1976933"/>
            <a:ext cx="115945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실전 코드 예시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 l="-1064" r="-1064"/>
          <a:stretch/>
        </p:blipFill>
        <p:spPr>
          <a:xfrm>
            <a:off x="6572707" y="2027225"/>
            <a:ext cx="219456" cy="171907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5735" y="1991563"/>
            <a:ext cx="972007" cy="2286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0225735" y="1991563"/>
            <a:ext cx="9720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COVID-19 Data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6572707" y="2377440"/>
            <a:ext cx="4619549" cy="2581351"/>
          </a:xfrm>
          <a:prstGeom prst="roundRect">
            <a:avLst>
              <a:gd name="adj" fmla="val 1046"/>
            </a:avLst>
          </a:prstGeom>
          <a:solidFill>
            <a:srgbClr val="1E1E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1"/>
          <p:cNvSpPr txBox="1"/>
          <p:nvPr/>
        </p:nvSpPr>
        <p:spPr>
          <a:xfrm>
            <a:off x="6762902" y="2567635"/>
            <a:ext cx="4353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9CD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cases</a:t>
            </a: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= </a:t>
            </a:r>
            <a:r>
              <a:rPr lang="en-US" sz="1200" dirty="0">
                <a:solidFill>
                  <a:srgbClr val="B5CEA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621328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6762902" y="2811780"/>
            <a:ext cx="4353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9CD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rate</a:t>
            </a: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= </a:t>
            </a:r>
            <a:r>
              <a:rPr lang="en-US" sz="1200" dirty="0">
                <a:solidFill>
                  <a:srgbClr val="B5CEA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0.1475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6762902" y="3055010"/>
            <a:ext cx="4353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1. 천 단위 쉼표 출력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6762902" y="3299155"/>
            <a:ext cx="4353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9CD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print</a:t>
            </a: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f"확진자: {cases:,}명"</a:t>
            </a: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)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6762902" y="3543300"/>
            <a:ext cx="44293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9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2. 퍼센트와 정렬 혼합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6762902" y="3786530"/>
            <a:ext cx="4353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9CD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print</a:t>
            </a: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f"비율: {rate:&gt;10.1%}"</a:t>
            </a:r>
            <a:r>
              <a:rPr lang="en-US" sz="1200" dirty="0">
                <a:solidFill>
                  <a:srgbClr val="D4D4D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)</a:t>
            </a:r>
            <a:endParaRPr lang="en-US" sz="12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8796528" y="5120640"/>
            <a:ext cx="171907" cy="22860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6572707" y="5491886"/>
            <a:ext cx="4619549" cy="761695"/>
          </a:xfrm>
          <a:prstGeom prst="roundRect">
            <a:avLst>
              <a:gd name="adj" fmla="val 1200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8"/>
          <p:cNvSpPr txBox="1"/>
          <p:nvPr/>
        </p:nvSpPr>
        <p:spPr>
          <a:xfrm>
            <a:off x="6724498" y="5644591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확진자: 621,328명</a:t>
            </a:r>
            <a:endParaRPr lang="en-US" sz="1200" dirty="0"/>
          </a:p>
        </p:txBody>
      </p:sp>
      <p:sp>
        <p:nvSpPr>
          <p:cNvPr id="43" name="Text 29"/>
          <p:cNvSpPr txBox="1"/>
          <p:nvPr/>
        </p:nvSpPr>
        <p:spPr>
          <a:xfrm>
            <a:off x="6724498" y="5873191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비율: 14.8%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6572707" y="6406286"/>
            <a:ext cx="4619549" cy="629107"/>
          </a:xfrm>
          <a:prstGeom prst="roundRect">
            <a:avLst>
              <a:gd name="adj" fmla="val 1761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1"/>
          <p:cNvSpPr txBox="1"/>
          <p:nvPr/>
        </p:nvSpPr>
        <p:spPr>
          <a:xfrm>
            <a:off x="6886346" y="6530645"/>
            <a:ext cx="4258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r>
              <a:rPr lang="en-US" sz="10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코드의 가독성이 곧 분석의 품질입니다. 숫자는 읽기 좋게 포맷팅해서 출력하세요.</a:t>
            </a:r>
            <a:endParaRPr lang="en-US" sz="10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6696151" y="6566306"/>
            <a:ext cx="152705" cy="133502"/>
          </a:xfrm>
          <a:prstGeom prst="rect">
            <a:avLst/>
          </a:prstGeom>
        </p:spPr>
      </p:pic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5">
            <a:alphaModFix amt="10000"/>
          </a:blip>
          <a:srcRect l="-84" r="-84"/>
          <a:stretch/>
        </p:blipFill>
        <p:spPr>
          <a:xfrm>
            <a:off x="4190695" y="6476695"/>
            <a:ext cx="3810305" cy="9509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2500" b="-12500"/>
          <a:stretch/>
        </p:blipFill>
        <p:spPr>
          <a:xfrm>
            <a:off x="8382305" y="3047695"/>
            <a:ext cx="4762195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핑퐁 코딩 규칙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111099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Ping-Pong Coding Rules : 상호작용 실습 가이드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8" b="-228"/>
          <a:stretch/>
        </p:blipFill>
        <p:spPr>
          <a:xfrm>
            <a:off x="533095" y="514807"/>
            <a:ext cx="75895" cy="8577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7473391" y="1739189"/>
            <a:ext cx="3956609" cy="279074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01991" y="2548433"/>
            <a:ext cx="3505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Limit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701991" y="4053535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Ping 설명 포함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40" r="-40"/>
          <a:stretch/>
        </p:blipFill>
        <p:spPr>
          <a:xfrm>
            <a:off x="9308592" y="2025396"/>
            <a:ext cx="286207" cy="3813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14386" y="3367735"/>
            <a:ext cx="2684678" cy="534010"/>
          </a:xfrm>
          <a:prstGeom prst="rect">
            <a:avLst/>
          </a:prstGeom>
          <a:noFill/>
          <a:ln w="254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9E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 min / Round</a:t>
            </a:r>
            <a:endParaRPr lang="en-US" sz="2200" dirty="0"/>
          </a:p>
        </p:txBody>
      </p:sp>
      <p:sp>
        <p:nvSpPr>
          <p:cNvPr id="14" name="Shape 8"/>
          <p:cNvSpPr/>
          <p:nvPr/>
        </p:nvSpPr>
        <p:spPr>
          <a:xfrm>
            <a:off x="761695" y="1739189"/>
            <a:ext cx="6334049" cy="1162202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761695" y="1739189"/>
            <a:ext cx="47549" cy="1162202"/>
          </a:xfrm>
          <a:prstGeom prst="roundRect">
            <a:avLst>
              <a:gd name="adj" fmla="val 189154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6590081" y="2091233"/>
            <a:ext cx="391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761695" y="3044038"/>
            <a:ext cx="6334049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761695" y="3044038"/>
            <a:ext cx="47549" cy="952805"/>
          </a:xfrm>
          <a:prstGeom prst="roundRect">
            <a:avLst>
              <a:gd name="adj" fmla="val 230768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6537046" y="32918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761695" y="4139489"/>
            <a:ext cx="6334049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761695" y="4139489"/>
            <a:ext cx="47549" cy="952805"/>
          </a:xfrm>
          <a:prstGeom prst="roundRect">
            <a:avLst>
              <a:gd name="adj" fmla="val 230768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6548018" y="4387291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761695" y="5234940"/>
            <a:ext cx="6334049" cy="1133856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761695" y="5234940"/>
            <a:ext cx="47549" cy="1133856"/>
          </a:xfrm>
          <a:prstGeom prst="roundRect">
            <a:avLst>
              <a:gd name="adj" fmla="val 193923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6524244" y="55723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7663586" y="2987345"/>
            <a:ext cx="3581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6라운드 진행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473391" y="4720133"/>
            <a:ext cx="3962095" cy="1591056"/>
          </a:xfrm>
          <a:prstGeom prst="roundRect">
            <a:avLst>
              <a:gd name="adj" fmla="val 4130"/>
            </a:avLst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7978140" y="4977994"/>
            <a:ext cx="3391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중요 포인트 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30338" y="5020970"/>
            <a:ext cx="171907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921447" y="5330038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눈으로만 보지 말고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타이핑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하세요.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921447" y="5597042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에러가 발생하면 에러 메시지를 먼저 읽어보세요.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921447" y="5863133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후에는 주석을 달며 복습하세요.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47902" y="2034540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00607" y="2187245"/>
            <a:ext cx="267005" cy="26700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809598" y="1929384"/>
            <a:ext cx="5162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Ping &amp; Pong 프로세스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1809598" y="2291486"/>
            <a:ext cx="5048402" cy="418795"/>
          </a:xfrm>
          <a:prstGeom prst="roundRect">
            <a:avLst>
              <a:gd name="adj" fmla="val 39698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1904695" y="2434133"/>
            <a:ext cx="171907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152498" y="2401214"/>
            <a:ext cx="12929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 Ping (시연)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3617366" y="2434133"/>
            <a:ext cx="114300" cy="13350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3807562" y="2401214"/>
            <a:ext cx="15307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Pong (변형 실습)</a:t>
            </a:r>
            <a:endParaRPr lang="en-US" sz="10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3378708" y="2434133"/>
            <a:ext cx="95098" cy="152705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047902" y="3234233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rcRect l="-685" r="-685"/>
          <a:stretch/>
        </p:blipFill>
        <p:spPr>
          <a:xfrm>
            <a:off x="1181405" y="3386938"/>
            <a:ext cx="304495" cy="26700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809598" y="3237890"/>
            <a:ext cx="5162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빈칸 채우기 (Fill in the Blanks)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1809598" y="3561588"/>
            <a:ext cx="5239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배포된 자료의  (빈칸) 부분을 코드로 채워 완성하세요. </a:t>
            </a:r>
            <a:endParaRPr lang="en-US" sz="12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6799" y="3570732"/>
            <a:ext cx="428854" cy="24780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2736799" y="3570732"/>
            <a:ext cx="4288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1047902" y="4329684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200607" y="4482389"/>
            <a:ext cx="267005" cy="26700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809598" y="4346143"/>
            <a:ext cx="5162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신호 (Signal)</a:t>
            </a:r>
            <a:endParaRPr lang="en-US" sz="1500" dirty="0"/>
          </a:p>
        </p:txBody>
      </p:sp>
      <p:sp>
        <p:nvSpPr>
          <p:cNvPr id="51" name="Text 37"/>
          <p:cNvSpPr txBox="1"/>
          <p:nvPr/>
        </p:nvSpPr>
        <p:spPr>
          <a:xfrm>
            <a:off x="1809598" y="4669841"/>
            <a:ext cx="52568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코드를 완성하고 실행에 성공하면 </a:t>
            </a: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손을 들거나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채팅창에 를 입력합니다. </a:t>
            </a:r>
            <a:endParaRPr lang="en-US" sz="12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1244" y="4669841"/>
            <a:ext cx="400507" cy="22860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5381244" y="4669841"/>
            <a:ext cx="4005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>
            <a:off x="1047902" y="551474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66774" y="5667451"/>
            <a:ext cx="333756" cy="26700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1809598" y="5425135"/>
            <a:ext cx="5162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적극적 협력 (Collaboration)</a:t>
            </a:r>
            <a:endParaRPr lang="en-US" sz="1500" dirty="0"/>
          </a:p>
        </p:txBody>
      </p:sp>
      <p:sp>
        <p:nvSpPr>
          <p:cNvPr id="57" name="Text 41"/>
          <p:cNvSpPr txBox="1"/>
          <p:nvPr/>
        </p:nvSpPr>
        <p:spPr>
          <a:xfrm>
            <a:off x="1809598" y="5748833"/>
            <a:ext cx="5125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모르는 부분은 옆 사람과 자유롭게 토론하세요. 단, </a:t>
            </a:r>
            <a:r>
              <a:rPr lang="en-US" sz="1200" b="1" u="sng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Ctrl+C / Ctrl+V는 금지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831982" y="381305"/>
            <a:ext cx="1057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7143" r="-7143"/>
          <a:stretch/>
        </p:blipFill>
        <p:spPr>
          <a:xfrm>
            <a:off x="9144000" y="3810305"/>
            <a:ext cx="3810305" cy="3810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핑퐁 진행 안내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931774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Ping-Pong 1~6 : 단계별 실습 로드맵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81" b="-181"/>
          <a:stretch/>
        </p:blipFill>
        <p:spPr>
          <a:xfrm>
            <a:off x="381305" y="418795"/>
            <a:ext cx="75895" cy="7616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8930030" y="1455725"/>
            <a:ext cx="2691079" cy="246796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22408" y="1808683"/>
            <a:ext cx="30449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852660" y="2208276"/>
            <a:ext cx="8503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Mission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l="-204" r="-204"/>
          <a:stretch/>
        </p:blipFill>
        <p:spPr>
          <a:xfrm>
            <a:off x="9167774" y="3265322"/>
            <a:ext cx="2214677" cy="758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791395" y="3418027"/>
            <a:ext cx="9756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to Start?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571500" y="1455725"/>
            <a:ext cx="3972154" cy="15809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571500" y="1455725"/>
            <a:ext cx="47549" cy="1580998"/>
          </a:xfrm>
          <a:prstGeom prst="roundRect">
            <a:avLst>
              <a:gd name="adj" fmla="val 139017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9"/>
          <p:cNvSpPr txBox="1"/>
          <p:nvPr/>
        </p:nvSpPr>
        <p:spPr>
          <a:xfrm>
            <a:off x="4003243" y="2053742"/>
            <a:ext cx="5038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3F4F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01</a:t>
            </a:r>
            <a:endParaRPr lang="en-US" sz="3000" dirty="0"/>
          </a:p>
        </p:txBody>
      </p:sp>
      <p:sp>
        <p:nvSpPr>
          <p:cNvPr id="17" name="Shape 10"/>
          <p:cNvSpPr/>
          <p:nvPr/>
        </p:nvSpPr>
        <p:spPr>
          <a:xfrm>
            <a:off x="4678985" y="1455725"/>
            <a:ext cx="3972154" cy="15809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4678985" y="1455725"/>
            <a:ext cx="47549" cy="1580998"/>
          </a:xfrm>
          <a:prstGeom prst="roundRect">
            <a:avLst>
              <a:gd name="adj" fmla="val 139017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 txBox="1"/>
          <p:nvPr/>
        </p:nvSpPr>
        <p:spPr>
          <a:xfrm>
            <a:off x="8044891" y="2053742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3F4F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Shape 13"/>
          <p:cNvSpPr/>
          <p:nvPr/>
        </p:nvSpPr>
        <p:spPr>
          <a:xfrm>
            <a:off x="571500" y="3176626"/>
            <a:ext cx="3972154" cy="15809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" y="3176626"/>
            <a:ext cx="47549" cy="1580998"/>
          </a:xfrm>
          <a:prstGeom prst="roundRect">
            <a:avLst>
              <a:gd name="adj" fmla="val 139017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 txBox="1"/>
          <p:nvPr/>
        </p:nvSpPr>
        <p:spPr>
          <a:xfrm>
            <a:off x="3950208" y="3775558"/>
            <a:ext cx="523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3F4F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16"/>
          <p:cNvSpPr/>
          <p:nvPr/>
        </p:nvSpPr>
        <p:spPr>
          <a:xfrm>
            <a:off x="4678985" y="3176626"/>
            <a:ext cx="3972154" cy="15809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4678985" y="3176626"/>
            <a:ext cx="47549" cy="1580998"/>
          </a:xfrm>
          <a:prstGeom prst="roundRect">
            <a:avLst>
              <a:gd name="adj" fmla="val 139017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8028432" y="3775558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3F4F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19"/>
          <p:cNvSpPr/>
          <p:nvPr/>
        </p:nvSpPr>
        <p:spPr>
          <a:xfrm>
            <a:off x="571500" y="4898441"/>
            <a:ext cx="3972154" cy="15809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571500" y="4898441"/>
            <a:ext cx="47549" cy="1580998"/>
          </a:xfrm>
          <a:prstGeom prst="roundRect">
            <a:avLst>
              <a:gd name="adj" fmla="val 139017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3940150" y="5497373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3F4F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Shape 22"/>
          <p:cNvSpPr/>
          <p:nvPr/>
        </p:nvSpPr>
        <p:spPr>
          <a:xfrm>
            <a:off x="4678985" y="4898441"/>
            <a:ext cx="3972154" cy="15809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4678985" y="4898441"/>
            <a:ext cx="47549" cy="1580998"/>
          </a:xfrm>
          <a:prstGeom prst="roundRect">
            <a:avLst>
              <a:gd name="adj" fmla="val 139017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8032090" y="5497373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3F4F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9559138" y="2542032"/>
            <a:ext cx="1438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6단계를 통해 데이터를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저장-계산-가공-출력</a:t>
            </a:r>
            <a:r>
              <a:rPr lang="en-US" sz="1000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과정을 경험합니다.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930030" y="4066337"/>
            <a:ext cx="2695651" cy="2419502"/>
          </a:xfrm>
          <a:prstGeom prst="roundRect">
            <a:avLst>
              <a:gd name="adj" fmla="val 1785"/>
            </a:avLst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 txBox="1"/>
          <p:nvPr/>
        </p:nvSpPr>
        <p:spPr>
          <a:xfrm>
            <a:off x="9329623" y="4275734"/>
            <a:ext cx="2178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실습 Tip </a:t>
            </a:r>
            <a:endParaRPr lang="en-US" sz="12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9139428" y="4314139"/>
            <a:ext cx="114300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29623" y="4599432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단계는 약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소요됩니다.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9329623" y="4866437"/>
            <a:ext cx="2343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Ping은 교수자 화면을 주목하세요.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329623" y="5132527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Pong은 직접 코드를 작성합니다.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9329623" y="5399532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시 채팅창에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"완료"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입력!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809244" y="200619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2746" y="2139696"/>
            <a:ext cx="209398" cy="20939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429207" y="1933042"/>
            <a:ext cx="31153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변수와 자료형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1429207" y="2209190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변수 할당 및 타입 확인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int, str</a:t>
            </a: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실습 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4917643" y="200619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l="-1528" r="-1528"/>
          <a:stretch/>
        </p:blipFill>
        <p:spPr>
          <a:xfrm>
            <a:off x="5074006" y="2139696"/>
            <a:ext cx="161849" cy="20939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36692" y="1933042"/>
            <a:ext cx="31153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숫자형 연산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5536692" y="2209190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확진자 증감률 계산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(오늘-어제)/어제 * 100 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809244" y="372800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 l="-1528" r="-1528"/>
          <a:stretch/>
        </p:blipFill>
        <p:spPr>
          <a:xfrm>
            <a:off x="966521" y="3861511"/>
            <a:ext cx="161849" cy="20939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1429207" y="3654857"/>
            <a:ext cx="31153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몫과 나머지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1429207" y="3931006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단위 변환 실습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만 명 단위 자르기 </a:t>
            </a:r>
            <a:endParaRPr lang="en-US" sz="10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28900" y="4133088"/>
            <a:ext cx="428854" cy="13350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2628900" y="4133088"/>
            <a:ext cx="428854" cy="133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//, %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4917643" y="372800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050231" y="3861511"/>
            <a:ext cx="209398" cy="209398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536692" y="3654857"/>
            <a:ext cx="31153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인덱싱/슬라이싱</a:t>
            </a:r>
            <a:endParaRPr lang="en-US" sz="1300" dirty="0"/>
          </a:p>
        </p:txBody>
      </p:sp>
      <p:sp>
        <p:nvSpPr>
          <p:cNvPr id="57" name="Text 44"/>
          <p:cNvSpPr txBox="1"/>
          <p:nvPr/>
        </p:nvSpPr>
        <p:spPr>
          <a:xfrm>
            <a:off x="5536692" y="3931006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데이터 추출하기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날짜, 국가 코드 뽑아내기 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809244" y="544982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42746" y="5582412"/>
            <a:ext cx="209398" cy="209398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1429207" y="5375758"/>
            <a:ext cx="31153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메서드</a:t>
            </a:r>
            <a:endParaRPr lang="en-US" sz="1300" dirty="0"/>
          </a:p>
        </p:txBody>
      </p:sp>
      <p:sp>
        <p:nvSpPr>
          <p:cNvPr id="61" name="Text 47"/>
          <p:cNvSpPr txBox="1"/>
          <p:nvPr/>
        </p:nvSpPr>
        <p:spPr>
          <a:xfrm>
            <a:off x="1429207" y="5651906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데이터 전처리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활용 </a:t>
            </a:r>
            <a:endParaRPr lang="en-US" sz="1000" dirty="0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9207" y="5853989"/>
            <a:ext cx="1457554" cy="133502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1429207" y="5853989"/>
            <a:ext cx="1457554" cy="133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.split(), .replace()</a:t>
            </a:r>
            <a:endParaRPr lang="en-US" sz="900" dirty="0"/>
          </a:p>
        </p:txBody>
      </p:sp>
      <p:sp>
        <p:nvSpPr>
          <p:cNvPr id="64" name="Shape 49"/>
          <p:cNvSpPr/>
          <p:nvPr/>
        </p:nvSpPr>
        <p:spPr>
          <a:xfrm>
            <a:off x="4917643" y="544982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6"/>
          <a:srcRect l="-1528" r="-1528"/>
          <a:stretch/>
        </p:blipFill>
        <p:spPr>
          <a:xfrm>
            <a:off x="5074006" y="5582412"/>
            <a:ext cx="161849" cy="209398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5536692" y="5375758"/>
            <a:ext cx="30385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f-string 보고서</a:t>
            </a:r>
            <a:endParaRPr lang="en-US" sz="1300" dirty="0"/>
          </a:p>
        </p:txBody>
      </p:sp>
      <p:sp>
        <p:nvSpPr>
          <p:cNvPr id="67" name="Text 51"/>
          <p:cNvSpPr txBox="1"/>
          <p:nvPr/>
        </p:nvSpPr>
        <p:spPr>
          <a:xfrm>
            <a:off x="5536692" y="5651906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깔끔한 출력 만들기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천 단위 콤마, 소수점 포맷팅 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F57325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solidFill>
            <a:srgbClr val="F57325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76165" y="2428646"/>
            <a:ext cx="30330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224088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10분 휴식</a:t>
            </a:r>
            <a:endParaRPr lang="en-US" sz="4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438144"/>
            <a:ext cx="3276295" cy="4956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95367" y="3438144"/>
            <a:ext cx="2744114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잠시 머리를 식히고 오세요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0872" y="3581705"/>
            <a:ext cx="228600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503" r="-503"/>
          <a:stretch/>
        </p:blipFill>
        <p:spPr>
          <a:xfrm>
            <a:off x="6086246" y="4410151"/>
            <a:ext cx="19202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48756" y="4496105"/>
            <a:ext cx="95098" cy="9509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761695" y="4686300"/>
            <a:ext cx="10668305" cy="1695298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3286" y="4686300"/>
            <a:ext cx="1666951" cy="3236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63286" y="4686300"/>
            <a:ext cx="1666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1238098" y="5573268"/>
            <a:ext cx="971550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 txBox="1"/>
          <p:nvPr/>
        </p:nvSpPr>
        <p:spPr>
          <a:xfrm>
            <a:off x="1733702" y="4972507"/>
            <a:ext cx="2716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도전 실습 : PART C </a:t>
            </a:r>
            <a:endParaRPr lang="en-US" sz="2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1238098" y="5029200"/>
            <a:ext cx="381305" cy="3044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931298" y="5143500"/>
            <a:ext cx="110459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DBA7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 Minutes </a:t>
            </a:r>
            <a:endParaRPr lang="en-US" sz="15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11842" y="5196535"/>
            <a:ext cx="142646" cy="19019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238098" y="5820156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247595" y="6100877"/>
            <a:ext cx="267005" cy="2670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311250" y="653430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빈칸 채우기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1352398" y="6810451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코로나19 일간 보고서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완성하기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3715207" y="5820156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24705" y="6100877"/>
            <a:ext cx="267005" cy="2670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3788359" y="653430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후 실행</a:t>
            </a:r>
            <a:endParaRPr lang="en-US" sz="1200" dirty="0"/>
          </a:p>
        </p:txBody>
      </p:sp>
      <p:sp>
        <p:nvSpPr>
          <p:cNvPr id="28" name="Text 17"/>
          <p:cNvSpPr txBox="1"/>
          <p:nvPr/>
        </p:nvSpPr>
        <p:spPr>
          <a:xfrm>
            <a:off x="3829507" y="6810451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먼저 예측하고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실제와 비교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6191402" y="5820156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00900" y="6100877"/>
            <a:ext cx="267005" cy="267005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6264554" y="653430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수정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6305702" y="6810451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만든 코드의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5개 찾기</a:t>
            </a:r>
            <a:endParaRPr lang="en-US" sz="900" dirty="0"/>
          </a:p>
        </p:txBody>
      </p:sp>
      <p:sp>
        <p:nvSpPr>
          <p:cNvPr id="33" name="Shape 21"/>
          <p:cNvSpPr/>
          <p:nvPr/>
        </p:nvSpPr>
        <p:spPr>
          <a:xfrm>
            <a:off x="8667598" y="5820156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57325">
              <a:alpha val="20000"/>
            </a:srgbClr>
          </a:solidFill>
          <a:ln w="12700">
            <a:solidFill>
              <a:srgbClr val="F5732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rcRect l="-881" r="-881"/>
          <a:stretch/>
        </p:blipFill>
        <p:spPr>
          <a:xfrm>
            <a:off x="9691726" y="6100877"/>
            <a:ext cx="237744" cy="26700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8740750" y="653430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BA7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도전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8781898" y="6810451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3개국 데이터 비교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 보고서 작성</a:t>
            </a:r>
            <a:endParaRPr lang="en-US" sz="9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238598" y="476402"/>
            <a:ext cx="1714500" cy="1714500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715000" y="952805"/>
            <a:ext cx="761695" cy="761695"/>
          </a:xfrm>
          <a:prstGeom prst="rect">
            <a:avLst/>
          </a:prstGeom>
        </p:spPr>
      </p:pic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6">
            <a:alphaModFix amt="70000"/>
          </a:blip>
          <a:srcRect/>
          <a:stretch/>
        </p:blipFill>
        <p:spPr>
          <a:xfrm>
            <a:off x="5905195" y="381305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8382305" y="3047695"/>
            <a:ext cx="4762195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381305"/>
            <a:ext cx="10972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실습 안내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97383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Challenge Practice : PART C (50분)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8" b="-228"/>
          <a:stretch/>
        </p:blipFill>
        <p:spPr>
          <a:xfrm>
            <a:off x="533095" y="418795"/>
            <a:ext cx="75895" cy="8577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5" r="-5"/>
          <a:stretch/>
        </p:blipFill>
        <p:spPr>
          <a:xfrm>
            <a:off x="8264347" y="1649578"/>
            <a:ext cx="3165653" cy="203362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99678" y="2378354"/>
            <a:ext cx="290322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9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Limit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360359" y="2740457"/>
            <a:ext cx="29818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E9E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50 min</a:t>
            </a:r>
            <a:endParaRPr lang="en-US" sz="2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743" r="-743"/>
          <a:stretch/>
        </p:blipFill>
        <p:spPr>
          <a:xfrm>
            <a:off x="9695383" y="1935785"/>
            <a:ext cx="304495" cy="3429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61695" y="1554480"/>
            <a:ext cx="7125005" cy="895198"/>
          </a:xfrm>
          <a:prstGeom prst="roundRect">
            <a:avLst>
              <a:gd name="adj" fmla="val 130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761695" y="1554480"/>
            <a:ext cx="47549" cy="895198"/>
          </a:xfrm>
          <a:prstGeom prst="roundRect">
            <a:avLst>
              <a:gd name="adj" fmla="val 245498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 txBox="1"/>
          <p:nvPr/>
        </p:nvSpPr>
        <p:spPr>
          <a:xfrm>
            <a:off x="7507224" y="182971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761695" y="2562149"/>
            <a:ext cx="7125005" cy="895198"/>
          </a:xfrm>
          <a:prstGeom prst="roundRect">
            <a:avLst>
              <a:gd name="adj" fmla="val 130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761695" y="2562149"/>
            <a:ext cx="47549" cy="895198"/>
          </a:xfrm>
          <a:prstGeom prst="roundRect">
            <a:avLst>
              <a:gd name="adj" fmla="val 245498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7466990" y="2837383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61695" y="3568903"/>
            <a:ext cx="7125005" cy="895198"/>
          </a:xfrm>
          <a:prstGeom prst="roundRect">
            <a:avLst>
              <a:gd name="adj" fmla="val 130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761695" y="3568903"/>
            <a:ext cx="47549" cy="895198"/>
          </a:xfrm>
          <a:prstGeom prst="roundRect">
            <a:avLst>
              <a:gd name="adj" fmla="val 245498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7475220" y="384413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761695" y="4576572"/>
            <a:ext cx="7125005" cy="895198"/>
          </a:xfrm>
          <a:prstGeom prst="roundRect">
            <a:avLst>
              <a:gd name="adj" fmla="val 130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761695" y="4576572"/>
            <a:ext cx="47549" cy="895198"/>
          </a:xfrm>
          <a:prstGeom prst="roundRect">
            <a:avLst>
              <a:gd name="adj" fmla="val 245498"/>
            </a:avLst>
          </a:prstGeom>
          <a:solidFill>
            <a:srgbClr val="F57325"/>
          </a:solidFill>
          <a:ln w="12700">
            <a:solidFill>
              <a:srgbClr val="F573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7456932" y="4851806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61695" y="5584241"/>
            <a:ext cx="7125005" cy="895198"/>
          </a:xfrm>
          <a:prstGeom prst="roundRect">
            <a:avLst>
              <a:gd name="adj" fmla="val 130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761695" y="5584241"/>
            <a:ext cx="47549" cy="895198"/>
          </a:xfrm>
          <a:prstGeom prst="roundRect">
            <a:avLst>
              <a:gd name="adj" fmla="val 245498"/>
            </a:avLst>
          </a:prstGeom>
          <a:solidFill>
            <a:srgbClr val="224088"/>
          </a:solidFill>
          <a:ln w="12700">
            <a:solidFill>
              <a:srgbClr val="224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7468819" y="5858561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E7E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8360359" y="3197657"/>
            <a:ext cx="2981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9E3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고민하고 해결하는 시간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264347" y="3873398"/>
            <a:ext cx="3172054" cy="2609698"/>
          </a:xfrm>
          <a:prstGeom prst="roundRect">
            <a:avLst>
              <a:gd name="adj" fmla="val 1535"/>
            </a:avLst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684057" y="4083710"/>
            <a:ext cx="2734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실습 가이드 </a:t>
            </a:r>
            <a:endParaRPr lang="en-US" sz="13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8474659" y="4126687"/>
            <a:ext cx="133502" cy="171907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474659" y="4493362"/>
            <a:ext cx="114300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664854" y="4454957"/>
            <a:ext cx="2638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무관: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자신 있는 문제부터 풀어도 좋습니다.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474659" y="4988052"/>
            <a:ext cx="114300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664854" y="4950562"/>
            <a:ext cx="2638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힌트 활용: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막히면 앞장 슬라이드의 개념을 다시 확인하세요.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474659" y="5483657"/>
            <a:ext cx="114300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664854" y="5445252"/>
            <a:ext cx="2638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5분 이상 고민해도 해결되지 않으면 손을 들어주세요.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1000354" y="176296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1152144" y="1886407"/>
            <a:ext cx="171907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647749" y="1677010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빈칸 채우기</a:t>
            </a:r>
            <a:endParaRPr lang="en-US" sz="13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0" y="1700784"/>
            <a:ext cx="371246" cy="20939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2560320" y="1700784"/>
            <a:ext cx="37216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647749" y="1953158"/>
            <a:ext cx="6124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코로나19 보고서의 </a:t>
            </a:r>
            <a:r>
              <a:rPr lang="en-US" sz="11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치명률·확진 비율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계산식을 완성하고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f-string으로 출력 포맷을 지정하세요. 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1000354" y="277063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23798" y="2894076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647749" y="2684678"/>
            <a:ext cx="1133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후 실행</a:t>
            </a:r>
            <a:endParaRPr lang="en-US" sz="13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8783" y="2708453"/>
            <a:ext cx="476402" cy="20939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2608783" y="2708453"/>
            <a:ext cx="4764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사고력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1647749" y="2960827"/>
            <a:ext cx="6124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코드를 실행하기 전 </a:t>
            </a:r>
            <a:r>
              <a:rPr lang="en-US" sz="11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손으로 먼저 계산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해보고,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실행 결과와 비교하며 차이를 분석하세요. </a:t>
            </a:r>
            <a:endParaRPr lang="en-US" sz="1100" dirty="0"/>
          </a:p>
        </p:txBody>
      </p:sp>
      <p:sp>
        <p:nvSpPr>
          <p:cNvPr id="50" name="Shape 36"/>
          <p:cNvSpPr/>
          <p:nvPr/>
        </p:nvSpPr>
        <p:spPr>
          <a:xfrm>
            <a:off x="1000354" y="377738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23798" y="3901745"/>
            <a:ext cx="228600" cy="2286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1647749" y="3692347"/>
            <a:ext cx="16943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수정 (Debug)</a:t>
            </a:r>
            <a:endParaRPr lang="en-US" sz="13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6450" y="3716122"/>
            <a:ext cx="371246" cy="209398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3146450" y="3716122"/>
            <a:ext cx="37216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1647749" y="3968496"/>
            <a:ext cx="6124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작성한 코드에 숨겨진 </a:t>
            </a:r>
            <a:r>
              <a:rPr lang="en-US" sz="11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버그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찾아 수정하세요.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(변수명, 타입 에러, 연산 순서 등) </a:t>
            </a:r>
            <a:endParaRPr lang="en-US" sz="1100" dirty="0"/>
          </a:p>
        </p:txBody>
      </p:sp>
      <p:sp>
        <p:nvSpPr>
          <p:cNvPr id="56" name="Shape 40"/>
          <p:cNvSpPr/>
          <p:nvPr/>
        </p:nvSpPr>
        <p:spPr>
          <a:xfrm>
            <a:off x="1000354" y="478505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23798" y="4908499"/>
            <a:ext cx="228600" cy="228600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1647749" y="4699102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도전</a:t>
            </a:r>
            <a:endParaRPr lang="en-US" sz="130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03043" y="4722876"/>
            <a:ext cx="371246" cy="209398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2403043" y="4722876"/>
            <a:ext cx="37216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</a:t>
            </a:r>
            <a:endParaRPr lang="en-US" sz="900" dirty="0"/>
          </a:p>
        </p:txBody>
      </p:sp>
      <p:sp>
        <p:nvSpPr>
          <p:cNvPr id="61" name="Text 43"/>
          <p:cNvSpPr txBox="1"/>
          <p:nvPr/>
        </p:nvSpPr>
        <p:spPr>
          <a:xfrm>
            <a:off x="1647749" y="4975250"/>
            <a:ext cx="6124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3개국(한국/일본/미국) 데이터를 비교하는 </a:t>
            </a:r>
            <a:r>
              <a:rPr lang="en-US" sz="11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작성하세요.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f-string 정렬 기능을 활용해 보세요. </a:t>
            </a:r>
            <a:endParaRPr lang="en-US" sz="1100" dirty="0"/>
          </a:p>
        </p:txBody>
      </p:sp>
      <p:sp>
        <p:nvSpPr>
          <p:cNvPr id="62" name="Shape 44"/>
          <p:cNvSpPr/>
          <p:nvPr/>
        </p:nvSpPr>
        <p:spPr>
          <a:xfrm>
            <a:off x="1000354" y="579181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6"/>
          <a:srcRect l="-57" r="-57"/>
          <a:stretch/>
        </p:blipFill>
        <p:spPr>
          <a:xfrm>
            <a:off x="1138428" y="5916168"/>
            <a:ext cx="200254" cy="228600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647749" y="5706770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종합</a:t>
            </a:r>
            <a:endParaRPr lang="en-US" sz="130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60320" y="5730545"/>
            <a:ext cx="476402" cy="209398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2560320" y="5730545"/>
            <a:ext cx="4764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보너스</a:t>
            </a:r>
            <a:endParaRPr lang="en-US" sz="900" dirty="0"/>
          </a:p>
        </p:txBody>
      </p:sp>
      <p:sp>
        <p:nvSpPr>
          <p:cNvPr id="67" name="Text 47"/>
          <p:cNvSpPr txBox="1"/>
          <p:nvPr/>
        </p:nvSpPr>
        <p:spPr>
          <a:xfrm>
            <a:off x="1647749" y="5982919"/>
            <a:ext cx="6124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파일명에서 </a:t>
            </a:r>
            <a:r>
              <a:rPr lang="en-US" sz="1100" b="1" dirty="0">
                <a:solidFill>
                  <a:srgbClr val="F573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데이터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파싱하여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원하는 정보만 추출하는 메서드를 조합해 보세요. 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381305"/>
            <a:ext cx="10972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 및 연습문제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97383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Advanced Review &amp; Practice : 마무리 및 과제 안내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8" b="-228"/>
          <a:stretch/>
        </p:blipFill>
        <p:spPr>
          <a:xfrm>
            <a:off x="533095" y="418795"/>
            <a:ext cx="75895" cy="8577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1714500" y="2173529"/>
            <a:ext cx="8762695" cy="3840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761695" y="1697126"/>
            <a:ext cx="3365906" cy="4779569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61695" y="1697126"/>
            <a:ext cx="3372307" cy="1819656"/>
          </a:xfrm>
          <a:prstGeom prst="roundRect">
            <a:avLst>
              <a:gd name="adj" fmla="val 421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761695" y="3507638"/>
            <a:ext cx="3372307" cy="9144"/>
          </a:xfrm>
          <a:prstGeom prst="roundRect">
            <a:avLst>
              <a:gd name="adj" fmla="val 83769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857707" y="2664562"/>
            <a:ext cx="31821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 풀이</a:t>
            </a:r>
            <a:endParaRPr lang="en-US" sz="1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870" b="-870"/>
          <a:stretch/>
        </p:blipFill>
        <p:spPr>
          <a:xfrm>
            <a:off x="1000354" y="3778301"/>
            <a:ext cx="105156" cy="14264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00607" y="3749954"/>
            <a:ext cx="2386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1: 정답 확인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1200607" y="3950208"/>
            <a:ext cx="2705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치명률/확진 비율 보고서 출력 결과 대조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0354" y="4312310"/>
            <a:ext cx="142646" cy="14264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38098" y="4283050"/>
            <a:ext cx="2764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3: 디버그(Debug)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1238098" y="4483303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버그 찾기 (변수명, 타입, 연산자 우선순위 등)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 l="-743" r="-743"/>
          <a:stretch/>
        </p:blipFill>
        <p:spPr>
          <a:xfrm>
            <a:off x="2292401" y="2221078"/>
            <a:ext cx="304495" cy="34290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0552" y="3035808"/>
            <a:ext cx="629107" cy="276149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130552" y="3035808"/>
            <a:ext cx="6291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10 min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3996" y="1983334"/>
            <a:ext cx="381305" cy="38130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253996" y="1983334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8E9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1</a:t>
            </a:r>
            <a:endParaRPr lang="en-US" sz="15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rcRect l="-5" r="-5"/>
          <a:stretch/>
        </p:blipFill>
        <p:spPr>
          <a:xfrm>
            <a:off x="4412894" y="1697126"/>
            <a:ext cx="3365906" cy="4779569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412894" y="1697126"/>
            <a:ext cx="3372307" cy="1819656"/>
          </a:xfrm>
          <a:prstGeom prst="roundRect">
            <a:avLst>
              <a:gd name="adj" fmla="val 421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5"/>
          <p:cNvSpPr/>
          <p:nvPr/>
        </p:nvSpPr>
        <p:spPr>
          <a:xfrm>
            <a:off x="4412894" y="3507638"/>
            <a:ext cx="3372307" cy="9144"/>
          </a:xfrm>
          <a:prstGeom prst="roundRect">
            <a:avLst>
              <a:gd name="adj" fmla="val 83769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6"/>
          <p:cNvSpPr txBox="1"/>
          <p:nvPr/>
        </p:nvSpPr>
        <p:spPr>
          <a:xfrm>
            <a:off x="4508906" y="2664562"/>
            <a:ext cx="31821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연습문제 안내</a:t>
            </a:r>
            <a:endParaRPr lang="en-US" sz="16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rcRect l="-428" r="-428"/>
          <a:stretch/>
        </p:blipFill>
        <p:spPr>
          <a:xfrm>
            <a:off x="4651553" y="3778301"/>
            <a:ext cx="161849" cy="142646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908499" y="3749954"/>
            <a:ext cx="14712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10문항 과제</a:t>
            </a:r>
            <a:endParaRPr lang="en-US" sz="1100" dirty="0"/>
          </a:p>
        </p:txBody>
      </p:sp>
      <p:sp>
        <p:nvSpPr>
          <p:cNvPr id="31" name="Text 18"/>
          <p:cNvSpPr txBox="1"/>
          <p:nvPr/>
        </p:nvSpPr>
        <p:spPr>
          <a:xfrm>
            <a:off x="4908499" y="3950208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배포된 자료 Part D 참고</a:t>
            </a:r>
            <a:endParaRPr lang="en-US" sz="1000" dirty="0"/>
          </a:p>
        </p:txBody>
      </p:sp>
      <p:sp>
        <p:nvSpPr>
          <p:cNvPr id="32" name="Shape 19"/>
          <p:cNvSpPr/>
          <p:nvPr/>
        </p:nvSpPr>
        <p:spPr>
          <a:xfrm>
            <a:off x="4651553" y="4283050"/>
            <a:ext cx="2895905" cy="638251"/>
          </a:xfrm>
          <a:prstGeom prst="roundRect">
            <a:avLst>
              <a:gd name="adj" fmla="val 17106"/>
            </a:avLst>
          </a:prstGeom>
          <a:solidFill>
            <a:srgbClr val="FFF7ED"/>
          </a:solidFill>
          <a:ln w="12700">
            <a:solidFill>
              <a:srgbClr val="F573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0"/>
          <p:cNvSpPr txBox="1"/>
          <p:nvPr/>
        </p:nvSpPr>
        <p:spPr>
          <a:xfrm>
            <a:off x="4679899" y="4407408"/>
            <a:ext cx="2839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📢 필수 제출 형식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4679899" y="4597603"/>
            <a:ext cx="2839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코드 + 출력 결과 + 검증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924398" y="2221078"/>
            <a:ext cx="342900" cy="342900"/>
          </a:xfrm>
          <a:prstGeom prst="rect">
            <a:avLst/>
          </a:prstGeom>
        </p:spPr>
      </p:pic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4670" y="3035808"/>
            <a:ext cx="562356" cy="276149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814670" y="3035808"/>
            <a:ext cx="5623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5 min</a:t>
            </a:r>
            <a:endParaRPr lang="en-US" sz="10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195" y="1983334"/>
            <a:ext cx="381305" cy="381305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905195" y="1983334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8E9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2</a:t>
            </a:r>
            <a:endParaRPr lang="en-US" sz="15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8064094" y="1697126"/>
            <a:ext cx="3365906" cy="4779569"/>
          </a:xfrm>
          <a:prstGeom prst="rect">
            <a:avLst/>
          </a:prstGeom>
        </p:spPr>
      </p:pic>
      <p:sp>
        <p:nvSpPr>
          <p:cNvPr id="41" name="Shape 24"/>
          <p:cNvSpPr/>
          <p:nvPr/>
        </p:nvSpPr>
        <p:spPr>
          <a:xfrm>
            <a:off x="8064094" y="1697126"/>
            <a:ext cx="3372307" cy="1819656"/>
          </a:xfrm>
          <a:prstGeom prst="roundRect">
            <a:avLst>
              <a:gd name="adj" fmla="val 421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5"/>
          <p:cNvSpPr/>
          <p:nvPr/>
        </p:nvSpPr>
        <p:spPr>
          <a:xfrm>
            <a:off x="8064094" y="3507638"/>
            <a:ext cx="3372307" cy="9144"/>
          </a:xfrm>
          <a:prstGeom prst="roundRect">
            <a:avLst>
              <a:gd name="adj" fmla="val 83769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6"/>
          <p:cNvSpPr txBox="1"/>
          <p:nvPr/>
        </p:nvSpPr>
        <p:spPr>
          <a:xfrm>
            <a:off x="8197596" y="2664562"/>
            <a:ext cx="31053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160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302752" y="3778301"/>
            <a:ext cx="142646" cy="142646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8540496" y="3749954"/>
            <a:ext cx="21396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질의응답</a:t>
            </a:r>
            <a:endParaRPr lang="en-US" sz="1100" dirty="0"/>
          </a:p>
        </p:txBody>
      </p:sp>
      <p:sp>
        <p:nvSpPr>
          <p:cNvPr id="46" name="Text 28"/>
          <p:cNvSpPr txBox="1"/>
          <p:nvPr/>
        </p:nvSpPr>
        <p:spPr>
          <a:xfrm>
            <a:off x="8540496" y="3950208"/>
            <a:ext cx="25109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내용 중 이해가 안 된 부분 질문</a:t>
            </a:r>
            <a:endParaRPr lang="en-US" sz="100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8"/>
          <a:srcRect l="-769" r="-769"/>
          <a:stretch/>
        </p:blipFill>
        <p:spPr>
          <a:xfrm>
            <a:off x="8302752" y="4312310"/>
            <a:ext cx="181051" cy="142646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8578901" y="4283050"/>
            <a:ext cx="17282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트러블슈팅</a:t>
            </a:r>
            <a:endParaRPr lang="en-US" sz="1100" dirty="0"/>
          </a:p>
        </p:txBody>
      </p:sp>
      <p:sp>
        <p:nvSpPr>
          <p:cNvPr id="49" name="Text 30"/>
          <p:cNvSpPr txBox="1"/>
          <p:nvPr/>
        </p:nvSpPr>
        <p:spPr>
          <a:xfrm>
            <a:off x="8578901" y="4483303"/>
            <a:ext cx="2048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에러 해결 및 1:1 피드백</a:t>
            </a:r>
            <a:endParaRPr lang="en-US" sz="10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9"/>
          <a:srcRect l="-27" r="-27"/>
          <a:stretch/>
        </p:blipFill>
        <p:spPr>
          <a:xfrm>
            <a:off x="9532620" y="2221078"/>
            <a:ext cx="428854" cy="34290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2950" y="3035808"/>
            <a:ext cx="629107" cy="276149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9432950" y="3035808"/>
            <a:ext cx="6291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15 min</a:t>
            </a:r>
            <a:endParaRPr lang="en-US" sz="10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6394" y="1983334"/>
            <a:ext cx="381305" cy="381305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9556394" y="1983334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8E9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723169" y="38130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088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01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16667" r="-16667"/>
          <a:stretch/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31168" y="634410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381305"/>
            <a:ext cx="10972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+ 다음 수업 예고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973836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F57325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Summary &amp; Next Step : 오늘의 핵심과 다음 여정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8" b="-228"/>
          <a:stretch/>
        </p:blipFill>
        <p:spPr>
          <a:xfrm>
            <a:off x="533095" y="418795"/>
            <a:ext cx="75895" cy="8577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1602029"/>
            <a:ext cx="6056071" cy="487466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7902" y="2554834"/>
            <a:ext cx="5486400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1047902" y="1935785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1133856" y="2040026"/>
            <a:ext cx="304495" cy="2670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666951" y="2002536"/>
            <a:ext cx="39812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088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오늘 배운 핵심 (Today's Key Points)</a:t>
            </a:r>
            <a:endParaRPr lang="en-US" sz="1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3462833"/>
            <a:ext cx="171907" cy="17190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33195" y="3425342"/>
            <a:ext cx="55677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(Variable)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는 값을 저장하는 연산자, 는 같다를 비교하는 연산자 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3882542"/>
            <a:ext cx="171907" cy="17190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333195" y="3844138"/>
            <a:ext cx="45436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자료형 (Data Type)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, , ,  및  확인 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4301338"/>
            <a:ext cx="171907" cy="17190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333195" y="4262933"/>
            <a:ext cx="52770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연산자 (Operators)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기본 사칙연산 외 (몫), (나머지), (거듭제곱) 활용 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4948733"/>
            <a:ext cx="171907" cy="171907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333195" y="4911242"/>
            <a:ext cx="46863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(String)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인덱싱 , 슬라이싱 , 메서드  등 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5368442"/>
            <a:ext cx="171907" cy="171907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1333195" y="5330038"/>
            <a:ext cx="41056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40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f-string 포맷팅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, ,  등 출력 서식 지정 </a:t>
            </a:r>
            <a:endParaRPr lang="en-US" sz="12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4717" y="3482035"/>
            <a:ext cx="181051" cy="171907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2534717" y="3482035"/>
            <a:ext cx="181051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9003" y="3482035"/>
            <a:ext cx="247802" cy="171907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369003" y="3482035"/>
            <a:ext cx="247802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0866" y="3901745"/>
            <a:ext cx="314554" cy="171907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2810866" y="3901745"/>
            <a:ext cx="314554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int</a:t>
            </a:r>
            <a:endParaRPr lang="en-US" sz="10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7949" y="3901745"/>
            <a:ext cx="448056" cy="171907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3247949" y="3901745"/>
            <a:ext cx="4480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float</a:t>
            </a:r>
            <a:endParaRPr lang="en-US" sz="10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9449" y="3901745"/>
            <a:ext cx="314554" cy="171907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3819449" y="3901745"/>
            <a:ext cx="314554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str</a:t>
            </a:r>
            <a:endParaRPr lang="en-US" sz="10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57446" y="3901745"/>
            <a:ext cx="381305" cy="171907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4257446" y="3901745"/>
            <a:ext cx="381305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bool</a:t>
            </a:r>
            <a:endParaRPr lang="en-US" sz="100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2098" y="3901745"/>
            <a:ext cx="514807" cy="171907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4902098" y="3901745"/>
            <a:ext cx="514807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type()</a:t>
            </a:r>
            <a:endParaRPr lang="en-US" sz="10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5461" y="4320540"/>
            <a:ext cx="247802" cy="171907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3915461" y="4320540"/>
            <a:ext cx="247802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</a:t>
            </a:r>
            <a:endParaRPr lang="en-US" sz="1000" dirty="0"/>
          </a:p>
        </p:txBody>
      </p:sp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9938" y="4320540"/>
            <a:ext cx="181051" cy="171907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4529938" y="4320540"/>
            <a:ext cx="181051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%</a:t>
            </a:r>
            <a:endParaRPr lang="en-US" sz="10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470" y="4320540"/>
            <a:ext cx="247802" cy="171907"/>
          </a:xfrm>
          <a:prstGeom prst="rect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5357470" y="4320540"/>
            <a:ext cx="247802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**</a:t>
            </a:r>
            <a:endParaRPr lang="en-US" sz="100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8201" y="4967935"/>
            <a:ext cx="314554" cy="171907"/>
          </a:xfrm>
          <a:prstGeom prst="rect">
            <a:avLst/>
          </a:prstGeom>
        </p:spPr>
      </p:pic>
      <p:sp>
        <p:nvSpPr>
          <p:cNvPr id="45" name="Text 23"/>
          <p:cNvSpPr/>
          <p:nvPr/>
        </p:nvSpPr>
        <p:spPr>
          <a:xfrm>
            <a:off x="2978201" y="4967935"/>
            <a:ext cx="314554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[0]</a:t>
            </a:r>
            <a:endParaRPr lang="en-US" sz="1000" dirty="0"/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8788" y="4967935"/>
            <a:ext cx="448056" cy="171907"/>
          </a:xfrm>
          <a:prstGeom prst="rect">
            <a:avLst/>
          </a:prstGeom>
        </p:spPr>
      </p:pic>
      <p:sp>
        <p:nvSpPr>
          <p:cNvPr id="47" name="Text 24"/>
          <p:cNvSpPr/>
          <p:nvPr/>
        </p:nvSpPr>
        <p:spPr>
          <a:xfrm>
            <a:off x="4018788" y="4967935"/>
            <a:ext cx="4480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[0:3]</a:t>
            </a:r>
            <a:endParaRPr lang="en-US" sz="1000" dirty="0"/>
          </a:p>
        </p:txBody>
      </p:sp>
      <p:pic>
        <p:nvPicPr>
          <p:cNvPr id="48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2974" y="4967935"/>
            <a:ext cx="647395" cy="171907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5052974" y="4967935"/>
            <a:ext cx="648310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.split()</a:t>
            </a:r>
            <a:endParaRPr lang="en-US" sz="1000" dirty="0"/>
          </a:p>
        </p:txBody>
      </p:sp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4483" y="5387645"/>
            <a:ext cx="381305" cy="171907"/>
          </a:xfrm>
          <a:prstGeom prst="rect">
            <a:avLst/>
          </a:prstGeom>
        </p:spPr>
      </p:pic>
      <p:sp>
        <p:nvSpPr>
          <p:cNvPr id="51" name="Text 26"/>
          <p:cNvSpPr/>
          <p:nvPr/>
        </p:nvSpPr>
        <p:spPr>
          <a:xfrm>
            <a:off x="2494483" y="5387645"/>
            <a:ext cx="381305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{:,}</a:t>
            </a:r>
            <a:endParaRPr lang="en-US" sz="1000" dirty="0"/>
          </a:p>
        </p:txBody>
      </p:sp>
      <p:pic>
        <p:nvPicPr>
          <p:cNvPr id="52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8318" y="5387645"/>
            <a:ext cx="514807" cy="171907"/>
          </a:xfrm>
          <a:prstGeom prst="rect">
            <a:avLst/>
          </a:prstGeom>
        </p:spPr>
      </p:pic>
      <p:sp>
        <p:nvSpPr>
          <p:cNvPr id="53" name="Text 27"/>
          <p:cNvSpPr/>
          <p:nvPr/>
        </p:nvSpPr>
        <p:spPr>
          <a:xfrm>
            <a:off x="2998318" y="5387645"/>
            <a:ext cx="514807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{:.2f}</a:t>
            </a:r>
            <a:endParaRPr lang="en-US" sz="1000" dirty="0"/>
          </a:p>
        </p:txBody>
      </p:sp>
      <p:pic>
        <p:nvPicPr>
          <p:cNvPr id="54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6569" y="5387645"/>
            <a:ext cx="514807" cy="171907"/>
          </a:xfrm>
          <a:prstGeom prst="rect">
            <a:avLst/>
          </a:prstGeom>
        </p:spPr>
      </p:pic>
      <p:sp>
        <p:nvSpPr>
          <p:cNvPr id="55" name="Text 28"/>
          <p:cNvSpPr/>
          <p:nvPr/>
        </p:nvSpPr>
        <p:spPr>
          <a:xfrm>
            <a:off x="3636569" y="5387645"/>
            <a:ext cx="514807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{:.1%}</a:t>
            </a:r>
            <a:endParaRPr lang="en-US" sz="1000" dirty="0"/>
          </a:p>
        </p:txBody>
      </p:sp>
      <p:pic>
        <p:nvPicPr>
          <p:cNvPr id="56" name="Image 25" descr="preencoded.png"/>
          <p:cNvPicPr>
            <a:picLocks noChangeAspect="1"/>
          </p:cNvPicPr>
          <p:nvPr/>
        </p:nvPicPr>
        <p:blipFill>
          <a:blip r:embed="rId15"/>
          <a:srcRect t="-6" b="-6"/>
          <a:stretch/>
        </p:blipFill>
        <p:spPr>
          <a:xfrm>
            <a:off x="7103974" y="1602029"/>
            <a:ext cx="4326026" cy="2534717"/>
          </a:xfrm>
          <a:prstGeom prst="rect">
            <a:avLst/>
          </a:prstGeom>
        </p:spPr>
      </p:pic>
      <p:pic>
        <p:nvPicPr>
          <p:cNvPr id="57" name="Image 26" descr="preencoded.png"/>
          <p:cNvPicPr>
            <a:picLocks noChangeAspect="1"/>
          </p:cNvPicPr>
          <p:nvPr/>
        </p:nvPicPr>
        <p:blipFill>
          <a:blip r:embed="rId16">
            <a:alphaModFix amt="5000"/>
          </a:blip>
          <a:srcRect/>
          <a:stretch/>
        </p:blipFill>
        <p:spPr>
          <a:xfrm>
            <a:off x="10477195" y="3183941"/>
            <a:ext cx="1143000" cy="1143000"/>
          </a:xfrm>
          <a:prstGeom prst="rect">
            <a:avLst/>
          </a:prstGeom>
        </p:spPr>
      </p:pic>
      <p:pic>
        <p:nvPicPr>
          <p:cNvPr id="58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0181" y="1840687"/>
            <a:ext cx="933602" cy="247802"/>
          </a:xfrm>
          <a:prstGeom prst="rect">
            <a:avLst/>
          </a:prstGeom>
        </p:spPr>
      </p:pic>
      <p:sp>
        <p:nvSpPr>
          <p:cNvPr id="59" name="Text 29"/>
          <p:cNvSpPr/>
          <p:nvPr/>
        </p:nvSpPr>
        <p:spPr>
          <a:xfrm>
            <a:off x="7390181" y="1840687"/>
            <a:ext cx="9336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WEEK</a:t>
            </a:r>
            <a:endParaRPr lang="en-US" sz="900" dirty="0"/>
          </a:p>
        </p:txBody>
      </p:sp>
      <p:sp>
        <p:nvSpPr>
          <p:cNvPr id="60" name="Text 30"/>
          <p:cNvSpPr txBox="1"/>
          <p:nvPr/>
        </p:nvSpPr>
        <p:spPr>
          <a:xfrm>
            <a:off x="7390181" y="2231136"/>
            <a:ext cx="39529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2주차: 자료구조의 세계</a:t>
            </a:r>
            <a:endParaRPr lang="en-US" sz="1900" dirty="0"/>
          </a:p>
        </p:txBody>
      </p:sp>
      <p:sp>
        <p:nvSpPr>
          <p:cNvPr id="61" name="Text 31"/>
          <p:cNvSpPr txBox="1"/>
          <p:nvPr/>
        </p:nvSpPr>
        <p:spPr>
          <a:xfrm>
            <a:off x="7390181" y="269748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코로나19 국가별 데이터를 효율적으로 관리하는 법</a:t>
            </a:r>
            <a:endParaRPr lang="en-US" sz="1200" dirty="0"/>
          </a:p>
        </p:txBody>
      </p:sp>
      <p:sp>
        <p:nvSpPr>
          <p:cNvPr id="62" name="Text 32"/>
          <p:cNvSpPr txBox="1"/>
          <p:nvPr/>
        </p:nvSpPr>
        <p:spPr>
          <a:xfrm>
            <a:off x="7466076" y="3084271"/>
            <a:ext cx="38011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 (List) &amp; 튜플 (Tuple)</a:t>
            </a:r>
            <a:endParaRPr lang="en-US" sz="1100" dirty="0"/>
          </a:p>
        </p:txBody>
      </p:sp>
      <p:pic>
        <p:nvPicPr>
          <p:cNvPr id="63" name="Image 28" descr="preencoded.png"/>
          <p:cNvPicPr>
            <a:picLocks noChangeAspect="1"/>
          </p:cNvPicPr>
          <p:nvPr/>
        </p:nvPicPr>
        <p:blipFill>
          <a:blip r:embed="rId18"/>
          <a:srcRect l="-3120" r="-3120"/>
          <a:stretch/>
        </p:blipFill>
        <p:spPr>
          <a:xfrm>
            <a:off x="7390181" y="3134563"/>
            <a:ext cx="75895" cy="114300"/>
          </a:xfrm>
          <a:prstGeom prst="rect">
            <a:avLst/>
          </a:prstGeom>
        </p:spPr>
      </p:pic>
      <p:sp>
        <p:nvSpPr>
          <p:cNvPr id="64" name="Text 33"/>
          <p:cNvSpPr txBox="1"/>
          <p:nvPr/>
        </p:nvSpPr>
        <p:spPr>
          <a:xfrm>
            <a:off x="7466076" y="3355848"/>
            <a:ext cx="38011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딕셔너리 (Dictionary)</a:t>
            </a:r>
            <a:endParaRPr lang="en-US" sz="1100" dirty="0"/>
          </a:p>
        </p:txBody>
      </p:sp>
      <p:pic>
        <p:nvPicPr>
          <p:cNvPr id="65" name="Image 29" descr="preencoded.png"/>
          <p:cNvPicPr>
            <a:picLocks noChangeAspect="1"/>
          </p:cNvPicPr>
          <p:nvPr/>
        </p:nvPicPr>
        <p:blipFill>
          <a:blip r:embed="rId18"/>
          <a:srcRect l="-3120" r="-3120"/>
          <a:stretch/>
        </p:blipFill>
        <p:spPr>
          <a:xfrm>
            <a:off x="7390181" y="3405226"/>
            <a:ext cx="75895" cy="114300"/>
          </a:xfrm>
          <a:prstGeom prst="rect">
            <a:avLst/>
          </a:prstGeom>
        </p:spPr>
      </p:pic>
      <p:sp>
        <p:nvSpPr>
          <p:cNvPr id="66" name="Text 34"/>
          <p:cNvSpPr txBox="1"/>
          <p:nvPr/>
        </p:nvSpPr>
        <p:spPr>
          <a:xfrm>
            <a:off x="7466076" y="3627425"/>
            <a:ext cx="38011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집합 (Set)</a:t>
            </a:r>
            <a:endParaRPr lang="en-US" sz="1100" dirty="0"/>
          </a:p>
        </p:txBody>
      </p:sp>
      <p:pic>
        <p:nvPicPr>
          <p:cNvPr id="67" name="Image 30" descr="preencoded.png"/>
          <p:cNvPicPr>
            <a:picLocks noChangeAspect="1"/>
          </p:cNvPicPr>
          <p:nvPr/>
        </p:nvPicPr>
        <p:blipFill>
          <a:blip r:embed="rId18"/>
          <a:srcRect l="-3120" r="-3120"/>
          <a:stretch/>
        </p:blipFill>
        <p:spPr>
          <a:xfrm>
            <a:off x="7390181" y="3676802"/>
            <a:ext cx="75895" cy="114300"/>
          </a:xfrm>
          <a:prstGeom prst="rect">
            <a:avLst/>
          </a:prstGeom>
        </p:spPr>
      </p:pic>
      <p:sp>
        <p:nvSpPr>
          <p:cNvPr id="68" name="Shape 35"/>
          <p:cNvSpPr/>
          <p:nvPr/>
        </p:nvSpPr>
        <p:spPr>
          <a:xfrm>
            <a:off x="7103974" y="4326941"/>
            <a:ext cx="4334256" cy="2152498"/>
          </a:xfrm>
          <a:prstGeom prst="roundRect">
            <a:avLst>
              <a:gd name="adj" fmla="val 3007"/>
            </a:avLst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36"/>
          <p:cNvSpPr txBox="1"/>
          <p:nvPr/>
        </p:nvSpPr>
        <p:spPr>
          <a:xfrm>
            <a:off x="7675474" y="4844491"/>
            <a:ext cx="357164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과제 (Assignment) </a:t>
            </a:r>
            <a:endParaRPr lang="en-US" sz="1500" dirty="0"/>
          </a:p>
        </p:txBody>
      </p:sp>
      <p:pic>
        <p:nvPicPr>
          <p:cNvPr id="70" name="Image 31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408469" y="4892040"/>
            <a:ext cx="190195" cy="190195"/>
          </a:xfrm>
          <a:prstGeom prst="rect">
            <a:avLst/>
          </a:prstGeom>
        </p:spPr>
      </p:pic>
      <p:sp>
        <p:nvSpPr>
          <p:cNvPr id="71" name="Text 37"/>
          <p:cNvSpPr txBox="1"/>
          <p:nvPr/>
        </p:nvSpPr>
        <p:spPr>
          <a:xfrm>
            <a:off x="7408469" y="5225796"/>
            <a:ext cx="3915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연습문제 </a:t>
            </a:r>
            <a:r>
              <a:rPr lang="en-US" sz="1200" b="1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10문항</a:t>
            </a:r>
            <a:r>
              <a:rPr lang="en-US" sz="1200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풀이 및 제출</a:t>
            </a:r>
            <a:endParaRPr lang="en-US" sz="1200" dirty="0"/>
          </a:p>
        </p:txBody>
      </p:sp>
      <p:pic>
        <p:nvPicPr>
          <p:cNvPr id="72" name="Image 3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08469" y="5549494"/>
            <a:ext cx="3724351" cy="409651"/>
          </a:xfrm>
          <a:prstGeom prst="rect">
            <a:avLst/>
          </a:prstGeom>
        </p:spPr>
      </p:pic>
      <p:sp>
        <p:nvSpPr>
          <p:cNvPr id="73" name="Text 38"/>
          <p:cNvSpPr/>
          <p:nvPr/>
        </p:nvSpPr>
        <p:spPr>
          <a:xfrm>
            <a:off x="7408469" y="5549494"/>
            <a:ext cx="3724351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필수 포함: 코드 + 출력 결과 + 검증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1624</Words>
  <Application>Microsoft Office PowerPoint</Application>
  <PresentationFormat>와이드스크린</PresentationFormat>
  <Paragraphs>417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Jua</vt:lpstr>
      <vt:lpstr>Nanum Gothic Coding</vt:lpstr>
      <vt:lpstr>Noto Sans KR</vt:lpstr>
      <vt:lpstr>ui-monospace</vt:lpstr>
      <vt:lpstr>Arial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유주연(경영학과)</cp:lastModifiedBy>
  <cp:revision>2</cp:revision>
  <dcterms:created xsi:type="dcterms:W3CDTF">2026-02-22T16:28:40Z</dcterms:created>
  <dcterms:modified xsi:type="dcterms:W3CDTF">2026-02-22T16:50:50Z</dcterms:modified>
</cp:coreProperties>
</file>